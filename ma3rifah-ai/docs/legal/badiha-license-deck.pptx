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967"/>
        </a:solidFill>
      </p:bgPr>
    </p:bg>
    <p:spTree>
      <p:nvGrpSpPr>
        <p:cNvPr id="1" name=""/>
        <p:cNvGrpSpPr/>
        <p:nvPr/>
      </p:nvGrpSpPr>
      <p:grpSpPr>
        <a:xfrm>
          <a:off x="0" y="0"/>
          <a:ext cx="0" cy="0"/>
          <a:chOff x="0" y="0"/>
          <a:chExt cx="0" cy="0"/>
        </a:xfrm>
      </p:grpSpPr>
      <p:sp>
        <p:nvSpPr>
          <p:cNvPr id="2" name="Shape 0"/>
          <p:cNvSpPr/>
          <p:nvPr/>
        </p:nvSpPr>
        <p:spPr>
          <a:xfrm>
            <a:off x="3931920" y="777240"/>
            <a:ext cx="1280160" cy="128016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4162349" y="930859"/>
            <a:ext cx="665683" cy="665683"/>
          </a:xfrm>
          <a:prstGeom prst="diamond">
            <a:avLst/>
          </a:prstGeom>
          <a:solidFill>
            <a:srgbClr val="C9A24C"/>
          </a:solidFill>
          <a:ln w="12700">
            <a:solidFill>
              <a:srgbClr val="C9A24C"/>
            </a:solidFill>
            <a:prstDash val="solid"/>
          </a:ln>
        </p:spPr>
      </p:sp>
      <p:sp>
        <p:nvSpPr>
          <p:cNvPr id="4" name="Shape 2"/>
          <p:cNvSpPr/>
          <p:nvPr/>
        </p:nvSpPr>
        <p:spPr>
          <a:xfrm>
            <a:off x="4700016" y="1519733"/>
            <a:ext cx="332842" cy="332842"/>
          </a:xfrm>
          <a:prstGeom prst="diamond">
            <a:avLst/>
          </a:prstGeom>
          <a:solidFill>
            <a:srgbClr val="FFFFFF"/>
          </a:solidFill>
          <a:ln w="12700">
            <a:solidFill>
              <a:srgbClr val="FFFFFF"/>
            </a:solidFill>
            <a:prstDash val="solid"/>
          </a:ln>
        </p:spPr>
      </p:sp>
      <p:sp>
        <p:nvSpPr>
          <p:cNvPr id="5" name="Text 3"/>
          <p:cNvSpPr txBox="1"/>
          <p:nvPr/>
        </p:nvSpPr>
        <p:spPr>
          <a:xfrm>
            <a:off x="914400" y="2194560"/>
            <a:ext cx="7315200" cy="731520"/>
          </a:xfrm>
          <a:prstGeom prst="rect">
            <a:avLst/>
          </a:prstGeom>
          <a:noFill/>
          <a:ln/>
        </p:spPr>
        <p:txBody>
          <a:bodyPr wrap="square" lIns="0" tIns="0" rIns="0" bIns="0" rtlCol="0" anchor="t"/>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بديهة</a:t>
            </a:r>
            <a:endParaRPr lang="ar-SA" sz="4400" dirty="0"/>
          </a:p>
        </p:txBody>
      </p:sp>
      <p:sp>
        <p:nvSpPr>
          <p:cNvPr id="6" name="Text 4"/>
          <p:cNvSpPr txBox="1"/>
          <p:nvPr/>
        </p:nvSpPr>
        <p:spPr>
          <a:xfrm>
            <a:off x="914400" y="2880360"/>
            <a:ext cx="7315200" cy="365760"/>
          </a:xfrm>
          <a:prstGeom prst="rect">
            <a:avLst/>
          </a:prstGeom>
          <a:noFill/>
          <a:ln/>
        </p:spPr>
        <p:txBody>
          <a:bodyPr wrap="square" lIns="0" tIns="0" rIns="0" bIns="0" rtlCol="0" anchor="t"/>
          <a:lstStyle/>
          <a:p>
            <a:pPr algn="ctr" indent="0" marL="0">
              <a:buNone/>
            </a:pPr>
            <a:r>
              <a:rPr lang="en-US" altLang="en-US" sz="1800" dirty="0">
                <a:solidFill>
                  <a:srgbClr val="C9A24C"/>
                </a:solidFill>
                <a:latin typeface="Arial" pitchFamily="34" charset="0"/>
                <a:ea typeface="Arial" pitchFamily="34" charset="-122"/>
                <a:cs typeface="Arial" pitchFamily="34" charset="-120"/>
              </a:rPr>
              <a:t>Badiha</a:t>
            </a:r>
            <a:endParaRPr lang="en-US" sz="1800" dirty="0"/>
          </a:p>
        </p:txBody>
      </p:sp>
      <p:sp>
        <p:nvSpPr>
          <p:cNvPr id="7" name="Text 5"/>
          <p:cNvSpPr txBox="1"/>
          <p:nvPr/>
        </p:nvSpPr>
        <p:spPr>
          <a:xfrm>
            <a:off x="731520" y="3337560"/>
            <a:ext cx="7680960" cy="365760"/>
          </a:xfrm>
          <a:prstGeom prst="rect">
            <a:avLst/>
          </a:prstGeom>
          <a:noFill/>
          <a:ln/>
        </p:spPr>
        <p:txBody>
          <a:bodyPr wrap="square" lIns="0" tIns="0" rIns="0" bIns="0" rtlCol="0" anchor="t"/>
          <a:lstStyle/>
          <a:p>
            <a:pPr rtl="1" algn="ctr" indent="0" marL="0">
              <a:buNone/>
            </a:pPr>
            <a:r>
              <a:rPr lang="ar-SA" altLang="en-US" sz="1400" dirty="0">
                <a:solidFill>
                  <a:srgbClr val="FFFFFF"/>
                </a:solidFill>
                <a:latin typeface="Arial" pitchFamily="34" charset="0"/>
                <a:ea typeface="Arial" pitchFamily="34" charset="-122"/>
                <a:cs typeface="Arial" pitchFamily="34" charset="-120"/>
              </a:rPr>
              <a:t>منصة معرفة مؤسسية تجيب موظفي الشركة من مستنداتها هي، بالعربية، مع ذكر المصدر</a:t>
            </a:r>
            <a:endParaRPr lang="ar-SA" sz="1400" dirty="0"/>
          </a:p>
        </p:txBody>
      </p:sp>
      <p:sp>
        <p:nvSpPr>
          <p:cNvPr id="8" name="Text 6"/>
          <p:cNvSpPr txBox="1"/>
          <p:nvPr/>
        </p:nvSpPr>
        <p:spPr>
          <a:xfrm>
            <a:off x="731520" y="3703320"/>
            <a:ext cx="7680960" cy="274320"/>
          </a:xfrm>
          <a:prstGeom prst="rect">
            <a:avLst/>
          </a:prstGeom>
          <a:noFill/>
          <a:ln/>
        </p:spPr>
        <p:txBody>
          <a:bodyPr wrap="square" lIns="0" tIns="0" rIns="0" bIns="0" rtlCol="0" anchor="t"/>
          <a:lstStyle/>
          <a:p>
            <a:pPr algn="ctr" indent="0" marL="0">
              <a:buNone/>
            </a:pPr>
            <a:r>
              <a:rPr lang="en-US" altLang="en-US" sz="1050" dirty="0">
                <a:solidFill>
                  <a:srgbClr val="B8C2D6"/>
                </a:solidFill>
                <a:latin typeface="Arial" pitchFamily="34" charset="0"/>
                <a:ea typeface="Arial" pitchFamily="34" charset="-122"/>
                <a:cs typeface="Arial" pitchFamily="34" charset="-120"/>
              </a:rPr>
              <a:t>Arabic-first enterprise knowledge platform · answers grounded in the company's own documents</a:t>
            </a:r>
            <a:endParaRPr lang="en-US" sz="1050" dirty="0"/>
          </a:p>
        </p:txBody>
      </p:sp>
      <p:sp>
        <p:nvSpPr>
          <p:cNvPr id="9" name="Text 7"/>
          <p:cNvSpPr txBox="1"/>
          <p:nvPr/>
        </p:nvSpPr>
        <p:spPr>
          <a:xfrm>
            <a:off x="914400" y="4389120"/>
            <a:ext cx="7315200" cy="274320"/>
          </a:xfrm>
          <a:prstGeom prst="rect">
            <a:avLst/>
          </a:prstGeom>
          <a:noFill/>
          <a:ln/>
        </p:spPr>
        <p:txBody>
          <a:bodyPr wrap="square" lIns="0" tIns="0" rIns="0" bIns="0" rtlCol="0" anchor="t"/>
          <a:lstStyle/>
          <a:p>
            <a:pPr rtl="1" algn="ctr" indent="0" marL="0">
              <a:buNone/>
            </a:pPr>
            <a:r>
              <a:rPr lang="ar-SA" altLang="en-US" sz="1100" dirty="0">
                <a:solidFill>
                  <a:srgbClr val="B8C2D6"/>
                </a:solidFill>
                <a:latin typeface="Arial" pitchFamily="34" charset="0"/>
                <a:ea typeface="Arial" pitchFamily="34" charset="-122"/>
                <a:cs typeface="Arial" pitchFamily="34" charset="-120"/>
              </a:rPr>
              <a:t>ملف المشروع لطلب رخصة ريادة الأعمال · المؤسِّسة: منال العارقي</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المقدمة: السياق والتحدي</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Introduction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80160"/>
            <a:ext cx="3931920" cy="3291840"/>
          </a:xfrm>
          <a:prstGeom prst="roundRect">
            <a:avLst>
              <a:gd name="adj" fmla="val 2778"/>
            </a:avLst>
          </a:prstGeom>
          <a:solidFill>
            <a:srgbClr val="E9EEF6"/>
          </a:solidFill>
          <a:ln w="12700">
            <a:solidFill>
              <a:srgbClr val="E9EEF6"/>
            </a:solidFill>
            <a:prstDash val="solid"/>
          </a:ln>
        </p:spPr>
      </p:sp>
      <p:sp>
        <p:nvSpPr>
          <p:cNvPr id="9" name="Text 7"/>
          <p:cNvSpPr txBox="1"/>
          <p:nvPr/>
        </p:nvSpPr>
        <p:spPr>
          <a:xfrm>
            <a:off x="48280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السياق الوطني</a:t>
            </a:r>
            <a:endParaRPr lang="ar-SA" sz="1300" dirty="0"/>
          </a:p>
        </p:txBody>
      </p:sp>
      <p:sp>
        <p:nvSpPr>
          <p:cNvPr id="10" name="Text 8"/>
          <p:cNvSpPr txBox="1"/>
          <p:nvPr/>
        </p:nvSpPr>
        <p:spPr>
          <a:xfrm>
            <a:off x="48280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تضع رؤية ٢٠٣٠ التحول الرقمي والاقتصاد القائم على البيانات في صلب أهدافها، وتقود الهيئة السعودية للبيانات والذكاء الاصطناعي (سدايا) استراتيجية وطنية لتوطين حلول الذكاء الاصطناعي.</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وفي المقابل، معظم معرفة الشركات السعودية محبوسة في ملفات PDF وWord وأرشيفات ممسوحة ضوئيًا، مكتوبة بالعربية، لا تقرؤها الأدوات العالمية كما ينبغي.</a:t>
            </a:r>
            <a:endParaRPr lang="ar-SA" sz="1000" dirty="0"/>
          </a:p>
        </p:txBody>
      </p:sp>
      <p:sp>
        <p:nvSpPr>
          <p:cNvPr id="11" name="Shape 9"/>
          <p:cNvSpPr/>
          <p:nvPr/>
        </p:nvSpPr>
        <p:spPr>
          <a:xfrm>
            <a:off x="548640" y="1280160"/>
            <a:ext cx="3931920" cy="3291840"/>
          </a:xfrm>
          <a:prstGeom prst="roundRect">
            <a:avLst>
              <a:gd name="adj" fmla="val 2778"/>
            </a:avLst>
          </a:prstGeom>
          <a:solidFill>
            <a:srgbClr val="FFFFFF"/>
          </a:solidFill>
          <a:ln w="12700">
            <a:solidFill>
              <a:srgbClr val="D9DEE7"/>
            </a:solidFill>
            <a:prstDash val="solid"/>
          </a:ln>
        </p:spPr>
      </p:sp>
      <p:sp>
        <p:nvSpPr>
          <p:cNvPr id="12" name="Text 10"/>
          <p:cNvSpPr txBox="1"/>
          <p:nvPr/>
        </p:nvSpPr>
        <p:spPr>
          <a:xfrm>
            <a:off x="7132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التحدي الذي تحلّه بديهة</a:t>
            </a:r>
            <a:endParaRPr lang="ar-SA" sz="1300" dirty="0"/>
          </a:p>
        </p:txBody>
      </p:sp>
      <p:sp>
        <p:nvSpPr>
          <p:cNvPr id="13" name="Text 11"/>
          <p:cNvSpPr txBox="1"/>
          <p:nvPr/>
        </p:nvSpPr>
        <p:spPr>
          <a:xfrm>
            <a:off x="7132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الموظف يسأل زميله بدل أن يجد الجواب في اللائحة، فتتكرّر الأسئلة نفسها كل يوم.</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الأدوات العامة تخطئ في قراءة ملفات PDF العربية، وتخترع تفاصيل لا وجود لها في السياسة.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لا أحد يعرف أي الأسئلة بلا جواب موثّق، فتبقى فجوات التوثيق مخفية.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الأرشيف الممسوح ضوئيًا، وهو جزء كبير من مستندات الشركات، خارج أي بحث.</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نبذة عن المشروع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About the project</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4023360" y="1234440"/>
            <a:ext cx="4572000" cy="3383280"/>
          </a:xfrm>
          <a:prstGeom prst="rect">
            <a:avLst/>
          </a:prstGeom>
          <a:noFill/>
          <a:ln/>
        </p:spPr>
        <p:txBody>
          <a:bodyPr wrap="square" lIns="0" tIns="0" rIns="0" bIns="0" rtlCol="0" anchor="t"/>
          <a:lstStyle/>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بديهة منصة سعودية تعمل في الإنتاج اليوم. ترفع الشركة لوائحها وسياساتها وأدلة إجراءاتها، فيسأل موظفوها بالعربية ويحصلون على إجابات مبنية على تلك المستندات وحدها، مع اسم المستند ورقم الصفحة تحت كل إجابة.</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وحين لا يجد النظام جوابًا يقول ذلك صراحةً بدل أن يخترع، ويسجّل السؤال في تقرير فجوات المعرفة الذي يوجّه الإدارة إلى ما ينقص توثيقه.</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المنصة متعددة المستأجرين: كل شركة معزولة عن الأخرى داخل قاعدة البيانات، والصلاحيات على مستوى المستند الواحد (الشركة، القسم، الدور).</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النشاط التجاري الرئيسي: تطوير وتشغيل منصة سحابية (SaaS) تُباع باشتراك شهري أو سنوي لمنشآت القطاع الخاص في المملكة. رموز التصنيف الوطني: 620113 (رئيسي)، 620102، 620111، 582001.</a:t>
            </a:r>
            <a:endParaRPr lang="ar-SA" sz="1150" dirty="0"/>
          </a:p>
        </p:txBody>
      </p:sp>
      <p:sp>
        <p:nvSpPr>
          <p:cNvPr id="9" name="Shape 7"/>
          <p:cNvSpPr/>
          <p:nvPr/>
        </p:nvSpPr>
        <p:spPr>
          <a:xfrm>
            <a:off x="548640" y="1234440"/>
            <a:ext cx="3200400" cy="3200400"/>
          </a:xfrm>
          <a:prstGeom prst="roundRect">
            <a:avLst>
              <a:gd name="adj" fmla="val 2857"/>
            </a:avLst>
          </a:prstGeom>
          <a:solidFill>
            <a:srgbClr val="FFFFFF"/>
          </a:solidFill>
          <a:ln w="12700">
            <a:solidFill>
              <a:srgbClr val="D9DEE7"/>
            </a:solidFill>
            <a:prstDash val="solid"/>
          </a:ln>
        </p:spPr>
      </p:sp>
      <p:sp>
        <p:nvSpPr>
          <p:cNvPr id="10" name="Shape 8"/>
          <p:cNvSpPr/>
          <p:nvPr/>
        </p:nvSpPr>
        <p:spPr>
          <a:xfrm>
            <a:off x="914400" y="1508760"/>
            <a:ext cx="2468880" cy="457200"/>
          </a:xfrm>
          <a:prstGeom prst="roundRect">
            <a:avLst>
              <a:gd name="adj" fmla="val 20000"/>
            </a:avLst>
          </a:prstGeom>
          <a:solidFill>
            <a:srgbClr val="E9EEF6"/>
          </a:solidFill>
          <a:ln w="12700">
            <a:solidFill>
              <a:srgbClr val="E9EEF6"/>
            </a:solidFill>
            <a:prstDash val="solid"/>
          </a:ln>
        </p:spPr>
      </p:sp>
      <p:sp>
        <p:nvSpPr>
          <p:cNvPr id="11" name="Text 9"/>
          <p:cNvSpPr txBox="1"/>
          <p:nvPr/>
        </p:nvSpPr>
        <p:spPr>
          <a:xfrm>
            <a:off x="1005840" y="1600200"/>
            <a:ext cx="2286000" cy="274320"/>
          </a:xfrm>
          <a:prstGeom prst="rect">
            <a:avLst/>
          </a:prstGeom>
          <a:noFill/>
          <a:ln/>
        </p:spPr>
        <p:txBody>
          <a:bodyPr wrap="square" lIns="0" tIns="0" rIns="0" bIns="0" rtlCol="0" anchor="t"/>
          <a:lstStyle/>
          <a:p>
            <a:pPr rtl="1" algn="r" indent="0" marL="0">
              <a:buNone/>
            </a:pPr>
            <a:r>
              <a:rPr lang="ar-SA" altLang="en-US" sz="1000" dirty="0">
                <a:solidFill>
                  <a:srgbClr val="1B2330"/>
                </a:solidFill>
                <a:latin typeface="Arial" pitchFamily="34" charset="0"/>
                <a:ea typeface="Arial" pitchFamily="34" charset="-122"/>
                <a:cs typeface="Arial" pitchFamily="34" charset="-120"/>
              </a:rPr>
              <a:t>كم مدة الإجازة السنوية؟</a:t>
            </a:r>
            <a:endParaRPr lang="ar-SA" sz="1000" dirty="0"/>
          </a:p>
        </p:txBody>
      </p:sp>
      <p:sp>
        <p:nvSpPr>
          <p:cNvPr id="12" name="Shape 10"/>
          <p:cNvSpPr/>
          <p:nvPr/>
        </p:nvSpPr>
        <p:spPr>
          <a:xfrm>
            <a:off x="731520" y="2148840"/>
            <a:ext cx="2834640" cy="1371600"/>
          </a:xfrm>
          <a:prstGeom prst="roundRect">
            <a:avLst>
              <a:gd name="adj" fmla="val 6667"/>
            </a:avLst>
          </a:prstGeom>
          <a:solidFill>
            <a:srgbClr val="FFFFFF"/>
          </a:solidFill>
          <a:ln w="12700">
            <a:solidFill>
              <a:srgbClr val="D9DEE7"/>
            </a:solidFill>
            <a:prstDash val="solid"/>
          </a:ln>
        </p:spPr>
      </p:sp>
      <p:sp>
        <p:nvSpPr>
          <p:cNvPr id="13" name="Text 11"/>
          <p:cNvSpPr txBox="1"/>
          <p:nvPr/>
        </p:nvSpPr>
        <p:spPr>
          <a:xfrm>
            <a:off x="868680" y="2240280"/>
            <a:ext cx="2560320" cy="6400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٣٠ يومًا بعد إتمام خمس سنوات من الخدمة، و٢١ يومًا قبل ذلك.</a:t>
            </a:r>
            <a:endParaRPr lang="ar-SA" sz="1000" dirty="0"/>
          </a:p>
        </p:txBody>
      </p:sp>
      <p:sp>
        <p:nvSpPr>
          <p:cNvPr id="14" name="Shape 12"/>
          <p:cNvSpPr/>
          <p:nvPr/>
        </p:nvSpPr>
        <p:spPr>
          <a:xfrm>
            <a:off x="1737360" y="3017520"/>
            <a:ext cx="1691640" cy="292608"/>
          </a:xfrm>
          <a:prstGeom prst="roundRect">
            <a:avLst>
              <a:gd name="adj" fmla="val 50000"/>
            </a:avLst>
          </a:prstGeom>
          <a:solidFill>
            <a:srgbClr val="E9EEF6"/>
          </a:solidFill>
          <a:ln w="12700">
            <a:solidFill>
              <a:srgbClr val="E9EEF6"/>
            </a:solidFill>
            <a:prstDash val="solid"/>
          </a:ln>
        </p:spPr>
      </p:sp>
      <p:sp>
        <p:nvSpPr>
          <p:cNvPr id="15" name="Text 13"/>
          <p:cNvSpPr txBox="1"/>
          <p:nvPr/>
        </p:nvSpPr>
        <p:spPr>
          <a:xfrm>
            <a:off x="1783080" y="3063240"/>
            <a:ext cx="1600200" cy="228600"/>
          </a:xfrm>
          <a:prstGeom prst="rect">
            <a:avLst/>
          </a:prstGeom>
          <a:noFill/>
          <a:ln/>
        </p:spPr>
        <p:txBody>
          <a:bodyPr wrap="square" lIns="0" tIns="0" rIns="0" bIns="0" rtlCol="0" anchor="t"/>
          <a:lstStyle/>
          <a:p>
            <a:pPr rtl="1" algn="ctr" indent="0" marL="0">
              <a:buNone/>
            </a:pPr>
            <a:r>
              <a:rPr lang="ar-SA" altLang="en-US" sz="800" dirty="0">
                <a:solidFill>
                  <a:srgbClr val="1E3967"/>
                </a:solidFill>
                <a:latin typeface="Arial" pitchFamily="34" charset="0"/>
                <a:ea typeface="Arial" pitchFamily="34" charset="-122"/>
                <a:cs typeface="Arial" pitchFamily="34" charset="-120"/>
              </a:rPr>
              <a:t>لائحة الموارد البشرية · ص ١٢</a:t>
            </a:r>
            <a:endParaRPr lang="ar-SA" sz="800" dirty="0"/>
          </a:p>
        </p:txBody>
      </p:sp>
      <p:sp>
        <p:nvSpPr>
          <p:cNvPr id="16" name="Text 14"/>
          <p:cNvSpPr txBox="1"/>
          <p:nvPr/>
        </p:nvSpPr>
        <p:spPr>
          <a:xfrm>
            <a:off x="868680" y="3063240"/>
            <a:ext cx="822960" cy="228600"/>
          </a:xfrm>
          <a:prstGeom prst="rect">
            <a:avLst/>
          </a:prstGeom>
          <a:noFill/>
          <a:ln/>
        </p:spPr>
        <p:txBody>
          <a:bodyPr wrap="square" lIns="0" tIns="0" rIns="0" bIns="0" rtlCol="0" anchor="t"/>
          <a:lstStyle/>
          <a:p>
            <a:pPr rtl="1" algn="l" indent="0" marL="0">
              <a:buNone/>
            </a:pPr>
            <a:r>
              <a:rPr lang="ar-SA" altLang="en-US" sz="800" b="1" dirty="0">
                <a:solidFill>
                  <a:srgbClr val="1E7F4F"/>
                </a:solidFill>
                <a:latin typeface="Arial" pitchFamily="34" charset="0"/>
                <a:ea typeface="Arial" pitchFamily="34" charset="-122"/>
                <a:cs typeface="Arial" pitchFamily="34" charset="-120"/>
              </a:rPr>
              <a:t>ثقة عالية ✓</a:t>
            </a:r>
            <a:endParaRPr lang="ar-SA" sz="800" dirty="0"/>
          </a:p>
        </p:txBody>
      </p:sp>
      <p:sp>
        <p:nvSpPr>
          <p:cNvPr id="17" name="Shape 15"/>
          <p:cNvSpPr/>
          <p:nvPr/>
        </p:nvSpPr>
        <p:spPr>
          <a:xfrm>
            <a:off x="731520" y="3749040"/>
            <a:ext cx="2834640" cy="411480"/>
          </a:xfrm>
          <a:prstGeom prst="roundRect">
            <a:avLst>
              <a:gd name="adj" fmla="val 22222"/>
            </a:avLst>
          </a:prstGeom>
          <a:solidFill>
            <a:srgbClr val="FFFFFF"/>
          </a:solidFill>
          <a:ln w="12700">
            <a:solidFill>
              <a:srgbClr val="D9DEE7"/>
            </a:solidFill>
            <a:prstDash val="solid"/>
          </a:ln>
        </p:spPr>
      </p:sp>
      <p:sp>
        <p:nvSpPr>
          <p:cNvPr id="18" name="Text 16"/>
          <p:cNvSpPr txBox="1"/>
          <p:nvPr/>
        </p:nvSpPr>
        <p:spPr>
          <a:xfrm>
            <a:off x="868680" y="3840480"/>
            <a:ext cx="2560320" cy="22860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اسأل عن سياسة أو إجراء…</a:t>
            </a:r>
            <a:endParaRPr lang="ar-SA"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المميزات المنفَّذة في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Shipped product features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1188720" y="1024128"/>
            <a:ext cx="7406640" cy="256032"/>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عشرون ميزة تعمل في الإنتاج اليوم، موزّعة على خمسة محاور. لا ميزة هنا قيد التطوير أو موعودة.</a:t>
            </a:r>
            <a:endParaRPr lang="ar-SA" sz="1000" dirty="0"/>
          </a:p>
        </p:txBody>
      </p:sp>
      <p:sp>
        <p:nvSpPr>
          <p:cNvPr id="9" name="Shape 7"/>
          <p:cNvSpPr/>
          <p:nvPr/>
        </p:nvSpPr>
        <p:spPr>
          <a:xfrm>
            <a:off x="7196328" y="1371600"/>
            <a:ext cx="1581912" cy="2697480"/>
          </a:xfrm>
          <a:prstGeom prst="roundRect">
            <a:avLst>
              <a:gd name="adj" fmla="val 5780"/>
            </a:avLst>
          </a:prstGeom>
          <a:solidFill>
            <a:srgbClr val="E9EEF6"/>
          </a:solidFill>
          <a:ln w="12700">
            <a:solidFill>
              <a:srgbClr val="E9EEF6"/>
            </a:solidFill>
            <a:prstDash val="solid"/>
          </a:ln>
        </p:spPr>
      </p:sp>
      <p:sp>
        <p:nvSpPr>
          <p:cNvPr id="10" name="Text 8"/>
          <p:cNvSpPr txBox="1"/>
          <p:nvPr/>
        </p:nvSpPr>
        <p:spPr>
          <a:xfrm>
            <a:off x="7324344"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المساعد الذكي</a:t>
            </a:r>
            <a:endParaRPr lang="ar-SA" sz="1200" dirty="0"/>
          </a:p>
        </p:txBody>
      </p:sp>
      <p:sp>
        <p:nvSpPr>
          <p:cNvPr id="11" name="Text 9"/>
          <p:cNvSpPr txBox="1"/>
          <p:nvPr/>
        </p:nvSpPr>
        <p:spPr>
          <a:xfrm>
            <a:off x="7324344"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محادثة طبيعية بلا معرفة اسم المستند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مصادر مع كل إجابة: المستند والصفحة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عربي وإنجليزي في السؤال والجواب</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محادثات قابل للاستئناف والتقييم</a:t>
            </a:r>
            <a:endParaRPr lang="ar-SA" sz="880" dirty="0"/>
          </a:p>
        </p:txBody>
      </p:sp>
      <p:sp>
        <p:nvSpPr>
          <p:cNvPr id="12" name="Shape 10"/>
          <p:cNvSpPr/>
          <p:nvPr/>
        </p:nvSpPr>
        <p:spPr>
          <a:xfrm>
            <a:off x="5522976" y="1371600"/>
            <a:ext cx="1581912" cy="2697480"/>
          </a:xfrm>
          <a:prstGeom prst="roundRect">
            <a:avLst>
              <a:gd name="adj" fmla="val 5780"/>
            </a:avLst>
          </a:prstGeom>
          <a:solidFill>
            <a:srgbClr val="FFFFFF"/>
          </a:solidFill>
          <a:ln w="12700">
            <a:solidFill>
              <a:srgbClr val="D9DEE7"/>
            </a:solidFill>
            <a:prstDash val="solid"/>
          </a:ln>
        </p:spPr>
      </p:sp>
      <p:sp>
        <p:nvSpPr>
          <p:cNvPr id="13" name="Text 11"/>
          <p:cNvSpPr txBox="1"/>
          <p:nvPr/>
        </p:nvSpPr>
        <p:spPr>
          <a:xfrm>
            <a:off x="5650992"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الثقة في الإجابة</a:t>
            </a:r>
            <a:endParaRPr lang="ar-SA" sz="1200" dirty="0"/>
          </a:p>
        </p:txBody>
      </p:sp>
      <p:sp>
        <p:nvSpPr>
          <p:cNvPr id="14" name="Text 12"/>
          <p:cNvSpPr txBox="1"/>
          <p:nvPr/>
        </p:nvSpPr>
        <p:spPr>
          <a:xfrm>
            <a:off x="5650992"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التحقق من كل رقم ومدة ومبلغ</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درجة ثقة ظاهرة: عالية · متوسطة · منخفضة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عرض المصادر المستعملة فعلًا لا كل ما بُحث</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يقول «لم أجد» بدل أن يخترع</a:t>
            </a:r>
            <a:endParaRPr lang="ar-SA" sz="880" dirty="0"/>
          </a:p>
        </p:txBody>
      </p:sp>
      <p:sp>
        <p:nvSpPr>
          <p:cNvPr id="15" name="Shape 13"/>
          <p:cNvSpPr/>
          <p:nvPr/>
        </p:nvSpPr>
        <p:spPr>
          <a:xfrm>
            <a:off x="3849624" y="1371600"/>
            <a:ext cx="1581912" cy="2697480"/>
          </a:xfrm>
          <a:prstGeom prst="roundRect">
            <a:avLst>
              <a:gd name="adj" fmla="val 5780"/>
            </a:avLst>
          </a:prstGeom>
          <a:solidFill>
            <a:srgbClr val="E9EEF6"/>
          </a:solidFill>
          <a:ln w="12700">
            <a:solidFill>
              <a:srgbClr val="E9EEF6"/>
            </a:solidFill>
            <a:prstDash val="solid"/>
          </a:ln>
        </p:spPr>
      </p:sp>
      <p:sp>
        <p:nvSpPr>
          <p:cNvPr id="16" name="Text 14"/>
          <p:cNvSpPr txBox="1"/>
          <p:nvPr/>
        </p:nvSpPr>
        <p:spPr>
          <a:xfrm>
            <a:off x="3977640"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إدارة المعرفة</a:t>
            </a:r>
            <a:endParaRPr lang="ar-SA" sz="1200" dirty="0"/>
          </a:p>
        </p:txBody>
      </p:sp>
      <p:sp>
        <p:nvSpPr>
          <p:cNvPr id="17" name="Text 15"/>
          <p:cNvSpPr txBox="1"/>
          <p:nvPr/>
        </p:nvSpPr>
        <p:spPr>
          <a:xfrm>
            <a:off x="3977640"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رفع ومعالجة PDF وWord وExcel وCSV ونصوص</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تصنيفات معرفة جاهزة أو مخصّصة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بحث دلالي بالمعنى لا بتطابق الكلمات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إصدارات المستندات وأرشفة القديم</a:t>
            </a:r>
            <a:endParaRPr lang="ar-SA" sz="880" dirty="0"/>
          </a:p>
        </p:txBody>
      </p:sp>
      <p:sp>
        <p:nvSpPr>
          <p:cNvPr id="18" name="Shape 16"/>
          <p:cNvSpPr/>
          <p:nvPr/>
        </p:nvSpPr>
        <p:spPr>
          <a:xfrm>
            <a:off x="2176272" y="1371600"/>
            <a:ext cx="1581912" cy="2697480"/>
          </a:xfrm>
          <a:prstGeom prst="roundRect">
            <a:avLst>
              <a:gd name="adj" fmla="val 5780"/>
            </a:avLst>
          </a:prstGeom>
          <a:solidFill>
            <a:srgbClr val="FFFFFF"/>
          </a:solidFill>
          <a:ln w="12700">
            <a:solidFill>
              <a:srgbClr val="D9DEE7"/>
            </a:solidFill>
            <a:prstDash val="solid"/>
          </a:ln>
        </p:spPr>
      </p:sp>
      <p:sp>
        <p:nvSpPr>
          <p:cNvPr id="19" name="Text 17"/>
          <p:cNvSpPr txBox="1"/>
          <p:nvPr/>
        </p:nvSpPr>
        <p:spPr>
          <a:xfrm>
            <a:off x="2304288"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التحكم والصلاحيات</a:t>
            </a:r>
            <a:endParaRPr lang="ar-SA" sz="1200" dirty="0"/>
          </a:p>
        </p:txBody>
      </p:sp>
      <p:sp>
        <p:nvSpPr>
          <p:cNvPr id="20" name="Text 18"/>
          <p:cNvSpPr txBox="1"/>
          <p:nvPr/>
        </p:nvSpPr>
        <p:spPr>
          <a:xfrm>
            <a:off x="2304288"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ثلاثة مستويات وصول لكل 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أربعة أدوار مطبَّقة على الخادم</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أقسام تربط الصلاحيات بالتحليلات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تدقيق لكل عملية حسّاسة</a:t>
            </a:r>
            <a:endParaRPr lang="ar-SA" sz="880" dirty="0"/>
          </a:p>
        </p:txBody>
      </p:sp>
      <p:sp>
        <p:nvSpPr>
          <p:cNvPr id="21" name="Shape 19"/>
          <p:cNvSpPr/>
          <p:nvPr/>
        </p:nvSpPr>
        <p:spPr>
          <a:xfrm>
            <a:off x="502920" y="1371600"/>
            <a:ext cx="1581912" cy="2697480"/>
          </a:xfrm>
          <a:prstGeom prst="roundRect">
            <a:avLst>
              <a:gd name="adj" fmla="val 5780"/>
            </a:avLst>
          </a:prstGeom>
          <a:solidFill>
            <a:srgbClr val="E9EEF6"/>
          </a:solidFill>
          <a:ln w="12700">
            <a:solidFill>
              <a:srgbClr val="E9EEF6"/>
            </a:solidFill>
            <a:prstDash val="solid"/>
          </a:ln>
        </p:spPr>
      </p:sp>
      <p:sp>
        <p:nvSpPr>
          <p:cNvPr id="22" name="Text 20"/>
          <p:cNvSpPr txBox="1"/>
          <p:nvPr/>
        </p:nvSpPr>
        <p:spPr>
          <a:xfrm>
            <a:off x="630936"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الرؤية والتحليلات</a:t>
            </a:r>
            <a:endParaRPr lang="ar-SA" sz="1200" dirty="0"/>
          </a:p>
        </p:txBody>
      </p:sp>
      <p:sp>
        <p:nvSpPr>
          <p:cNvPr id="23" name="Text 21"/>
          <p:cNvSpPr txBox="1"/>
          <p:nvPr/>
        </p:nvSpPr>
        <p:spPr>
          <a:xfrm>
            <a:off x="630936"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فجوات المعرفة بعدّاد تكرار</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إجابات معتمدة تدخل القاعدة فورًا</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تنبيهات داخل المنصة للطرفين</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تحليلات الاستخدام وجودة الإجابات</a:t>
            </a:r>
            <a:endParaRPr lang="ar-SA" sz="880" dirty="0"/>
          </a:p>
        </p:txBody>
      </p:sp>
      <p:sp>
        <p:nvSpPr>
          <p:cNvPr id="24" name="Shape 22"/>
          <p:cNvSpPr/>
          <p:nvPr/>
        </p:nvSpPr>
        <p:spPr>
          <a:xfrm>
            <a:off x="502920" y="4224528"/>
            <a:ext cx="8229600" cy="457200"/>
          </a:xfrm>
          <a:prstGeom prst="roundRect">
            <a:avLst>
              <a:gd name="adj" fmla="val 20000"/>
            </a:avLst>
          </a:prstGeom>
          <a:solidFill>
            <a:srgbClr val="F7F4EC"/>
          </a:solidFill>
          <a:ln w="12700">
            <a:solidFill>
              <a:srgbClr val="C9A24C"/>
            </a:solidFill>
            <a:prstDash val="solid"/>
          </a:ln>
        </p:spPr>
      </p:sp>
      <p:sp>
        <p:nvSpPr>
          <p:cNvPr id="25" name="Text 23"/>
          <p:cNvSpPr txBox="1"/>
          <p:nvPr/>
        </p:nvSpPr>
        <p:spPr>
          <a:xfrm>
            <a:off x="685800" y="4343400"/>
            <a:ext cx="7863840" cy="274320"/>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وأربع قنوات للوصول: الويب، وواتساب، ومركز مساعدة بثلاثة عشر مقالًا، ودعم فني بالتذاكر داخل المنصة.</a:t>
            </a:r>
            <a:endParaRPr lang="ar-SA"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الذكاء الاصطناعي داخل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Applied AI: seven roles, two agents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43000"/>
            <a:ext cx="8046720" cy="530352"/>
          </a:xfrm>
          <a:prstGeom prst="roundRect">
            <a:avLst>
              <a:gd name="adj" fmla="val 17241"/>
            </a:avLst>
          </a:prstGeom>
          <a:solidFill>
            <a:srgbClr val="1E3967"/>
          </a:solidFill>
          <a:ln w="12700">
            <a:solidFill>
              <a:srgbClr val="1E3967"/>
            </a:solidFill>
            <a:prstDash val="solid"/>
          </a:ln>
        </p:spPr>
      </p:sp>
      <p:sp>
        <p:nvSpPr>
          <p:cNvPr id="9" name="Text 7"/>
          <p:cNvSpPr txBox="1"/>
          <p:nvPr/>
        </p:nvSpPr>
        <p:spPr>
          <a:xfrm>
            <a:off x="731520" y="1261872"/>
            <a:ext cx="7680960" cy="292608"/>
          </a:xfrm>
          <a:prstGeom prst="rect">
            <a:avLst/>
          </a:prstGeom>
          <a:noFill/>
          <a:ln/>
        </p:spPr>
        <p:txBody>
          <a:bodyPr wrap="square" lIns="0" tIns="0" rIns="0" bIns="0" rtlCol="0" anchor="t"/>
          <a:lstStyle/>
          <a:p>
            <a:pPr rtl="1" algn="r" indent="0" marL="0">
              <a:buNone/>
            </a:pPr>
            <a:r>
              <a:rPr lang="ar-SA" altLang="en-US" sz="1050" b="1" dirty="0">
                <a:solidFill>
                  <a:srgbClr val="FFFFFF"/>
                </a:solidFill>
                <a:latin typeface="Arial" pitchFamily="34" charset="0"/>
                <a:ea typeface="Arial" pitchFamily="34" charset="-122"/>
                <a:cs typeface="Arial" pitchFamily="34" charset="-120"/>
              </a:rPr>
              <a:t>سبعة أدوار ذكاء اصطناعي مستقلّة، ولكلٍّ موجّهه ونموذجه وحصته، وتكلفته تُقاس لكل شركة. واثنان منها (★) مساران متعدّدا الخطوات.</a:t>
            </a:r>
            <a:endParaRPr lang="ar-SA" sz="1050" dirty="0"/>
          </a:p>
        </p:txBody>
      </p:sp>
      <p:sp>
        <p:nvSpPr>
          <p:cNvPr id="10" name="Shape 8"/>
          <p:cNvSpPr/>
          <p:nvPr/>
        </p:nvSpPr>
        <p:spPr>
          <a:xfrm>
            <a:off x="6638544" y="1783080"/>
            <a:ext cx="1938528" cy="713232"/>
          </a:xfrm>
          <a:prstGeom prst="roundRect">
            <a:avLst>
              <a:gd name="adj" fmla="val 12821"/>
            </a:avLst>
          </a:prstGeom>
          <a:solidFill>
            <a:srgbClr val="E9EEF6"/>
          </a:solidFill>
          <a:ln w="12700">
            <a:solidFill>
              <a:srgbClr val="E9EEF6"/>
            </a:solidFill>
            <a:prstDash val="solid"/>
          </a:ln>
        </p:spPr>
      </p:sp>
      <p:sp>
        <p:nvSpPr>
          <p:cNvPr id="11" name="Text 9"/>
          <p:cNvSpPr txBox="1"/>
          <p:nvPr/>
        </p:nvSpPr>
        <p:spPr>
          <a:xfrm>
            <a:off x="6748272"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١ · المساعد الرئيسي</a:t>
            </a:r>
            <a:endParaRPr lang="ar-SA" sz="1050" dirty="0"/>
          </a:p>
        </p:txBody>
      </p:sp>
      <p:sp>
        <p:nvSpPr>
          <p:cNvPr id="12" name="Text 10"/>
          <p:cNvSpPr txBox="1"/>
          <p:nvPr/>
        </p:nvSpPr>
        <p:spPr>
          <a:xfrm>
            <a:off x="6748272"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من مستندات الشركة بصلاحيات السائل</a:t>
            </a:r>
            <a:endParaRPr lang="ar-SA" sz="850" dirty="0"/>
          </a:p>
        </p:txBody>
      </p:sp>
      <p:sp>
        <p:nvSpPr>
          <p:cNvPr id="13" name="Shape 11"/>
          <p:cNvSpPr/>
          <p:nvPr/>
        </p:nvSpPr>
        <p:spPr>
          <a:xfrm>
            <a:off x="4608576" y="1783080"/>
            <a:ext cx="1938528" cy="713232"/>
          </a:xfrm>
          <a:prstGeom prst="roundRect">
            <a:avLst>
              <a:gd name="adj" fmla="val 12821"/>
            </a:avLst>
          </a:prstGeom>
          <a:solidFill>
            <a:srgbClr val="E9EEF6"/>
          </a:solidFill>
          <a:ln w="12700">
            <a:solidFill>
              <a:srgbClr val="E9EEF6"/>
            </a:solidFill>
            <a:prstDash val="solid"/>
          </a:ln>
        </p:spPr>
      </p:sp>
      <p:sp>
        <p:nvSpPr>
          <p:cNvPr id="14" name="Text 12"/>
          <p:cNvSpPr txBox="1"/>
          <p:nvPr/>
        </p:nvSpPr>
        <p:spPr>
          <a:xfrm>
            <a:off x="4718304"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٢ · الصياغة الإنقاذية</a:t>
            </a:r>
            <a:endParaRPr lang="ar-SA" sz="1050" dirty="0"/>
          </a:p>
        </p:txBody>
      </p:sp>
      <p:sp>
        <p:nvSpPr>
          <p:cNvPr id="15" name="Text 13"/>
          <p:cNvSpPr txBox="1"/>
          <p:nvPr/>
        </p:nvSpPr>
        <p:spPr>
          <a:xfrm>
            <a:off x="4718304"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يعيد صوغ السؤال إن رجع البحث خاويًا</a:t>
            </a:r>
            <a:endParaRPr lang="ar-SA" sz="850" dirty="0"/>
          </a:p>
        </p:txBody>
      </p:sp>
      <p:sp>
        <p:nvSpPr>
          <p:cNvPr id="16" name="Shape 14"/>
          <p:cNvSpPr/>
          <p:nvPr/>
        </p:nvSpPr>
        <p:spPr>
          <a:xfrm>
            <a:off x="2578608" y="1783080"/>
            <a:ext cx="1938528" cy="713232"/>
          </a:xfrm>
          <a:prstGeom prst="roundRect">
            <a:avLst>
              <a:gd name="adj" fmla="val 12821"/>
            </a:avLst>
          </a:prstGeom>
          <a:solidFill>
            <a:srgbClr val="E9EEF6"/>
          </a:solidFill>
          <a:ln w="12700">
            <a:solidFill>
              <a:srgbClr val="E9EEF6"/>
            </a:solidFill>
            <a:prstDash val="solid"/>
          </a:ln>
        </p:spPr>
      </p:sp>
      <p:sp>
        <p:nvSpPr>
          <p:cNvPr id="17" name="Text 15"/>
          <p:cNvSpPr txBox="1"/>
          <p:nvPr/>
        </p:nvSpPr>
        <p:spPr>
          <a:xfrm>
            <a:off x="2688336"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٣ · مسار الفجوة ★</a:t>
            </a:r>
            <a:endParaRPr lang="ar-SA" sz="1050" dirty="0"/>
          </a:p>
        </p:txBody>
      </p:sp>
      <p:sp>
        <p:nvSpPr>
          <p:cNvPr id="18" name="Text 16"/>
          <p:cNvSpPr txBox="1"/>
          <p:nvPr/>
        </p:nvSpPr>
        <p:spPr>
          <a:xfrm>
            <a:off x="2688336"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يبحث ثم يصوغ مسودة جواب يعتمدها المدير</a:t>
            </a:r>
            <a:endParaRPr lang="ar-SA" sz="850" dirty="0"/>
          </a:p>
        </p:txBody>
      </p:sp>
      <p:sp>
        <p:nvSpPr>
          <p:cNvPr id="19" name="Shape 17"/>
          <p:cNvSpPr/>
          <p:nvPr/>
        </p:nvSpPr>
        <p:spPr>
          <a:xfrm>
            <a:off x="548640" y="1783080"/>
            <a:ext cx="1938528" cy="713232"/>
          </a:xfrm>
          <a:prstGeom prst="roundRect">
            <a:avLst>
              <a:gd name="adj" fmla="val 12821"/>
            </a:avLst>
          </a:prstGeom>
          <a:solidFill>
            <a:srgbClr val="E9EEF6"/>
          </a:solidFill>
          <a:ln w="12700">
            <a:solidFill>
              <a:srgbClr val="E9EEF6"/>
            </a:solidFill>
            <a:prstDash val="solid"/>
          </a:ln>
        </p:spPr>
      </p:sp>
      <p:sp>
        <p:nvSpPr>
          <p:cNvPr id="20" name="Text 18"/>
          <p:cNvSpPr txBox="1"/>
          <p:nvPr/>
        </p:nvSpPr>
        <p:spPr>
          <a:xfrm>
            <a:off x="658368"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٤ · مساعد الموقع</a:t>
            </a:r>
            <a:endParaRPr lang="ar-SA" sz="1050" dirty="0"/>
          </a:p>
        </p:txBody>
      </p:sp>
      <p:sp>
        <p:nvSpPr>
          <p:cNvPr id="21" name="Text 19"/>
          <p:cNvSpPr txBox="1"/>
          <p:nvPr/>
        </p:nvSpPr>
        <p:spPr>
          <a:xfrm>
            <a:off x="658368"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الزوّار بمعزل عن بيانات أي شركة</a:t>
            </a:r>
            <a:endParaRPr lang="ar-SA" sz="850" dirty="0"/>
          </a:p>
        </p:txBody>
      </p:sp>
      <p:sp>
        <p:nvSpPr>
          <p:cNvPr id="22" name="Shape 20"/>
          <p:cNvSpPr/>
          <p:nvPr/>
        </p:nvSpPr>
        <p:spPr>
          <a:xfrm>
            <a:off x="6638544" y="2569464"/>
            <a:ext cx="1938528" cy="713232"/>
          </a:xfrm>
          <a:prstGeom prst="roundRect">
            <a:avLst>
              <a:gd name="adj" fmla="val 12821"/>
            </a:avLst>
          </a:prstGeom>
          <a:solidFill>
            <a:srgbClr val="FFFFFF"/>
          </a:solidFill>
          <a:ln w="12700">
            <a:solidFill>
              <a:srgbClr val="D9DEE7"/>
            </a:solidFill>
            <a:prstDash val="solid"/>
          </a:ln>
        </p:spPr>
      </p:sp>
      <p:sp>
        <p:nvSpPr>
          <p:cNvPr id="23" name="Text 21"/>
          <p:cNvSpPr txBox="1"/>
          <p:nvPr/>
        </p:nvSpPr>
        <p:spPr>
          <a:xfrm>
            <a:off x="6748272"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٥ · قناة واتساب ★</a:t>
            </a:r>
            <a:endParaRPr lang="ar-SA" sz="1050" dirty="0"/>
          </a:p>
        </p:txBody>
      </p:sp>
      <p:sp>
        <p:nvSpPr>
          <p:cNvPr id="24" name="Text 22"/>
          <p:cNvSpPr txBox="1"/>
          <p:nvPr/>
        </p:nvSpPr>
        <p:spPr>
          <a:xfrm>
            <a:off x="6748272"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يتحقق من الهوية ثم يجيب بصلاحياتها</a:t>
            </a:r>
            <a:endParaRPr lang="ar-SA" sz="850" dirty="0"/>
          </a:p>
        </p:txBody>
      </p:sp>
      <p:sp>
        <p:nvSpPr>
          <p:cNvPr id="25" name="Shape 23"/>
          <p:cNvSpPr/>
          <p:nvPr/>
        </p:nvSpPr>
        <p:spPr>
          <a:xfrm>
            <a:off x="4608576" y="2569464"/>
            <a:ext cx="1938528" cy="713232"/>
          </a:xfrm>
          <a:prstGeom prst="roundRect">
            <a:avLst>
              <a:gd name="adj" fmla="val 12821"/>
            </a:avLst>
          </a:prstGeom>
          <a:solidFill>
            <a:srgbClr val="FFFFFF"/>
          </a:solidFill>
          <a:ln w="12700">
            <a:solidFill>
              <a:srgbClr val="D9DEE7"/>
            </a:solidFill>
            <a:prstDash val="solid"/>
          </a:ln>
        </p:spPr>
      </p:sp>
      <p:sp>
        <p:nvSpPr>
          <p:cNvPr id="26" name="Text 24"/>
          <p:cNvSpPr txBox="1"/>
          <p:nvPr/>
        </p:nvSpPr>
        <p:spPr>
          <a:xfrm>
            <a:off x="4718304"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٦ · عنوان المحادثة</a:t>
            </a:r>
            <a:endParaRPr lang="ar-SA" sz="1050" dirty="0"/>
          </a:p>
        </p:txBody>
      </p:sp>
      <p:sp>
        <p:nvSpPr>
          <p:cNvPr id="27" name="Text 25"/>
          <p:cNvSpPr txBox="1"/>
          <p:nvPr/>
        </p:nvSpPr>
        <p:spPr>
          <a:xfrm>
            <a:off x="4718304"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يصوغ عنوانًا قصيرًا لكل محادثة</a:t>
            </a:r>
            <a:endParaRPr lang="ar-SA" sz="850" dirty="0"/>
          </a:p>
        </p:txBody>
      </p:sp>
      <p:sp>
        <p:nvSpPr>
          <p:cNvPr id="28" name="Shape 26"/>
          <p:cNvSpPr/>
          <p:nvPr/>
        </p:nvSpPr>
        <p:spPr>
          <a:xfrm>
            <a:off x="2578608" y="2569464"/>
            <a:ext cx="1938528" cy="713232"/>
          </a:xfrm>
          <a:prstGeom prst="roundRect">
            <a:avLst>
              <a:gd name="adj" fmla="val 12821"/>
            </a:avLst>
          </a:prstGeom>
          <a:solidFill>
            <a:srgbClr val="FFFFFF"/>
          </a:solidFill>
          <a:ln w="12700">
            <a:solidFill>
              <a:srgbClr val="D9DEE7"/>
            </a:solidFill>
            <a:prstDash val="solid"/>
          </a:ln>
        </p:spPr>
      </p:sp>
      <p:sp>
        <p:nvSpPr>
          <p:cNvPr id="29" name="Text 27"/>
          <p:cNvSpPr txBox="1"/>
          <p:nvPr/>
        </p:nvSpPr>
        <p:spPr>
          <a:xfrm>
            <a:off x="2688336"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٧ · القراءة الضوئية</a:t>
            </a:r>
            <a:endParaRPr lang="ar-SA" sz="1050" dirty="0"/>
          </a:p>
        </p:txBody>
      </p:sp>
      <p:sp>
        <p:nvSpPr>
          <p:cNvPr id="30" name="Text 28"/>
          <p:cNvSpPr txBox="1"/>
          <p:nvPr/>
        </p:nvSpPr>
        <p:spPr>
          <a:xfrm>
            <a:off x="2688336"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ينسخ المسوحات والصور صفحةً صفحة</a:t>
            </a:r>
            <a:endParaRPr lang="ar-SA" sz="850" dirty="0"/>
          </a:p>
        </p:txBody>
      </p:sp>
      <p:sp>
        <p:nvSpPr>
          <p:cNvPr id="31" name="Text 29"/>
          <p:cNvSpPr txBox="1"/>
          <p:nvPr/>
        </p:nvSpPr>
        <p:spPr>
          <a:xfrm>
            <a:off x="548640" y="3429000"/>
            <a:ext cx="8046720" cy="256032"/>
          </a:xfrm>
          <a:prstGeom prst="rect">
            <a:avLst/>
          </a:prstGeom>
          <a:noFill/>
          <a:ln/>
        </p:spPr>
        <p:txBody>
          <a:bodyPr wrap="square" lIns="0" tIns="0" rIns="0" bIns="0" rtlCol="0" anchor="t"/>
          <a:lstStyle/>
          <a:p>
            <a:pPr rtl="1" algn="r" indent="0" marL="0">
              <a:buNone/>
            </a:pPr>
            <a:r>
              <a:rPr lang="ar-SA" altLang="en-US" sz="1100" b="1" dirty="0">
                <a:solidFill>
                  <a:srgbClr val="1E3967"/>
                </a:solidFill>
                <a:latin typeface="Arial" pitchFamily="34" charset="0"/>
                <a:ea typeface="Arial" pitchFamily="34" charset="-122"/>
                <a:cs typeface="Arial" pitchFamily="34" charset="-120"/>
              </a:rPr>
              <a:t>ولا يُستدعى نموذج حيث تكفي الحتمية — أربع ركائز بلا نموذج:</a:t>
            </a:r>
            <a:endParaRPr lang="ar-SA" sz="1100" dirty="0"/>
          </a:p>
        </p:txBody>
      </p:sp>
      <p:sp>
        <p:nvSpPr>
          <p:cNvPr id="32" name="Shape 30"/>
          <p:cNvSpPr/>
          <p:nvPr/>
        </p:nvSpPr>
        <p:spPr>
          <a:xfrm>
            <a:off x="6638544" y="3730752"/>
            <a:ext cx="1938528" cy="932688"/>
          </a:xfrm>
          <a:prstGeom prst="roundRect">
            <a:avLst>
              <a:gd name="adj" fmla="val 9804"/>
            </a:avLst>
          </a:prstGeom>
          <a:solidFill>
            <a:srgbClr val="F7F4EC"/>
          </a:solidFill>
          <a:ln w="12700">
            <a:solidFill>
              <a:srgbClr val="C9A24C"/>
            </a:solidFill>
            <a:prstDash val="solid"/>
          </a:ln>
        </p:spPr>
      </p:sp>
      <p:sp>
        <p:nvSpPr>
          <p:cNvPr id="33" name="Text 31"/>
          <p:cNvSpPr txBox="1"/>
          <p:nvPr/>
        </p:nvSpPr>
        <p:spPr>
          <a:xfrm>
            <a:off x="6748272"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استرجاع هجين</a:t>
            </a:r>
            <a:endParaRPr lang="ar-SA" sz="1000" dirty="0"/>
          </a:p>
        </p:txBody>
      </p:sp>
      <p:sp>
        <p:nvSpPr>
          <p:cNvPr id="34" name="Text 32"/>
          <p:cNvSpPr txBox="1"/>
          <p:nvPr/>
        </p:nvSpPr>
        <p:spPr>
          <a:xfrm>
            <a:off x="6748272"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دلاليّ بالمتجهات + لفظيّ عربي (تطبيع وتجذير داخل القاعدة)، يُدمجان برتبة متبادلة فيُلتقط المعنى والمصطلح الحرفي معًا.</a:t>
            </a:r>
            <a:endParaRPr lang="ar-SA" sz="760" dirty="0"/>
          </a:p>
        </p:txBody>
      </p:sp>
      <p:sp>
        <p:nvSpPr>
          <p:cNvPr id="35" name="Shape 33"/>
          <p:cNvSpPr/>
          <p:nvPr/>
        </p:nvSpPr>
        <p:spPr>
          <a:xfrm>
            <a:off x="4608576" y="3730752"/>
            <a:ext cx="1938528" cy="932688"/>
          </a:xfrm>
          <a:prstGeom prst="roundRect">
            <a:avLst>
              <a:gd name="adj" fmla="val 9804"/>
            </a:avLst>
          </a:prstGeom>
          <a:solidFill>
            <a:srgbClr val="F7F4EC"/>
          </a:solidFill>
          <a:ln w="12700">
            <a:solidFill>
              <a:srgbClr val="C9A24C"/>
            </a:solidFill>
            <a:prstDash val="solid"/>
          </a:ln>
        </p:spPr>
      </p:sp>
      <p:sp>
        <p:nvSpPr>
          <p:cNvPr id="36" name="Text 34"/>
          <p:cNvSpPr txBox="1"/>
          <p:nvPr/>
        </p:nvSpPr>
        <p:spPr>
          <a:xfrm>
            <a:off x="4718304"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إصلاح PDF العربي</a:t>
            </a:r>
            <a:endParaRPr lang="ar-SA" sz="1000" dirty="0"/>
          </a:p>
        </p:txBody>
      </p:sp>
      <p:sp>
        <p:nvSpPr>
          <p:cNvPr id="37" name="Text 35"/>
          <p:cNvSpPr txBox="1"/>
          <p:nvPr/>
        </p:nvSpPr>
        <p:spPr>
          <a:xfrm>
            <a:off x="4718304"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أربع دوال تُصلح الحروف المبعثرة ولام-ألف المعكوسة والأرقام المشوّهة، وتقيس جودة الاستخراج وترفض ما لا يصلح.</a:t>
            </a:r>
            <a:endParaRPr lang="ar-SA" sz="760" dirty="0"/>
          </a:p>
        </p:txBody>
      </p:sp>
      <p:sp>
        <p:nvSpPr>
          <p:cNvPr id="38" name="Shape 36"/>
          <p:cNvSpPr/>
          <p:nvPr/>
        </p:nvSpPr>
        <p:spPr>
          <a:xfrm>
            <a:off x="2578608" y="3730752"/>
            <a:ext cx="1938528" cy="932688"/>
          </a:xfrm>
          <a:prstGeom prst="roundRect">
            <a:avLst>
              <a:gd name="adj" fmla="val 9804"/>
            </a:avLst>
          </a:prstGeom>
          <a:solidFill>
            <a:srgbClr val="F7F4EC"/>
          </a:solidFill>
          <a:ln w="12700">
            <a:solidFill>
              <a:srgbClr val="C9A24C"/>
            </a:solidFill>
            <a:prstDash val="solid"/>
          </a:ln>
        </p:spPr>
      </p:sp>
      <p:sp>
        <p:nvSpPr>
          <p:cNvPr id="39" name="Text 37"/>
          <p:cNvSpPr txBox="1"/>
          <p:nvPr/>
        </p:nvSpPr>
        <p:spPr>
          <a:xfrm>
            <a:off x="2688336"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مدقّق حتميّ للأرقام</a:t>
            </a:r>
            <a:endParaRPr lang="ar-SA" sz="1000" dirty="0"/>
          </a:p>
        </p:txBody>
      </p:sp>
      <p:sp>
        <p:nvSpPr>
          <p:cNvPr id="40" name="Text 38"/>
          <p:cNvSpPr txBox="1"/>
          <p:nvPr/>
        </p:nvSpPr>
        <p:spPr>
          <a:xfrm>
            <a:off x="2688336"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يقارن كل رقم بنصّ مصدره بعد التوليد — بلا نموذج ثانٍ: لا تكلفة ولا زمن، ولا حَكَم قد يهلوس وهو يحكم على الهلوسة.</a:t>
            </a:r>
            <a:endParaRPr lang="ar-SA" sz="760" dirty="0"/>
          </a:p>
        </p:txBody>
      </p:sp>
      <p:sp>
        <p:nvSpPr>
          <p:cNvPr id="41" name="Shape 39"/>
          <p:cNvSpPr/>
          <p:nvPr/>
        </p:nvSpPr>
        <p:spPr>
          <a:xfrm>
            <a:off x="548640" y="3730752"/>
            <a:ext cx="1938528" cy="932688"/>
          </a:xfrm>
          <a:prstGeom prst="roundRect">
            <a:avLst>
              <a:gd name="adj" fmla="val 9804"/>
            </a:avLst>
          </a:prstGeom>
          <a:solidFill>
            <a:srgbClr val="F7F4EC"/>
          </a:solidFill>
          <a:ln w="12700">
            <a:solidFill>
              <a:srgbClr val="C9A24C"/>
            </a:solidFill>
            <a:prstDash val="solid"/>
          </a:ln>
        </p:spPr>
      </p:sp>
      <p:sp>
        <p:nvSpPr>
          <p:cNvPr id="42" name="Text 40"/>
          <p:cNvSpPr txBox="1"/>
          <p:nvPr/>
        </p:nvSpPr>
        <p:spPr>
          <a:xfrm>
            <a:off x="658368"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حصانة ضدّ حقن الأوامر</a:t>
            </a:r>
            <a:endParaRPr lang="ar-SA" sz="1000" dirty="0"/>
          </a:p>
        </p:txBody>
      </p:sp>
      <p:sp>
        <p:nvSpPr>
          <p:cNvPr id="43" name="Text 41"/>
          <p:cNvSpPr txBox="1"/>
          <p:nvPr/>
        </p:nvSpPr>
        <p:spPr>
          <a:xfrm>
            <a:off x="658368"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نصّ المستند بيانات لا تعليمات: تُحيَّد علامات المصادر المزوّرة وعلامات الحدود وعناوين الأقسام.</a:t>
            </a:r>
            <a:endParaRPr lang="ar-SA" sz="7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نموذج العمل والسوق والقيمة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Business model · market · value</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34440"/>
            <a:ext cx="3931920" cy="1554480"/>
          </a:xfrm>
          <a:prstGeom prst="roundRect">
            <a:avLst>
              <a:gd name="adj" fmla="val 5882"/>
            </a:avLst>
          </a:prstGeom>
          <a:solidFill>
            <a:srgbClr val="E9EEF6"/>
          </a:solidFill>
          <a:ln w="12700">
            <a:solidFill>
              <a:srgbClr val="E9EEF6"/>
            </a:solidFill>
            <a:prstDash val="solid"/>
          </a:ln>
        </p:spPr>
      </p:sp>
      <p:sp>
        <p:nvSpPr>
          <p:cNvPr id="9" name="Text 7"/>
          <p:cNvSpPr txBox="1"/>
          <p:nvPr/>
        </p:nvSpPr>
        <p:spPr>
          <a:xfrm>
            <a:off x="48280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نموذج الإيرادات</a:t>
            </a:r>
            <a:endParaRPr lang="ar-SA" sz="1250" dirty="0"/>
          </a:p>
        </p:txBody>
      </p:sp>
      <p:sp>
        <p:nvSpPr>
          <p:cNvPr id="10" name="Text 8"/>
          <p:cNvSpPr txBox="1"/>
          <p:nvPr/>
        </p:nvSpPr>
        <p:spPr>
          <a:xfrm>
            <a:off x="48280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اشتراك شهري أو سنوي حسب الحجم:</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الأساسية ٨٩٩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النمو ٢٬٤٩٩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الأعمال ٥٬٩٩٩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تجربة ٧ أيام. ومصادر إضافية: تهيئة الأرشيف، حزم قراءة ضوئية، وقناة شركاء.</a:t>
            </a:r>
            <a:endParaRPr lang="ar-SA" sz="950" dirty="0"/>
          </a:p>
        </p:txBody>
      </p:sp>
      <p:sp>
        <p:nvSpPr>
          <p:cNvPr id="11" name="Shape 9"/>
          <p:cNvSpPr/>
          <p:nvPr/>
        </p:nvSpPr>
        <p:spPr>
          <a:xfrm>
            <a:off x="548640" y="1234440"/>
            <a:ext cx="3931920" cy="1554480"/>
          </a:xfrm>
          <a:prstGeom prst="roundRect">
            <a:avLst>
              <a:gd name="adj" fmla="val 5882"/>
            </a:avLst>
          </a:prstGeom>
          <a:solidFill>
            <a:srgbClr val="E9EEF6"/>
          </a:solidFill>
          <a:ln w="12700">
            <a:solidFill>
              <a:srgbClr val="E9EEF6"/>
            </a:solidFill>
            <a:prstDash val="solid"/>
          </a:ln>
        </p:spPr>
      </p:sp>
      <p:sp>
        <p:nvSpPr>
          <p:cNvPr id="12" name="Text 10"/>
          <p:cNvSpPr txBox="1"/>
          <p:nvPr/>
        </p:nvSpPr>
        <p:spPr>
          <a:xfrm>
            <a:off x="7132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السوق المستهدف</a:t>
            </a:r>
            <a:endParaRPr lang="ar-SA" sz="1250" dirty="0"/>
          </a:p>
        </p:txBody>
      </p:sp>
      <p:sp>
        <p:nvSpPr>
          <p:cNvPr id="13" name="Text 11"/>
          <p:cNvSpPr txBox="1"/>
          <p:nvPr/>
        </p:nvSpPr>
        <p:spPr>
          <a:xfrm>
            <a:off x="7132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المنشآت الصغيرة والمتوسطة في المملكة (٢٠ إلى ٥٠٠ موظف) ذات اللوائح الكثيفة: التجزئة والخدمات اللوجستية والرعاية الصحية والخدمات المهنية. الدخول عبر إدارات الموارد البشرية والعمليات.</a:t>
            </a:r>
            <a:endParaRPr lang="ar-SA" sz="950" dirty="0"/>
          </a:p>
        </p:txBody>
      </p:sp>
      <p:sp>
        <p:nvSpPr>
          <p:cNvPr id="14" name="Shape 12"/>
          <p:cNvSpPr/>
          <p:nvPr/>
        </p:nvSpPr>
        <p:spPr>
          <a:xfrm>
            <a:off x="4663440" y="2926080"/>
            <a:ext cx="3931920" cy="1554480"/>
          </a:xfrm>
          <a:prstGeom prst="roundRect">
            <a:avLst>
              <a:gd name="adj" fmla="val 5882"/>
            </a:avLst>
          </a:prstGeom>
          <a:solidFill>
            <a:srgbClr val="FFFFFF"/>
          </a:solidFill>
          <a:ln w="12700">
            <a:solidFill>
              <a:srgbClr val="D9DEE7"/>
            </a:solidFill>
            <a:prstDash val="solid"/>
          </a:ln>
        </p:spPr>
      </p:sp>
      <p:sp>
        <p:nvSpPr>
          <p:cNvPr id="15" name="Text 13"/>
          <p:cNvSpPr txBox="1"/>
          <p:nvPr/>
        </p:nvSpPr>
        <p:spPr>
          <a:xfrm>
            <a:off x="48280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القيمة المضافة للعميل</a:t>
            </a:r>
            <a:endParaRPr lang="ar-SA" sz="1250" dirty="0"/>
          </a:p>
        </p:txBody>
      </p:sp>
      <p:sp>
        <p:nvSpPr>
          <p:cNvPr id="16" name="Text 14"/>
          <p:cNvSpPr txBox="1"/>
          <p:nvPr/>
        </p:nvSpPr>
        <p:spPr>
          <a:xfrm>
            <a:off x="48280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جواب موثّق في ثوانٍ بدل بحث في عشرات الملفات</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توقّف تكرار الأسئلة على الموارد البشرية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رؤية إدارية: ما يُسأل وما لا جواب له</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الأرشيف الممسوح ضوئيًا يصير قابلًا للسؤال</a:t>
            </a:r>
            <a:endParaRPr lang="ar-SA" sz="950" dirty="0"/>
          </a:p>
        </p:txBody>
      </p:sp>
      <p:sp>
        <p:nvSpPr>
          <p:cNvPr id="17" name="Shape 15"/>
          <p:cNvSpPr/>
          <p:nvPr/>
        </p:nvSpPr>
        <p:spPr>
          <a:xfrm>
            <a:off x="548640" y="2926080"/>
            <a:ext cx="3931920" cy="1554480"/>
          </a:xfrm>
          <a:prstGeom prst="roundRect">
            <a:avLst>
              <a:gd name="adj" fmla="val 5882"/>
            </a:avLst>
          </a:prstGeom>
          <a:solidFill>
            <a:srgbClr val="FFFFFF"/>
          </a:solidFill>
          <a:ln w="12700">
            <a:solidFill>
              <a:srgbClr val="D9DEE7"/>
            </a:solidFill>
            <a:prstDash val="solid"/>
          </a:ln>
        </p:spPr>
      </p:sp>
      <p:sp>
        <p:nvSpPr>
          <p:cNvPr id="18" name="Text 16"/>
          <p:cNvSpPr txBox="1"/>
          <p:nvPr/>
        </p:nvSpPr>
        <p:spPr>
          <a:xfrm>
            <a:off x="7132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الخطة التشغيلية</a:t>
            </a:r>
            <a:endParaRPr lang="ar-SA" sz="1250" dirty="0"/>
          </a:p>
        </p:txBody>
      </p:sp>
      <p:sp>
        <p:nvSpPr>
          <p:cNvPr id="19" name="Text 17"/>
          <p:cNvSpPr txBox="1"/>
          <p:nvPr/>
        </p:nvSpPr>
        <p:spPr>
          <a:xfrm>
            <a:off x="7132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١: الإثبات — ٣ تجارب ثم ٥ عملاء يدفعون</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٢: التكرار — مسؤول بيع وقناة شركاء</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٣: التعميق — تكاملات وشهادة أمنية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السنتان ٤ و٥: التوسع الجغرافي</a:t>
            </a:r>
            <a:endParaRPr lang="ar-SA"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الخطة المالية وخطة التوظيف</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Financial &amp; hiring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548640" y="1170432"/>
            <a:ext cx="8046720" cy="310896"/>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الأرقام المالية الرسمية المعتمدة لملف الرخصة الريادية. كلها متوقَّعة ومستهدفة (Expected · Projected · Target)، لا مضمونة.</a:t>
            </a:r>
            <a:endParaRPr lang="ar-SA" sz="1000" dirty="0"/>
          </a:p>
        </p:txBody>
      </p:sp>
      <p:sp>
        <p:nvSpPr>
          <p:cNvPr id="9" name="Shape 7"/>
          <p:cNvSpPr/>
          <p:nvPr/>
        </p:nvSpPr>
        <p:spPr>
          <a:xfrm>
            <a:off x="6309360" y="1572768"/>
            <a:ext cx="2286000" cy="932688"/>
          </a:xfrm>
          <a:prstGeom prst="roundRect">
            <a:avLst>
              <a:gd name="adj" fmla="val 9804"/>
            </a:avLst>
          </a:prstGeom>
          <a:solidFill>
            <a:srgbClr val="1E3967"/>
          </a:solidFill>
          <a:ln w="12700">
            <a:solidFill>
              <a:srgbClr val="1E3967"/>
            </a:solidFill>
            <a:prstDash val="solid"/>
          </a:ln>
        </p:spPr>
      </p:sp>
      <p:sp>
        <p:nvSpPr>
          <p:cNvPr id="10" name="Text 8"/>
          <p:cNvSpPr txBox="1"/>
          <p:nvPr/>
        </p:nvSpPr>
        <p:spPr>
          <a:xfrm>
            <a:off x="6446520" y="1682496"/>
            <a:ext cx="2011680" cy="219456"/>
          </a:xfrm>
          <a:prstGeom prst="rect">
            <a:avLst/>
          </a:prstGeom>
          <a:noFill/>
          <a:ln/>
        </p:spPr>
        <p:txBody>
          <a:bodyPr wrap="square" lIns="0" tIns="0" rIns="0" bIns="0" rtlCol="0" anchor="t"/>
          <a:lstStyle/>
          <a:p>
            <a:pPr rtl="1" algn="r" indent="0" marL="0">
              <a:buNone/>
            </a:pPr>
            <a:r>
              <a:rPr lang="ar-SA" altLang="en-US" sz="950" dirty="0">
                <a:solidFill>
                  <a:srgbClr val="B8C2D6"/>
                </a:solidFill>
                <a:latin typeface="Arial" pitchFamily="34" charset="0"/>
                <a:ea typeface="Arial" pitchFamily="34" charset="-122"/>
                <a:cs typeface="Arial" pitchFamily="34" charset="-120"/>
              </a:rPr>
              <a:t>رأس مال الشركة الناشئة</a:t>
            </a:r>
            <a:endParaRPr lang="ar-SA" sz="950" dirty="0"/>
          </a:p>
        </p:txBody>
      </p:sp>
      <p:sp>
        <p:nvSpPr>
          <p:cNvPr id="11" name="Text 9"/>
          <p:cNvSpPr txBox="1"/>
          <p:nvPr/>
        </p:nvSpPr>
        <p:spPr>
          <a:xfrm>
            <a:off x="6446520" y="1938528"/>
            <a:ext cx="2011680" cy="384048"/>
          </a:xfrm>
          <a:prstGeom prst="rect">
            <a:avLst/>
          </a:prstGeom>
          <a:noFill/>
          <a:ln/>
        </p:spPr>
        <p:txBody>
          <a:bodyPr wrap="square" lIns="0" tIns="0" rIns="0" bIns="0" rtlCol="0" anchor="t"/>
          <a:lstStyle/>
          <a:p>
            <a:pPr rtl="1" algn="r" indent="0" marL="0">
              <a:buNone/>
            </a:pPr>
            <a:r>
              <a:rPr lang="ar-SA" altLang="en-US" sz="2000" b="1" dirty="0">
                <a:solidFill>
                  <a:srgbClr val="C9A24C"/>
                </a:solidFill>
                <a:latin typeface="Arial" pitchFamily="34" charset="0"/>
                <a:ea typeface="Arial" pitchFamily="34" charset="-122"/>
                <a:cs typeface="Arial" pitchFamily="34" charset="-120"/>
              </a:rPr>
              <a:t>20,000 ريال</a:t>
            </a:r>
            <a:endParaRPr lang="ar-SA" sz="2000" dirty="0"/>
          </a:p>
        </p:txBody>
      </p:sp>
      <p:sp>
        <p:nvSpPr>
          <p:cNvPr id="12" name="Shape 10"/>
          <p:cNvSpPr/>
          <p:nvPr/>
        </p:nvSpPr>
        <p:spPr>
          <a:xfrm>
            <a:off x="6309360" y="2651760"/>
            <a:ext cx="2286000" cy="1920240"/>
          </a:xfrm>
          <a:prstGeom prst="roundRect">
            <a:avLst>
              <a:gd name="adj" fmla="val 4762"/>
            </a:avLst>
          </a:prstGeom>
          <a:solidFill>
            <a:srgbClr val="E9EEF6"/>
          </a:solidFill>
          <a:ln w="12700">
            <a:solidFill>
              <a:srgbClr val="E9EEF6"/>
            </a:solidFill>
            <a:prstDash val="solid"/>
          </a:ln>
        </p:spPr>
      </p:sp>
      <p:sp>
        <p:nvSpPr>
          <p:cNvPr id="13" name="Text 11"/>
          <p:cNvSpPr txBox="1"/>
          <p:nvPr/>
        </p:nvSpPr>
        <p:spPr>
          <a:xfrm>
            <a:off x="6446520" y="2761488"/>
            <a:ext cx="2011680" cy="256032"/>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حجم الفريق الكلي</a:t>
            </a:r>
            <a:endParaRPr lang="ar-SA" sz="1200" dirty="0"/>
          </a:p>
        </p:txBody>
      </p:sp>
      <p:sp>
        <p:nvSpPr>
          <p:cNvPr id="14" name="Text 12"/>
          <p:cNvSpPr txBox="1"/>
          <p:nvPr/>
        </p:nvSpPr>
        <p:spPr>
          <a:xfrm>
            <a:off x="7863840" y="3127248"/>
            <a:ext cx="548640" cy="457200"/>
          </a:xfrm>
          <a:prstGeom prst="rect">
            <a:avLst/>
          </a:prstGeom>
          <a:noFill/>
          <a:ln/>
        </p:spPr>
        <p:txBody>
          <a:bodyPr wrap="square" lIns="0" tIns="0" rIns="0" bIns="0" rtlCol="0" anchor="ctr"/>
          <a:lstStyle/>
          <a:p>
            <a:pPr rtl="1" algn="ctr" indent="0" marL="0">
              <a:buNone/>
            </a:pPr>
            <a:r>
              <a:rPr lang="ar-SA" altLang="en-US" sz="2400" b="1" dirty="0">
                <a:solidFill>
                  <a:srgbClr val="1E3967"/>
                </a:solidFill>
                <a:latin typeface="Arial" pitchFamily="34" charset="0"/>
                <a:ea typeface="Arial" pitchFamily="34" charset="-122"/>
                <a:cs typeface="Arial" pitchFamily="34" charset="-120"/>
              </a:rPr>
              <a:t>1</a:t>
            </a:r>
            <a:endParaRPr lang="ar-SA" sz="2400" dirty="0"/>
          </a:p>
        </p:txBody>
      </p:sp>
      <p:sp>
        <p:nvSpPr>
          <p:cNvPr id="15" name="Text 13"/>
          <p:cNvSpPr txBox="1"/>
          <p:nvPr/>
        </p:nvSpPr>
        <p:spPr>
          <a:xfrm>
            <a:off x="6446520" y="3163824"/>
            <a:ext cx="1371600" cy="201168"/>
          </a:xfrm>
          <a:prstGeom prst="rect">
            <a:avLst/>
          </a:prstGeom>
          <a:noFill/>
          <a:ln/>
        </p:spPr>
        <p:txBody>
          <a:bodyPr wrap="square" lIns="0" tIns="0" rIns="0" bIns="0" rtlCol="0" anchor="t"/>
          <a:lstStyle/>
          <a:p>
            <a:pPr rtl="1" algn="r" indent="0" marL="0">
              <a:buNone/>
            </a:pPr>
            <a:r>
              <a:rPr lang="ar-SA" altLang="en-US" sz="850" dirty="0">
                <a:solidFill>
                  <a:srgbClr val="5B6573"/>
                </a:solidFill>
                <a:latin typeface="Arial" pitchFamily="34" charset="0"/>
                <a:ea typeface="Arial" pitchFamily="34" charset="-122"/>
                <a:cs typeface="Arial" pitchFamily="34" charset="-120"/>
              </a:rPr>
              <a:t>السنة الأولى</a:t>
            </a:r>
            <a:endParaRPr lang="ar-SA" sz="850" dirty="0"/>
          </a:p>
        </p:txBody>
      </p:sp>
      <p:sp>
        <p:nvSpPr>
          <p:cNvPr id="16" name="Text 14"/>
          <p:cNvSpPr txBox="1"/>
          <p:nvPr/>
        </p:nvSpPr>
        <p:spPr>
          <a:xfrm>
            <a:off x="6446520" y="3346704"/>
            <a:ext cx="1371600" cy="219456"/>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المؤسِّسة وحدها</a:t>
            </a:r>
            <a:endParaRPr lang="ar-SA" sz="950" dirty="0"/>
          </a:p>
        </p:txBody>
      </p:sp>
      <p:sp>
        <p:nvSpPr>
          <p:cNvPr id="17" name="Text 15"/>
          <p:cNvSpPr txBox="1"/>
          <p:nvPr/>
        </p:nvSpPr>
        <p:spPr>
          <a:xfrm>
            <a:off x="7863840" y="3840480"/>
            <a:ext cx="548640" cy="457200"/>
          </a:xfrm>
          <a:prstGeom prst="rect">
            <a:avLst/>
          </a:prstGeom>
          <a:noFill/>
          <a:ln/>
        </p:spPr>
        <p:txBody>
          <a:bodyPr wrap="square" lIns="0" tIns="0" rIns="0" bIns="0" rtlCol="0" anchor="ctr"/>
          <a:lstStyle/>
          <a:p>
            <a:pPr rtl="1" algn="ctr" indent="0" marL="0">
              <a:buNone/>
            </a:pPr>
            <a:r>
              <a:rPr lang="ar-SA" altLang="en-US" sz="2400" b="1" dirty="0">
                <a:solidFill>
                  <a:srgbClr val="1E3967"/>
                </a:solidFill>
                <a:latin typeface="Arial" pitchFamily="34" charset="0"/>
                <a:ea typeface="Arial" pitchFamily="34" charset="-122"/>
                <a:cs typeface="Arial" pitchFamily="34" charset="-120"/>
              </a:rPr>
              <a:t>5</a:t>
            </a:r>
            <a:endParaRPr lang="ar-SA" sz="2400" dirty="0"/>
          </a:p>
        </p:txBody>
      </p:sp>
      <p:sp>
        <p:nvSpPr>
          <p:cNvPr id="18" name="Text 16"/>
          <p:cNvSpPr txBox="1"/>
          <p:nvPr/>
        </p:nvSpPr>
        <p:spPr>
          <a:xfrm>
            <a:off x="6446520" y="3877056"/>
            <a:ext cx="1371600" cy="201168"/>
          </a:xfrm>
          <a:prstGeom prst="rect">
            <a:avLst/>
          </a:prstGeom>
          <a:noFill/>
          <a:ln/>
        </p:spPr>
        <p:txBody>
          <a:bodyPr wrap="square" lIns="0" tIns="0" rIns="0" bIns="0" rtlCol="0" anchor="t"/>
          <a:lstStyle/>
          <a:p>
            <a:pPr rtl="1" algn="r" indent="0" marL="0">
              <a:buNone/>
            </a:pPr>
            <a:r>
              <a:rPr lang="ar-SA" altLang="en-US" sz="850" dirty="0">
                <a:solidFill>
                  <a:srgbClr val="5B6573"/>
                </a:solidFill>
                <a:latin typeface="Arial" pitchFamily="34" charset="0"/>
                <a:ea typeface="Arial" pitchFamily="34" charset="-122"/>
                <a:cs typeface="Arial" pitchFamily="34" charset="-120"/>
              </a:rPr>
              <a:t>السنة الخامسة</a:t>
            </a:r>
            <a:endParaRPr lang="ar-SA" sz="850" dirty="0"/>
          </a:p>
        </p:txBody>
      </p:sp>
      <p:sp>
        <p:nvSpPr>
          <p:cNvPr id="19" name="Text 17"/>
          <p:cNvSpPr txBox="1"/>
          <p:nvPr/>
        </p:nvSpPr>
        <p:spPr>
          <a:xfrm>
            <a:off x="6446520" y="4059936"/>
            <a:ext cx="1371600" cy="219456"/>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مستهدف — بـ٤ تعيينات جديدة</a:t>
            </a:r>
            <a:endParaRPr lang="ar-SA" sz="950" dirty="0"/>
          </a:p>
        </p:txBody>
      </p:sp>
      <p:sp>
        <p:nvSpPr>
          <p:cNvPr id="20" name="Shape 18"/>
          <p:cNvSpPr/>
          <p:nvPr/>
        </p:nvSpPr>
        <p:spPr>
          <a:xfrm>
            <a:off x="548640" y="1572768"/>
            <a:ext cx="5577840" cy="1371600"/>
          </a:xfrm>
          <a:prstGeom prst="roundRect">
            <a:avLst>
              <a:gd name="adj" fmla="val 6667"/>
            </a:avLst>
          </a:prstGeom>
          <a:solidFill>
            <a:srgbClr val="E9EEF6"/>
          </a:solidFill>
          <a:ln w="12700">
            <a:solidFill>
              <a:srgbClr val="E9EEF6"/>
            </a:solidFill>
            <a:prstDash val="solid"/>
          </a:ln>
        </p:spPr>
      </p:sp>
      <p:sp>
        <p:nvSpPr>
          <p:cNvPr id="21" name="Text 19"/>
          <p:cNvSpPr txBox="1"/>
          <p:nvPr/>
        </p:nvSpPr>
        <p:spPr>
          <a:xfrm>
            <a:off x="713232" y="1700784"/>
            <a:ext cx="5248656" cy="256032"/>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الاثنا عشر شهرًا القادمة</a:t>
            </a:r>
            <a:endParaRPr lang="ar-SA" sz="1250" dirty="0"/>
          </a:p>
        </p:txBody>
      </p:sp>
      <p:sp>
        <p:nvSpPr>
          <p:cNvPr id="22" name="Text 20"/>
          <p:cNvSpPr txBox="1"/>
          <p:nvPr/>
        </p:nvSpPr>
        <p:spPr>
          <a:xfrm>
            <a:off x="3383280" y="2075688"/>
            <a:ext cx="2578608" cy="201168"/>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المصروفات (CapEx + OpEx)</a:t>
            </a:r>
            <a:endParaRPr lang="ar-SA" sz="900" dirty="0"/>
          </a:p>
        </p:txBody>
      </p:sp>
      <p:sp>
        <p:nvSpPr>
          <p:cNvPr id="23" name="Text 21"/>
          <p:cNvSpPr txBox="1"/>
          <p:nvPr/>
        </p:nvSpPr>
        <p:spPr>
          <a:xfrm>
            <a:off x="3383280" y="2295144"/>
            <a:ext cx="2578608" cy="384048"/>
          </a:xfrm>
          <a:prstGeom prst="rect">
            <a:avLst/>
          </a:prstGeom>
          <a:noFill/>
          <a:ln/>
        </p:spPr>
        <p:txBody>
          <a:bodyPr wrap="square" lIns="0" tIns="0" rIns="0" bIns="0" rtlCol="0" anchor="t"/>
          <a:lstStyle/>
          <a:p>
            <a:pPr rtl="1" algn="r" indent="0" marL="0">
              <a:buNone/>
            </a:pPr>
            <a:r>
              <a:rPr lang="ar-SA" altLang="en-US" sz="1900" b="1" dirty="0">
                <a:solidFill>
                  <a:srgbClr val="1B2330"/>
                </a:solidFill>
                <a:latin typeface="Arial" pitchFamily="34" charset="0"/>
                <a:ea typeface="Arial" pitchFamily="34" charset="-122"/>
                <a:cs typeface="Arial" pitchFamily="34" charset="-120"/>
              </a:rPr>
              <a:t>60,000 ريال</a:t>
            </a:r>
            <a:endParaRPr lang="ar-SA" sz="1900" dirty="0"/>
          </a:p>
        </p:txBody>
      </p:sp>
      <p:sp>
        <p:nvSpPr>
          <p:cNvPr id="24" name="Text 22"/>
          <p:cNvSpPr txBox="1"/>
          <p:nvPr/>
        </p:nvSpPr>
        <p:spPr>
          <a:xfrm>
            <a:off x="713232" y="2075688"/>
            <a:ext cx="2578608" cy="201168"/>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الإيراد التراكمي المتوقَّع</a:t>
            </a:r>
            <a:endParaRPr lang="ar-SA" sz="900" dirty="0"/>
          </a:p>
        </p:txBody>
      </p:sp>
      <p:sp>
        <p:nvSpPr>
          <p:cNvPr id="25" name="Text 23"/>
          <p:cNvSpPr txBox="1"/>
          <p:nvPr/>
        </p:nvSpPr>
        <p:spPr>
          <a:xfrm>
            <a:off x="713232" y="2295144"/>
            <a:ext cx="2578608" cy="384048"/>
          </a:xfrm>
          <a:prstGeom prst="rect">
            <a:avLst/>
          </a:prstGeom>
          <a:noFill/>
          <a:ln/>
        </p:spPr>
        <p:txBody>
          <a:bodyPr wrap="square" lIns="0" tIns="0" rIns="0" bIns="0" rtlCol="0" anchor="t"/>
          <a:lstStyle/>
          <a:p>
            <a:pPr rtl="1" algn="r" indent="0" marL="0">
              <a:buNone/>
            </a:pPr>
            <a:r>
              <a:rPr lang="ar-SA" altLang="en-US" sz="1900" b="1" dirty="0">
                <a:solidFill>
                  <a:srgbClr val="1B7FA8"/>
                </a:solidFill>
                <a:latin typeface="Arial" pitchFamily="34" charset="0"/>
                <a:ea typeface="Arial" pitchFamily="34" charset="-122"/>
                <a:cs typeface="Arial" pitchFamily="34" charset="-120"/>
              </a:rPr>
              <a:t>65,000 ريال</a:t>
            </a:r>
            <a:endParaRPr lang="ar-SA" sz="1900" dirty="0"/>
          </a:p>
        </p:txBody>
      </p:sp>
      <p:sp>
        <p:nvSpPr>
          <p:cNvPr id="26" name="Shape 24"/>
          <p:cNvSpPr/>
          <p:nvPr/>
        </p:nvSpPr>
        <p:spPr>
          <a:xfrm>
            <a:off x="548640" y="3108960"/>
            <a:ext cx="5577840" cy="1371600"/>
          </a:xfrm>
          <a:prstGeom prst="roundRect">
            <a:avLst>
              <a:gd name="adj" fmla="val 6667"/>
            </a:avLst>
          </a:prstGeom>
          <a:solidFill>
            <a:srgbClr val="FFFFFF"/>
          </a:solidFill>
          <a:ln w="12700">
            <a:solidFill>
              <a:srgbClr val="D9DEE7"/>
            </a:solidFill>
            <a:prstDash val="solid"/>
          </a:ln>
        </p:spPr>
      </p:sp>
      <p:sp>
        <p:nvSpPr>
          <p:cNvPr id="27" name="Text 25"/>
          <p:cNvSpPr txBox="1"/>
          <p:nvPr/>
        </p:nvSpPr>
        <p:spPr>
          <a:xfrm>
            <a:off x="713232" y="3236976"/>
            <a:ext cx="5248656" cy="256032"/>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الخمس سنوات القادمة</a:t>
            </a:r>
            <a:endParaRPr lang="ar-SA" sz="1250" dirty="0"/>
          </a:p>
        </p:txBody>
      </p:sp>
      <p:sp>
        <p:nvSpPr>
          <p:cNvPr id="28" name="Text 26"/>
          <p:cNvSpPr txBox="1"/>
          <p:nvPr/>
        </p:nvSpPr>
        <p:spPr>
          <a:xfrm>
            <a:off x="3383280" y="3611880"/>
            <a:ext cx="2578608" cy="201168"/>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المصروفات التراكمية (CapEx + OpEx)</a:t>
            </a:r>
            <a:endParaRPr lang="ar-SA" sz="900" dirty="0"/>
          </a:p>
        </p:txBody>
      </p:sp>
      <p:sp>
        <p:nvSpPr>
          <p:cNvPr id="29" name="Text 27"/>
          <p:cNvSpPr txBox="1"/>
          <p:nvPr/>
        </p:nvSpPr>
        <p:spPr>
          <a:xfrm>
            <a:off x="3383280" y="3831336"/>
            <a:ext cx="2578608" cy="384048"/>
          </a:xfrm>
          <a:prstGeom prst="rect">
            <a:avLst/>
          </a:prstGeom>
          <a:noFill/>
          <a:ln/>
        </p:spPr>
        <p:txBody>
          <a:bodyPr wrap="square" lIns="0" tIns="0" rIns="0" bIns="0" rtlCol="0" anchor="t"/>
          <a:lstStyle/>
          <a:p>
            <a:pPr rtl="1" algn="r" indent="0" marL="0">
              <a:buNone/>
            </a:pPr>
            <a:r>
              <a:rPr lang="ar-SA" altLang="en-US" sz="1900" b="1" dirty="0">
                <a:solidFill>
                  <a:srgbClr val="1B2330"/>
                </a:solidFill>
                <a:latin typeface="Arial" pitchFamily="34" charset="0"/>
                <a:ea typeface="Arial" pitchFamily="34" charset="-122"/>
                <a:cs typeface="Arial" pitchFamily="34" charset="-120"/>
              </a:rPr>
              <a:t>900,000 ريال</a:t>
            </a:r>
            <a:endParaRPr lang="ar-SA" sz="1900" dirty="0"/>
          </a:p>
        </p:txBody>
      </p:sp>
      <p:sp>
        <p:nvSpPr>
          <p:cNvPr id="30" name="Text 28"/>
          <p:cNvSpPr txBox="1"/>
          <p:nvPr/>
        </p:nvSpPr>
        <p:spPr>
          <a:xfrm>
            <a:off x="713232" y="3611880"/>
            <a:ext cx="2578608" cy="201168"/>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الإيراد التراكمي المتوقَّع</a:t>
            </a:r>
            <a:endParaRPr lang="ar-SA" sz="900" dirty="0"/>
          </a:p>
        </p:txBody>
      </p:sp>
      <p:sp>
        <p:nvSpPr>
          <p:cNvPr id="31" name="Text 29"/>
          <p:cNvSpPr txBox="1"/>
          <p:nvPr/>
        </p:nvSpPr>
        <p:spPr>
          <a:xfrm>
            <a:off x="713232" y="3831336"/>
            <a:ext cx="2578608" cy="384048"/>
          </a:xfrm>
          <a:prstGeom prst="rect">
            <a:avLst/>
          </a:prstGeom>
          <a:noFill/>
          <a:ln/>
        </p:spPr>
        <p:txBody>
          <a:bodyPr wrap="square" lIns="0" tIns="0" rIns="0" bIns="0" rtlCol="0" anchor="t"/>
          <a:lstStyle/>
          <a:p>
            <a:pPr rtl="1" algn="r" indent="0" marL="0">
              <a:buNone/>
            </a:pPr>
            <a:r>
              <a:rPr lang="ar-SA" altLang="en-US" sz="1900" b="1" dirty="0">
                <a:solidFill>
                  <a:srgbClr val="1B7FA8"/>
                </a:solidFill>
                <a:latin typeface="Arial" pitchFamily="34" charset="0"/>
                <a:ea typeface="Arial" pitchFamily="34" charset="-122"/>
                <a:cs typeface="Arial" pitchFamily="34" charset="-120"/>
              </a:rPr>
              <a:t>1,250,000 ريال</a:t>
            </a:r>
            <a:endParaRPr lang="ar-SA" sz="1900" dirty="0"/>
          </a:p>
        </p:txBody>
      </p:sp>
      <p:sp>
        <p:nvSpPr>
          <p:cNvPr id="32" name="Text 30"/>
          <p:cNvSpPr txBox="1"/>
          <p:nvPr/>
        </p:nvSpPr>
        <p:spPr>
          <a:xfrm>
            <a:off x="548640" y="4590288"/>
            <a:ext cx="8046720" cy="27432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المشروع مموَّل ذاتيًا بالكامل ولا يطلب تمويلًا للبقاء؛ التعادل عند عدد صغير من العملاء والتكلفة الثابتة للبنية التحتية محدودة.</a:t>
            </a:r>
            <a:endParaRPr lang="ar-SA"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خارطة التطوّر وخطة التوسع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Product roadmap &amp; expansion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6638544" y="1143000"/>
            <a:ext cx="1938528" cy="658368"/>
          </a:xfrm>
          <a:prstGeom prst="roundRect">
            <a:avLst>
              <a:gd name="adj" fmla="val 13889"/>
            </a:avLst>
          </a:prstGeom>
          <a:solidFill>
            <a:srgbClr val="1E3967"/>
          </a:solidFill>
          <a:ln w="12700">
            <a:solidFill>
              <a:srgbClr val="1E3967"/>
            </a:solidFill>
            <a:prstDash val="solid"/>
          </a:ln>
        </p:spPr>
      </p:sp>
      <p:sp>
        <p:nvSpPr>
          <p:cNvPr id="9" name="Text 7"/>
          <p:cNvSpPr txBox="1"/>
          <p:nvPr/>
        </p:nvSpPr>
        <p:spPr>
          <a:xfrm>
            <a:off x="6729984"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١ · اسأل · أجب · تحقّق</a:t>
            </a:r>
            <a:endParaRPr lang="ar-SA" sz="1000" dirty="0"/>
          </a:p>
        </p:txBody>
      </p:sp>
      <p:sp>
        <p:nvSpPr>
          <p:cNvPr id="10" name="Text 8"/>
          <p:cNvSpPr txBox="1"/>
          <p:nvPr/>
        </p:nvSpPr>
        <p:spPr>
          <a:xfrm>
            <a:off x="6729984"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C9A24C"/>
                </a:solidFill>
                <a:latin typeface="Arial" pitchFamily="34" charset="0"/>
                <a:ea typeface="Arial" pitchFamily="34" charset="-122"/>
                <a:cs typeface="Arial" pitchFamily="34" charset="-120"/>
              </a:rPr>
              <a:t>✔ منشورة</a:t>
            </a:r>
            <a:endParaRPr lang="ar-SA" sz="900" dirty="0"/>
          </a:p>
        </p:txBody>
      </p:sp>
      <p:sp>
        <p:nvSpPr>
          <p:cNvPr id="11" name="Shape 9"/>
          <p:cNvSpPr/>
          <p:nvPr/>
        </p:nvSpPr>
        <p:spPr>
          <a:xfrm>
            <a:off x="4608576" y="1143000"/>
            <a:ext cx="1938528" cy="658368"/>
          </a:xfrm>
          <a:prstGeom prst="roundRect">
            <a:avLst>
              <a:gd name="adj" fmla="val 13889"/>
            </a:avLst>
          </a:prstGeom>
          <a:solidFill>
            <a:srgbClr val="1E3967"/>
          </a:solidFill>
          <a:ln w="12700">
            <a:solidFill>
              <a:srgbClr val="1E3967"/>
            </a:solidFill>
            <a:prstDash val="solid"/>
          </a:ln>
        </p:spPr>
      </p:sp>
      <p:sp>
        <p:nvSpPr>
          <p:cNvPr id="12" name="Text 10"/>
          <p:cNvSpPr txBox="1"/>
          <p:nvPr/>
        </p:nvSpPr>
        <p:spPr>
          <a:xfrm>
            <a:off x="4700016"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٢ · اكتشف · وثّق · أغلق</a:t>
            </a:r>
            <a:endParaRPr lang="ar-SA" sz="1000" dirty="0"/>
          </a:p>
        </p:txBody>
      </p:sp>
      <p:sp>
        <p:nvSpPr>
          <p:cNvPr id="13" name="Text 11"/>
          <p:cNvSpPr txBox="1"/>
          <p:nvPr/>
        </p:nvSpPr>
        <p:spPr>
          <a:xfrm>
            <a:off x="4700016"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C9A24C"/>
                </a:solidFill>
                <a:latin typeface="Arial" pitchFamily="34" charset="0"/>
                <a:ea typeface="Arial" pitchFamily="34" charset="-122"/>
                <a:cs typeface="Arial" pitchFamily="34" charset="-120"/>
              </a:rPr>
              <a:t>✔ منشورة</a:t>
            </a:r>
            <a:endParaRPr lang="ar-SA" sz="900" dirty="0"/>
          </a:p>
        </p:txBody>
      </p:sp>
      <p:sp>
        <p:nvSpPr>
          <p:cNvPr id="14" name="Shape 12"/>
          <p:cNvSpPr/>
          <p:nvPr/>
        </p:nvSpPr>
        <p:spPr>
          <a:xfrm>
            <a:off x="2578608" y="1143000"/>
            <a:ext cx="1938528" cy="658368"/>
          </a:xfrm>
          <a:prstGeom prst="roundRect">
            <a:avLst>
              <a:gd name="adj" fmla="val 13889"/>
            </a:avLst>
          </a:prstGeom>
          <a:solidFill>
            <a:srgbClr val="FFFFFF"/>
          </a:solidFill>
          <a:ln w="12700">
            <a:solidFill>
              <a:srgbClr val="C9A24C"/>
            </a:solidFill>
            <a:prstDash val="solid"/>
          </a:ln>
        </p:spPr>
      </p:sp>
      <p:sp>
        <p:nvSpPr>
          <p:cNvPr id="15" name="Text 13"/>
          <p:cNvSpPr txBox="1"/>
          <p:nvPr/>
        </p:nvSpPr>
        <p:spPr>
          <a:xfrm>
            <a:off x="2670048"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1E3967"/>
                </a:solidFill>
                <a:latin typeface="Arial" pitchFamily="34" charset="0"/>
                <a:ea typeface="Arial" pitchFamily="34" charset="-122"/>
                <a:cs typeface="Arial" pitchFamily="34" charset="-120"/>
              </a:rPr>
              <a:t>٣ · أنشئ · راجِع · احكم</a:t>
            </a:r>
            <a:endParaRPr lang="ar-SA" sz="1000" dirty="0"/>
          </a:p>
        </p:txBody>
      </p:sp>
      <p:sp>
        <p:nvSpPr>
          <p:cNvPr id="16" name="Text 14"/>
          <p:cNvSpPr txBox="1"/>
          <p:nvPr/>
        </p:nvSpPr>
        <p:spPr>
          <a:xfrm>
            <a:off x="2670048"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5B6573"/>
                </a:solidFill>
                <a:latin typeface="Arial" pitchFamily="34" charset="0"/>
                <a:ea typeface="Arial" pitchFamily="34" charset="-122"/>
                <a:cs typeface="Arial" pitchFamily="34" charset="-120"/>
              </a:rPr>
              <a:t>بعد ٣ عملاء</a:t>
            </a:r>
            <a:endParaRPr lang="ar-SA" sz="900" dirty="0"/>
          </a:p>
        </p:txBody>
      </p:sp>
      <p:sp>
        <p:nvSpPr>
          <p:cNvPr id="17" name="Shape 15"/>
          <p:cNvSpPr/>
          <p:nvPr/>
        </p:nvSpPr>
        <p:spPr>
          <a:xfrm>
            <a:off x="548640" y="1143000"/>
            <a:ext cx="1938528" cy="658368"/>
          </a:xfrm>
          <a:prstGeom prst="roundRect">
            <a:avLst>
              <a:gd name="adj" fmla="val 13889"/>
            </a:avLst>
          </a:prstGeom>
          <a:solidFill>
            <a:srgbClr val="FFFFFF"/>
          </a:solidFill>
          <a:ln w="12700">
            <a:solidFill>
              <a:srgbClr val="C9A24C"/>
            </a:solidFill>
            <a:prstDash val="solid"/>
          </a:ln>
        </p:spPr>
      </p:sp>
      <p:sp>
        <p:nvSpPr>
          <p:cNvPr id="18" name="Text 16"/>
          <p:cNvSpPr txBox="1"/>
          <p:nvPr/>
        </p:nvSpPr>
        <p:spPr>
          <a:xfrm>
            <a:off x="640080"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1E3967"/>
                </a:solidFill>
                <a:latin typeface="Arial" pitchFamily="34" charset="0"/>
                <a:ea typeface="Arial" pitchFamily="34" charset="-122"/>
                <a:cs typeface="Arial" pitchFamily="34" charset="-120"/>
              </a:rPr>
              <a:t>٤ · اربط · وجّه · نفّذ</a:t>
            </a:r>
            <a:endParaRPr lang="ar-SA" sz="1000" dirty="0"/>
          </a:p>
        </p:txBody>
      </p:sp>
      <p:sp>
        <p:nvSpPr>
          <p:cNvPr id="19" name="Text 17"/>
          <p:cNvSpPr txBox="1"/>
          <p:nvPr/>
        </p:nvSpPr>
        <p:spPr>
          <a:xfrm>
            <a:off x="640080"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5B6573"/>
                </a:solidFill>
                <a:latin typeface="Arial" pitchFamily="34" charset="0"/>
                <a:ea typeface="Arial" pitchFamily="34" charset="-122"/>
                <a:cs typeface="Arial" pitchFamily="34" charset="-120"/>
              </a:rPr>
              <a:t>بعد ١٥ عميلًا</a:t>
            </a:r>
            <a:endParaRPr lang="ar-SA" sz="900" dirty="0"/>
          </a:p>
        </p:txBody>
      </p:sp>
      <p:sp>
        <p:nvSpPr>
          <p:cNvPr id="20" name="Text 18"/>
          <p:cNvSpPr txBox="1"/>
          <p:nvPr/>
        </p:nvSpPr>
        <p:spPr>
          <a:xfrm>
            <a:off x="548640" y="1883664"/>
            <a:ext cx="8046720" cy="256032"/>
          </a:xfrm>
          <a:prstGeom prst="rect">
            <a:avLst/>
          </a:prstGeom>
          <a:noFill/>
          <a:ln/>
        </p:spPr>
        <p:txBody>
          <a:bodyPr wrap="square" lIns="0" tIns="0" rIns="0" bIns="0" rtlCol="0" anchor="t"/>
          <a:lstStyle/>
          <a:p>
            <a:pPr rtl="1" algn="r" indent="0" marL="0">
              <a:buNone/>
            </a:pPr>
            <a:r>
              <a:rPr lang="ar-SA" altLang="en-US" sz="950" dirty="0">
                <a:solidFill>
                  <a:srgbClr val="5B6573"/>
                </a:solidFill>
                <a:latin typeface="Arial" pitchFamily="34" charset="0"/>
                <a:ea typeface="Arial" pitchFamily="34" charset="-122"/>
                <a:cs typeface="Arial" pitchFamily="34" charset="-120"/>
              </a:rPr>
              <a:t>من منصة تجيب عن المعرفة ← إلى منصة تعرف حالتها ← إلى منصة تبنيها ← إلى منصة تنفّذ بها. والمرحلتان الأوليان تعملان اليوم.</a:t>
            </a:r>
            <a:endParaRPr lang="ar-SA" sz="950" dirty="0"/>
          </a:p>
        </p:txBody>
      </p:sp>
      <p:sp>
        <p:nvSpPr>
          <p:cNvPr id="21" name="Shape 19"/>
          <p:cNvSpPr/>
          <p:nvPr/>
        </p:nvSpPr>
        <p:spPr>
          <a:xfrm>
            <a:off x="548640" y="2212848"/>
            <a:ext cx="8046720" cy="841248"/>
          </a:xfrm>
          <a:prstGeom prst="roundRect">
            <a:avLst>
              <a:gd name="adj" fmla="val 10870"/>
            </a:avLst>
          </a:prstGeom>
          <a:solidFill>
            <a:srgbClr val="F7F4EC"/>
          </a:solidFill>
          <a:ln w="12700">
            <a:solidFill>
              <a:srgbClr val="C9A24C"/>
            </a:solidFill>
            <a:prstDash val="solid"/>
          </a:ln>
        </p:spPr>
      </p:sp>
      <p:sp>
        <p:nvSpPr>
          <p:cNvPr id="22" name="Text 20"/>
          <p:cNvSpPr txBox="1"/>
          <p:nvPr/>
        </p:nvSpPr>
        <p:spPr>
          <a:xfrm>
            <a:off x="731520" y="2304288"/>
            <a:ext cx="7680960" cy="256032"/>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الخطوة القادمة: استوديو السياسات — مواصفة معتمدة، لم تُنشر بعد</a:t>
            </a:r>
            <a:endParaRPr lang="ar-SA" sz="1150" dirty="0"/>
          </a:p>
        </p:txBody>
      </p:sp>
      <p:sp>
        <p:nvSpPr>
          <p:cNvPr id="23" name="Text 21"/>
          <p:cNvSpPr txBox="1"/>
          <p:nvPr/>
        </p:nvSpPr>
        <p:spPr>
          <a:xfrm>
            <a:off x="731520" y="2578608"/>
            <a:ext cx="7680960" cy="420624"/>
          </a:xfrm>
          <a:prstGeom prst="rect">
            <a:avLst/>
          </a:prstGeom>
          <a:noFill/>
          <a:ln/>
        </p:spPr>
        <p:txBody>
          <a:bodyPr wrap="square" lIns="0" tIns="0" rIns="0" bIns="0" rtlCol="0" anchor="t"/>
          <a:lstStyle/>
          <a:p>
            <a:pPr rtl="1" algn="r" indent="0" marL="0">
              <a:lnSpc>
                <a:spcPct val="112000"/>
              </a:lnSpc>
              <a:buNone/>
            </a:pPr>
            <a:r>
              <a:rPr lang="ar-SA" altLang="en-US" sz="930" dirty="0">
                <a:solidFill>
                  <a:srgbClr val="1B2330"/>
                </a:solidFill>
                <a:latin typeface="Arial" pitchFamily="34" charset="0"/>
                <a:ea typeface="Arial" pitchFamily="34" charset="-122"/>
                <a:cs typeface="Arial" pitchFamily="34" charset="-120"/>
              </a:rPr>
              <a:t>يكتب مسودة سياسة من وثائق الشركة ومن مكتبة مرجعية رسمية مع الاستشهاد بمواد النظام، يعتمدها المدير فتدخل قاعدة المعرفة. أثرها: تقلب الاستبعاد سوقًا — الشركة بلا لوائح تصير العميل المثالي، و٧٠٪ من أجزائها مبنيّ فعلًا.</a:t>
            </a:r>
            <a:endParaRPr lang="ar-SA" sz="930" dirty="0"/>
          </a:p>
        </p:txBody>
      </p:sp>
      <p:sp>
        <p:nvSpPr>
          <p:cNvPr id="24" name="Shape 22"/>
          <p:cNvSpPr/>
          <p:nvPr/>
        </p:nvSpPr>
        <p:spPr>
          <a:xfrm>
            <a:off x="1097280" y="3584448"/>
            <a:ext cx="6949440" cy="0"/>
          </a:xfrm>
          <a:prstGeom prst="line">
            <a:avLst/>
          </a:prstGeom>
          <a:noFill/>
          <a:ln w="25400">
            <a:solidFill>
              <a:srgbClr val="C9A24C"/>
            </a:solidFill>
            <a:prstDash val="solid"/>
          </a:ln>
        </p:spPr>
      </p:sp>
      <p:sp>
        <p:nvSpPr>
          <p:cNvPr id="25" name="Shape 23"/>
          <p:cNvSpPr/>
          <p:nvPr/>
        </p:nvSpPr>
        <p:spPr>
          <a:xfrm>
            <a:off x="7132320" y="3401568"/>
            <a:ext cx="365760" cy="365760"/>
          </a:xfrm>
          <a:prstGeom prst="ellipse">
            <a:avLst/>
          </a:prstGeom>
          <a:solidFill>
            <a:srgbClr val="C9A24C"/>
          </a:solidFill>
          <a:ln w="25400">
            <a:solidFill>
              <a:srgbClr val="C9A24C"/>
            </a:solidFill>
            <a:prstDash val="solid"/>
          </a:ln>
        </p:spPr>
      </p:sp>
      <p:sp>
        <p:nvSpPr>
          <p:cNvPr id="26" name="Text 24"/>
          <p:cNvSpPr txBox="1"/>
          <p:nvPr/>
        </p:nvSpPr>
        <p:spPr>
          <a:xfrm>
            <a:off x="60350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السنوات ١ إلى ٣</a:t>
            </a:r>
            <a:endParaRPr lang="ar-SA" sz="900" dirty="0"/>
          </a:p>
        </p:txBody>
      </p:sp>
      <p:sp>
        <p:nvSpPr>
          <p:cNvPr id="27" name="Text 25"/>
          <p:cNvSpPr txBox="1"/>
          <p:nvPr/>
        </p:nvSpPr>
        <p:spPr>
          <a:xfrm>
            <a:off x="60350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داخل المملكة</a:t>
            </a:r>
            <a:endParaRPr lang="ar-SA" sz="1350" dirty="0"/>
          </a:p>
        </p:txBody>
      </p:sp>
      <p:sp>
        <p:nvSpPr>
          <p:cNvPr id="28" name="Text 26"/>
          <p:cNvSpPr txBox="1"/>
          <p:nvPr/>
        </p:nvSpPr>
        <p:spPr>
          <a:xfrm>
            <a:off x="61264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الرياض ثم جدة والدمام. بيع مباشر وقناة شركاء، وبناء المراجع والشهادة الأمنية. المنشأة والفريق والاستضافة والعملاء داخل المملكة.</a:t>
            </a:r>
            <a:endParaRPr lang="ar-SA" sz="860" dirty="0"/>
          </a:p>
        </p:txBody>
      </p:sp>
      <p:sp>
        <p:nvSpPr>
          <p:cNvPr id="29" name="Shape 27"/>
          <p:cNvSpPr/>
          <p:nvPr/>
        </p:nvSpPr>
        <p:spPr>
          <a:xfrm>
            <a:off x="4389120" y="3401568"/>
            <a:ext cx="365760" cy="365760"/>
          </a:xfrm>
          <a:prstGeom prst="ellipse">
            <a:avLst/>
          </a:prstGeom>
          <a:solidFill>
            <a:srgbClr val="FFFFFF"/>
          </a:solidFill>
          <a:ln w="25400">
            <a:solidFill>
              <a:srgbClr val="C9A24C"/>
            </a:solidFill>
            <a:prstDash val="solid"/>
          </a:ln>
        </p:spPr>
      </p:sp>
      <p:sp>
        <p:nvSpPr>
          <p:cNvPr id="30" name="Text 28"/>
          <p:cNvSpPr txBox="1"/>
          <p:nvPr/>
        </p:nvSpPr>
        <p:spPr>
          <a:xfrm>
            <a:off x="32918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السنتان ٤ و٥</a:t>
            </a:r>
            <a:endParaRPr lang="ar-SA" sz="900" dirty="0"/>
          </a:p>
        </p:txBody>
      </p:sp>
      <p:sp>
        <p:nvSpPr>
          <p:cNvPr id="31" name="Text 29"/>
          <p:cNvSpPr txBox="1"/>
          <p:nvPr/>
        </p:nvSpPr>
        <p:spPr>
          <a:xfrm>
            <a:off x="32918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دول الخليج</a:t>
            </a:r>
            <a:endParaRPr lang="ar-SA" sz="1350" dirty="0"/>
          </a:p>
        </p:txBody>
      </p:sp>
      <p:sp>
        <p:nvSpPr>
          <p:cNvPr id="32" name="Text 30"/>
          <p:cNvSpPr txBox="1"/>
          <p:nvPr/>
        </p:nvSpPr>
        <p:spPr>
          <a:xfrm>
            <a:off x="33832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الإمارات وقطر والكويت عبر شركاء محليين، بالمنتج نفسه واللغة نفسها، مع خيار استضافة إقليمية.</a:t>
            </a:r>
            <a:endParaRPr lang="ar-SA" sz="860" dirty="0"/>
          </a:p>
        </p:txBody>
      </p:sp>
      <p:sp>
        <p:nvSpPr>
          <p:cNvPr id="33" name="Shape 31"/>
          <p:cNvSpPr/>
          <p:nvPr/>
        </p:nvSpPr>
        <p:spPr>
          <a:xfrm>
            <a:off x="1645920" y="3401568"/>
            <a:ext cx="365760" cy="365760"/>
          </a:xfrm>
          <a:prstGeom prst="ellipse">
            <a:avLst/>
          </a:prstGeom>
          <a:solidFill>
            <a:srgbClr val="FFFFFF"/>
          </a:solidFill>
          <a:ln w="25400">
            <a:solidFill>
              <a:srgbClr val="C9A24C"/>
            </a:solidFill>
            <a:prstDash val="solid"/>
          </a:ln>
        </p:spPr>
      </p:sp>
      <p:sp>
        <p:nvSpPr>
          <p:cNvPr id="34" name="Text 32"/>
          <p:cNvSpPr txBox="1"/>
          <p:nvPr/>
        </p:nvSpPr>
        <p:spPr>
          <a:xfrm>
            <a:off x="5486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بعد السنة ٥</a:t>
            </a:r>
            <a:endParaRPr lang="ar-SA" sz="900" dirty="0"/>
          </a:p>
        </p:txBody>
      </p:sp>
      <p:sp>
        <p:nvSpPr>
          <p:cNvPr id="35" name="Text 33"/>
          <p:cNvSpPr txBox="1"/>
          <p:nvPr/>
        </p:nvSpPr>
        <p:spPr>
          <a:xfrm>
            <a:off x="5486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الأسواق الناطقة بالعربية</a:t>
            </a:r>
            <a:endParaRPr lang="ar-SA" sz="1350" dirty="0"/>
          </a:p>
        </p:txBody>
      </p:sp>
      <p:sp>
        <p:nvSpPr>
          <p:cNvPr id="36" name="Text 34"/>
          <p:cNvSpPr txBox="1"/>
          <p:nvPr/>
        </p:nvSpPr>
        <p:spPr>
          <a:xfrm>
            <a:off x="6400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مصر والأردن والمغرب العربي، حيث لا يوجد بديل عربي أولًا وبمعايير أمان مبنية للمؤسسات.</a:t>
            </a:r>
            <a:endParaRPr lang="ar-SA"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2026-09-09T15:06:20Z</dcterms:created>
  <dcterms:modified xsi:type="dcterms:W3CDTF">2026-09-09T15:06:20Z</dcterms:modified>
</cp:coreProperties>
</file>