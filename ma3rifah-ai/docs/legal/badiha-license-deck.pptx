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الحد الأدنى</c:v>
                </c:pt>
              </c:strCache>
            </c:strRef>
          </c:tx>
          <c:spPr>
            <a:solidFill>
              <a:srgbClr val="C9A24C"/>
            </a:solidFill>
            <a:effectLst/>
          </c:spPr>
          <c:invertIfNegative val="0"/>
          <c:dLbls>
            <c:numFmt formatCode="0.00" sourceLinked="0"/>
            <c:txPr>
              <a:bodyPr/>
              <a:lstStyle/>
              <a:p>
                <a:pPr>
                  <a:defRPr b="0" i="0" strike="noStrike" sz="800" u="none">
                    <a:solidFill>
                      <a:srgbClr val="1B2330"/>
                    </a:solidFill>
                    <a:latin typeface="Arial"/>
                  </a:defRPr>
                </a:pPr>
              </a:p>
            </c:txPr>
            <c:showLegendKey val="0"/>
            <c:showVal val="1"/>
            <c:showCatName val="0"/>
            <c:showSerName val="0"/>
            <c:showPercent val="0"/>
            <c:showBubbleSize val="0"/>
            <c:showLeaderLines val="0"/>
          </c:dLbls>
          <c:cat>
            <c:multiLvlStrRef>
              <c:f>Sheet1!$A$2:$A$6</c:f>
              <c:multiLvlStrCache>
                <c:ptCount val="5"/>
                <c:lvl>
                  <c:pt idx="0">
                    <c:v>السنة ١</c:v>
                  </c:pt>
                  <c:pt idx="1">
                    <c:v>السنة ٢</c:v>
                  </c:pt>
                  <c:pt idx="2">
                    <c:v>السنة ٣</c:v>
                  </c:pt>
                  <c:pt idx="3">
                    <c:v>السنة ٤</c:v>
                  </c:pt>
                  <c:pt idx="4">
                    <c:v>السنة ٥</c:v>
                  </c:pt>
                </c:lvl>
              </c:multiLvlStrCache>
            </c:multiLvlStrRef>
          </c:cat>
          <c:val>
            <c:numRef>
              <c:f>Sheet1!$B$2:$B$6</c:f>
              <c:numCache>
                <c:formatCode>General</c:formatCode>
                <c:ptCount val="5"/>
                <c:pt idx="0">
                  <c:v>0.08</c:v>
                </c:pt>
                <c:pt idx="1">
                  <c:v>0.35</c:v>
                </c:pt>
                <c:pt idx="2">
                  <c:v>0.8</c:v>
                </c:pt>
                <c:pt idx="3">
                  <c:v>1.3</c:v>
                </c:pt>
                <c:pt idx="4">
                  <c:v>1.9</c:v>
                </c:pt>
              </c:numCache>
            </c:numRef>
          </c:val>
        </c:ser>
        <c:ser>
          <c:idx val="1"/>
          <c:order val="1"/>
          <c:tx>
            <c:strRef>
              <c:f>Sheet1!$C$1</c:f>
              <c:strCache>
                <c:ptCount val="1"/>
                <c:pt idx="0">
                  <c:v>الحد الأعلى</c:v>
                </c:pt>
              </c:strCache>
            </c:strRef>
          </c:tx>
          <c:spPr>
            <a:solidFill>
              <a:srgbClr val="1E3967"/>
            </a:solidFill>
            <a:effectLst/>
          </c:spPr>
          <c:invertIfNegative val="0"/>
          <c:dLbls>
            <c:numFmt formatCode="0.00" sourceLinked="0"/>
            <c:txPr>
              <a:bodyPr/>
              <a:lstStyle/>
              <a:p>
                <a:pPr>
                  <a:defRPr b="0" i="0" strike="noStrike" sz="800" u="none">
                    <a:solidFill>
                      <a:srgbClr val="1B2330"/>
                    </a:solidFill>
                    <a:latin typeface="Arial"/>
                  </a:defRPr>
                </a:pPr>
              </a:p>
            </c:txPr>
            <c:showLegendKey val="0"/>
            <c:showVal val="1"/>
            <c:showCatName val="0"/>
            <c:showSerName val="0"/>
            <c:showPercent val="0"/>
            <c:showBubbleSize val="0"/>
            <c:showLeaderLines val="0"/>
          </c:dLbls>
          <c:cat>
            <c:multiLvlStrRef>
              <c:f>Sheet1!$A$2:$A$6</c:f>
              <c:multiLvlStrCache>
                <c:ptCount val="5"/>
                <c:lvl>
                  <c:pt idx="0">
                    <c:v>السنة ١</c:v>
                  </c:pt>
                  <c:pt idx="1">
                    <c:v>السنة ٢</c:v>
                  </c:pt>
                  <c:pt idx="2">
                    <c:v>السنة ٣</c:v>
                  </c:pt>
                  <c:pt idx="3">
                    <c:v>السنة ٤</c:v>
                  </c:pt>
                  <c:pt idx="4">
                    <c:v>السنة ٥</c:v>
                  </c:pt>
                </c:lvl>
              </c:multiLvlStrCache>
            </c:multiLvlStrRef>
          </c:cat>
          <c:val>
            <c:numRef>
              <c:f>Sheet1!$C$2:$C$6</c:f>
              <c:numCache>
                <c:formatCode>General</c:formatCode>
                <c:ptCount val="5"/>
                <c:pt idx="0">
                  <c:v>0.23</c:v>
                </c:pt>
                <c:pt idx="1">
                  <c:v>0.8</c:v>
                </c:pt>
                <c:pt idx="2">
                  <c:v>1.69</c:v>
                </c:pt>
                <c:pt idx="3">
                  <c:v>2.5</c:v>
                </c:pt>
                <c:pt idx="4">
                  <c:v>3.5</c:v>
                </c:pt>
              </c:numCache>
            </c:numRef>
          </c:val>
        </c:ser>
        <c:dLbls>
          <c:numFmt formatCode="0.00" sourceLinked="0"/>
          <c:txPr>
            <a:bodyPr/>
            <a:lstStyle/>
            <a:p>
              <a:pPr>
                <a:defRPr b="0" i="0" strike="noStrike" sz="800" u="none">
                  <a:solidFill>
                    <a:srgbClr val="1B233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B2330"/>
                </a:solidFill>
                <a:latin typeface="Arial"/>
              </a:defRPr>
            </a:pPr>
            <a:endParaRPr lang="en-US"/>
          </a:p>
        </c:txPr>
        <c:crossAx val="2094734552"/>
        <c:crosses val="autoZero"/>
        <c:auto val="1"/>
        <c:lblAlgn val="ctr"/>
        <c:noMultiLvlLbl val="1"/>
      </c:catAx>
      <c:valAx>
        <c:axId val="2094734552"/>
        <c:scaling>
          <c:orientation val="minMax"/>
          <c:max val="4"/>
        </c:scaling>
        <c:delete val="0"/>
        <c:axPos val="l"/>
        <c:majorGridlines>
          <c:spPr>
            <a:ln w="6350" cap="flat">
              <a:solidFill>
                <a:srgbClr val="D9DE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5B6573"/>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B2330"/>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3967"/>
        </a:solidFill>
      </p:bgPr>
    </p:bg>
    <p:spTree>
      <p:nvGrpSpPr>
        <p:cNvPr id="1" name=""/>
        <p:cNvGrpSpPr/>
        <p:nvPr/>
      </p:nvGrpSpPr>
      <p:grpSpPr>
        <a:xfrm>
          <a:off x="0" y="0"/>
          <a:ext cx="0" cy="0"/>
          <a:chOff x="0" y="0"/>
          <a:chExt cx="0" cy="0"/>
        </a:xfrm>
      </p:grpSpPr>
      <p:sp>
        <p:nvSpPr>
          <p:cNvPr id="2" name="Shape 0"/>
          <p:cNvSpPr/>
          <p:nvPr/>
        </p:nvSpPr>
        <p:spPr>
          <a:xfrm>
            <a:off x="3931920" y="777240"/>
            <a:ext cx="1280160" cy="1280160"/>
          </a:xfrm>
          <a:prstGeom prst="roundRect">
            <a:avLst>
              <a:gd name="adj" fmla="val 25000"/>
            </a:avLst>
          </a:prstGeom>
          <a:solidFill>
            <a:srgbClr val="1E3967"/>
          </a:solidFill>
          <a:ln w="12700">
            <a:solidFill>
              <a:srgbClr val="1E3967"/>
            </a:solidFill>
            <a:prstDash val="solid"/>
          </a:ln>
        </p:spPr>
      </p:sp>
      <p:sp>
        <p:nvSpPr>
          <p:cNvPr id="3" name="Shape 1"/>
          <p:cNvSpPr/>
          <p:nvPr/>
        </p:nvSpPr>
        <p:spPr>
          <a:xfrm>
            <a:off x="4162349" y="930859"/>
            <a:ext cx="665683" cy="665683"/>
          </a:xfrm>
          <a:prstGeom prst="diamond">
            <a:avLst/>
          </a:prstGeom>
          <a:solidFill>
            <a:srgbClr val="C9A24C"/>
          </a:solidFill>
          <a:ln w="12700">
            <a:solidFill>
              <a:srgbClr val="C9A24C"/>
            </a:solidFill>
            <a:prstDash val="solid"/>
          </a:ln>
        </p:spPr>
      </p:sp>
      <p:sp>
        <p:nvSpPr>
          <p:cNvPr id="4" name="Shape 2"/>
          <p:cNvSpPr/>
          <p:nvPr/>
        </p:nvSpPr>
        <p:spPr>
          <a:xfrm>
            <a:off x="4700016" y="1519733"/>
            <a:ext cx="332842" cy="332842"/>
          </a:xfrm>
          <a:prstGeom prst="diamond">
            <a:avLst/>
          </a:prstGeom>
          <a:solidFill>
            <a:srgbClr val="FFFFFF"/>
          </a:solidFill>
          <a:ln w="12700">
            <a:solidFill>
              <a:srgbClr val="FFFFFF"/>
            </a:solidFill>
            <a:prstDash val="solid"/>
          </a:ln>
        </p:spPr>
      </p:sp>
      <p:sp>
        <p:nvSpPr>
          <p:cNvPr id="5" name="Text 3"/>
          <p:cNvSpPr txBox="1"/>
          <p:nvPr/>
        </p:nvSpPr>
        <p:spPr>
          <a:xfrm>
            <a:off x="914400" y="2194560"/>
            <a:ext cx="7315200" cy="731520"/>
          </a:xfrm>
          <a:prstGeom prst="rect">
            <a:avLst/>
          </a:prstGeom>
          <a:noFill/>
          <a:ln/>
        </p:spPr>
        <p:txBody>
          <a:bodyPr wrap="square" lIns="0" tIns="0" rIns="0" bIns="0" rtlCol="0" anchor="t"/>
          <a:lstStyle/>
          <a:p>
            <a:pPr rtl="1" algn="ctr" indent="0" marL="0">
              <a:buNone/>
            </a:pPr>
            <a:r>
              <a:rPr lang="ar-SA" altLang="en-US" sz="4400" b="1" dirty="0">
                <a:solidFill>
                  <a:srgbClr val="FFFFFF"/>
                </a:solidFill>
                <a:latin typeface="Arial" pitchFamily="34" charset="0"/>
                <a:ea typeface="Arial" pitchFamily="34" charset="-122"/>
                <a:cs typeface="Arial" pitchFamily="34" charset="-120"/>
              </a:rPr>
              <a:t>بديهة</a:t>
            </a:r>
            <a:endParaRPr lang="ar-SA" sz="4400" dirty="0"/>
          </a:p>
        </p:txBody>
      </p:sp>
      <p:sp>
        <p:nvSpPr>
          <p:cNvPr id="6" name="Text 4"/>
          <p:cNvSpPr txBox="1"/>
          <p:nvPr/>
        </p:nvSpPr>
        <p:spPr>
          <a:xfrm>
            <a:off x="914400" y="2880360"/>
            <a:ext cx="7315200" cy="365760"/>
          </a:xfrm>
          <a:prstGeom prst="rect">
            <a:avLst/>
          </a:prstGeom>
          <a:noFill/>
          <a:ln/>
        </p:spPr>
        <p:txBody>
          <a:bodyPr wrap="square" lIns="0" tIns="0" rIns="0" bIns="0" rtlCol="0" anchor="t"/>
          <a:lstStyle/>
          <a:p>
            <a:pPr algn="ctr" indent="0" marL="0">
              <a:buNone/>
            </a:pPr>
            <a:r>
              <a:rPr lang="en-US" altLang="en-US" sz="1800" dirty="0">
                <a:solidFill>
                  <a:srgbClr val="C9A24C"/>
                </a:solidFill>
                <a:latin typeface="Arial" pitchFamily="34" charset="0"/>
                <a:ea typeface="Arial" pitchFamily="34" charset="-122"/>
                <a:cs typeface="Arial" pitchFamily="34" charset="-120"/>
              </a:rPr>
              <a:t>Badiha</a:t>
            </a:r>
            <a:endParaRPr lang="en-US" sz="1800" dirty="0"/>
          </a:p>
        </p:txBody>
      </p:sp>
      <p:sp>
        <p:nvSpPr>
          <p:cNvPr id="7" name="Text 5"/>
          <p:cNvSpPr txBox="1"/>
          <p:nvPr/>
        </p:nvSpPr>
        <p:spPr>
          <a:xfrm>
            <a:off x="731520" y="3337560"/>
            <a:ext cx="7680960" cy="365760"/>
          </a:xfrm>
          <a:prstGeom prst="rect">
            <a:avLst/>
          </a:prstGeom>
          <a:noFill/>
          <a:ln/>
        </p:spPr>
        <p:txBody>
          <a:bodyPr wrap="square" lIns="0" tIns="0" rIns="0" bIns="0" rtlCol="0" anchor="t"/>
          <a:lstStyle/>
          <a:p>
            <a:pPr rtl="1" algn="ctr" indent="0" marL="0">
              <a:buNone/>
            </a:pPr>
            <a:r>
              <a:rPr lang="ar-SA" altLang="en-US" sz="1400" dirty="0">
                <a:solidFill>
                  <a:srgbClr val="FFFFFF"/>
                </a:solidFill>
                <a:latin typeface="Arial" pitchFamily="34" charset="0"/>
                <a:ea typeface="Arial" pitchFamily="34" charset="-122"/>
                <a:cs typeface="Arial" pitchFamily="34" charset="-120"/>
              </a:rPr>
              <a:t>منصة معرفة مؤسسية تجيب موظفي الشركة من مستنداتها هي، بالعربية، مع ذكر المصدر</a:t>
            </a:r>
            <a:endParaRPr lang="ar-SA" sz="1400" dirty="0"/>
          </a:p>
        </p:txBody>
      </p:sp>
      <p:sp>
        <p:nvSpPr>
          <p:cNvPr id="8" name="Text 6"/>
          <p:cNvSpPr txBox="1"/>
          <p:nvPr/>
        </p:nvSpPr>
        <p:spPr>
          <a:xfrm>
            <a:off x="731520" y="3703320"/>
            <a:ext cx="7680960" cy="274320"/>
          </a:xfrm>
          <a:prstGeom prst="rect">
            <a:avLst/>
          </a:prstGeom>
          <a:noFill/>
          <a:ln/>
        </p:spPr>
        <p:txBody>
          <a:bodyPr wrap="square" lIns="0" tIns="0" rIns="0" bIns="0" rtlCol="0" anchor="t"/>
          <a:lstStyle/>
          <a:p>
            <a:pPr algn="ctr" indent="0" marL="0">
              <a:buNone/>
            </a:pPr>
            <a:r>
              <a:rPr lang="en-US" altLang="en-US" sz="1050" dirty="0">
                <a:solidFill>
                  <a:srgbClr val="B8C2D6"/>
                </a:solidFill>
                <a:latin typeface="Arial" pitchFamily="34" charset="0"/>
                <a:ea typeface="Arial" pitchFamily="34" charset="-122"/>
                <a:cs typeface="Arial" pitchFamily="34" charset="-120"/>
              </a:rPr>
              <a:t>Arabic-first enterprise knowledge platform · answers grounded in the company's own documents</a:t>
            </a:r>
            <a:endParaRPr lang="en-US" sz="1050" dirty="0"/>
          </a:p>
        </p:txBody>
      </p:sp>
      <p:sp>
        <p:nvSpPr>
          <p:cNvPr id="9" name="Text 7"/>
          <p:cNvSpPr txBox="1"/>
          <p:nvPr/>
        </p:nvSpPr>
        <p:spPr>
          <a:xfrm>
            <a:off x="914400" y="4389120"/>
            <a:ext cx="7315200" cy="274320"/>
          </a:xfrm>
          <a:prstGeom prst="rect">
            <a:avLst/>
          </a:prstGeom>
          <a:noFill/>
          <a:ln/>
        </p:spPr>
        <p:txBody>
          <a:bodyPr wrap="square" lIns="0" tIns="0" rIns="0" bIns="0" rtlCol="0" anchor="t"/>
          <a:lstStyle/>
          <a:p>
            <a:pPr rtl="1" algn="ctr" indent="0" marL="0">
              <a:buNone/>
            </a:pPr>
            <a:r>
              <a:rPr lang="ar-SA" altLang="en-US" sz="1100" dirty="0">
                <a:solidFill>
                  <a:srgbClr val="B8C2D6"/>
                </a:solidFill>
                <a:latin typeface="Arial" pitchFamily="34" charset="0"/>
                <a:ea typeface="Arial" pitchFamily="34" charset="-122"/>
                <a:cs typeface="Arial" pitchFamily="34" charset="-120"/>
              </a:rPr>
              <a:t>ملف المشروع لطلب رخصة ريادة الأعمال · المؤسِّسة: منال العارقي</a:t>
            </a:r>
            <a:endParaRPr lang="ar-SA"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411480" cy="411480"/>
          </a:xfrm>
          <a:prstGeom prst="roundRect">
            <a:avLst>
              <a:gd name="adj" fmla="val 25000"/>
            </a:avLst>
          </a:prstGeom>
          <a:solidFill>
            <a:srgbClr val="1E3967"/>
          </a:solidFill>
          <a:ln w="12700">
            <a:solidFill>
              <a:srgbClr val="1E3967"/>
            </a:solidFill>
            <a:prstDash val="solid"/>
          </a:ln>
        </p:spPr>
      </p:sp>
      <p:sp>
        <p:nvSpPr>
          <p:cNvPr id="3" name="Shape 1"/>
          <p:cNvSpPr/>
          <p:nvPr/>
        </p:nvSpPr>
        <p:spPr>
          <a:xfrm>
            <a:off x="622706" y="396850"/>
            <a:ext cx="213970" cy="213970"/>
          </a:xfrm>
          <a:prstGeom prst="diamond">
            <a:avLst/>
          </a:prstGeom>
          <a:solidFill>
            <a:srgbClr val="C9A24C"/>
          </a:solidFill>
          <a:ln w="12700">
            <a:solidFill>
              <a:srgbClr val="C9A24C"/>
            </a:solidFill>
            <a:prstDash val="solid"/>
          </a:ln>
        </p:spPr>
      </p:sp>
      <p:sp>
        <p:nvSpPr>
          <p:cNvPr id="4" name="Shape 2"/>
          <p:cNvSpPr/>
          <p:nvPr/>
        </p:nvSpPr>
        <p:spPr>
          <a:xfrm>
            <a:off x="795528" y="586130"/>
            <a:ext cx="106985" cy="106985"/>
          </a:xfrm>
          <a:prstGeom prst="diamond">
            <a:avLst/>
          </a:prstGeom>
          <a:solidFill>
            <a:srgbClr val="FFFFFF"/>
          </a:solidFill>
          <a:ln w="12700">
            <a:solidFill>
              <a:srgbClr val="FFFFFF"/>
            </a:solidFill>
            <a:prstDash val="solid"/>
          </a:ln>
        </p:spPr>
      </p:sp>
      <p:sp>
        <p:nvSpPr>
          <p:cNvPr id="5" name="Text 3"/>
          <p:cNvSpPr txBox="1"/>
          <p:nvPr/>
        </p:nvSpPr>
        <p:spPr>
          <a:xfrm>
            <a:off x="1188720" y="301752"/>
            <a:ext cx="7406640" cy="502920"/>
          </a:xfrm>
          <a:prstGeom prst="rect">
            <a:avLst/>
          </a:prstGeom>
          <a:noFill/>
          <a:ln/>
        </p:spPr>
        <p:txBody>
          <a:bodyPr wrap="square" lIns="0" tIns="0" rIns="0" bIns="0" rtlCol="0" anchor="t"/>
          <a:lstStyle/>
          <a:p>
            <a:pPr rtl="1" algn="r" indent="0" marL="0">
              <a:buNone/>
            </a:pPr>
            <a:r>
              <a:rPr lang="ar-SA" altLang="en-US" sz="2600" b="1" dirty="0">
                <a:solidFill>
                  <a:srgbClr val="1E3967"/>
                </a:solidFill>
                <a:latin typeface="Arial" pitchFamily="34" charset="0"/>
                <a:ea typeface="Arial" pitchFamily="34" charset="-122"/>
                <a:cs typeface="Arial" pitchFamily="34" charset="-120"/>
              </a:rPr>
              <a:t>المقدمة: السياق والتحدي</a:t>
            </a:r>
            <a:endParaRPr lang="ar-SA" sz="2600" dirty="0"/>
          </a:p>
        </p:txBody>
      </p:sp>
      <p:sp>
        <p:nvSpPr>
          <p:cNvPr id="6" name="Text 4"/>
          <p:cNvSpPr txBox="1"/>
          <p:nvPr/>
        </p:nvSpPr>
        <p:spPr>
          <a:xfrm>
            <a:off x="1188720" y="804672"/>
            <a:ext cx="7406640" cy="256032"/>
          </a:xfrm>
          <a:prstGeom prst="rect">
            <a:avLst/>
          </a:prstGeom>
          <a:noFill/>
          <a:ln/>
        </p:spPr>
        <p:txBody>
          <a:bodyPr wrap="square" lIns="0" tIns="0" rIns="0" bIns="0" rtlCol="0" anchor="t"/>
          <a:lstStyle/>
          <a:p>
            <a:pPr algn="r" indent="0" marL="0">
              <a:buNone/>
            </a:pPr>
            <a:r>
              <a:rPr lang="en-US" altLang="en-US" sz="1050" dirty="0">
                <a:solidFill>
                  <a:srgbClr val="5B6573"/>
                </a:solidFill>
                <a:latin typeface="Arial" pitchFamily="34" charset="0"/>
                <a:ea typeface="Arial" pitchFamily="34" charset="-122"/>
                <a:cs typeface="Arial" pitchFamily="34" charset="-120"/>
              </a:rPr>
              <a:t>Introduction</a:t>
            </a:r>
            <a:endParaRPr lang="en-US" sz="1050" dirty="0"/>
          </a:p>
        </p:txBody>
      </p:sp>
      <p:sp>
        <p:nvSpPr>
          <p:cNvPr id="7" name="Text 5"/>
          <p:cNvSpPr txBox="1"/>
          <p:nvPr/>
        </p:nvSpPr>
        <p:spPr>
          <a:xfrm>
            <a:off x="548640" y="4754880"/>
            <a:ext cx="2743200" cy="228600"/>
          </a:xfrm>
          <a:prstGeom prst="rect">
            <a:avLst/>
          </a:prstGeom>
          <a:noFill/>
          <a:ln/>
        </p:spPr>
        <p:txBody>
          <a:bodyPr wrap="square" lIns="0" tIns="0" rIns="0" bIns="0" rtlCol="0" anchor="t"/>
          <a:lstStyle/>
          <a:p>
            <a:pPr rtl="1" algn="l" indent="0" marL="0">
              <a:buNone/>
            </a:pPr>
            <a:r>
              <a:rPr lang="ar-SA" altLang="en-US" sz="900" dirty="0">
                <a:solidFill>
                  <a:srgbClr val="5B6573"/>
                </a:solidFill>
                <a:latin typeface="Arial" pitchFamily="34" charset="0"/>
                <a:ea typeface="Arial" pitchFamily="34" charset="-122"/>
                <a:cs typeface="Arial" pitchFamily="34" charset="-120"/>
              </a:rPr>
              <a:t>بديهة · ملف المشروع</a:t>
            </a:r>
            <a:endParaRPr lang="ar-SA" sz="900" dirty="0"/>
          </a:p>
        </p:txBody>
      </p:sp>
      <p:sp>
        <p:nvSpPr>
          <p:cNvPr id="8" name="Shape 6"/>
          <p:cNvSpPr/>
          <p:nvPr/>
        </p:nvSpPr>
        <p:spPr>
          <a:xfrm>
            <a:off x="4663440" y="1280160"/>
            <a:ext cx="3931920" cy="3291840"/>
          </a:xfrm>
          <a:prstGeom prst="roundRect">
            <a:avLst>
              <a:gd name="adj" fmla="val 2778"/>
            </a:avLst>
          </a:prstGeom>
          <a:solidFill>
            <a:srgbClr val="E9EEF6"/>
          </a:solidFill>
          <a:ln w="12700">
            <a:solidFill>
              <a:srgbClr val="E9EEF6"/>
            </a:solidFill>
            <a:prstDash val="solid"/>
          </a:ln>
        </p:spPr>
      </p:sp>
      <p:sp>
        <p:nvSpPr>
          <p:cNvPr id="9" name="Text 7"/>
          <p:cNvSpPr txBox="1"/>
          <p:nvPr/>
        </p:nvSpPr>
        <p:spPr>
          <a:xfrm>
            <a:off x="4828032" y="1408176"/>
            <a:ext cx="3602736" cy="292608"/>
          </a:xfrm>
          <a:prstGeom prst="rect">
            <a:avLst/>
          </a:prstGeom>
          <a:noFill/>
          <a:ln/>
        </p:spPr>
        <p:txBody>
          <a:bodyPr wrap="square" lIns="0" tIns="0" rIns="0" bIns="0" rtlCol="0" anchor="t"/>
          <a:lstStyle/>
          <a:p>
            <a:pPr rtl="1" algn="r" indent="0" marL="0">
              <a:buNone/>
            </a:pPr>
            <a:r>
              <a:rPr lang="ar-SA" altLang="en-US" sz="1300" b="1" dirty="0">
                <a:solidFill>
                  <a:srgbClr val="1E3967"/>
                </a:solidFill>
                <a:latin typeface="Arial" pitchFamily="34" charset="0"/>
                <a:ea typeface="Arial" pitchFamily="34" charset="-122"/>
                <a:cs typeface="Arial" pitchFamily="34" charset="-120"/>
              </a:rPr>
              <a:t>السياق الوطني</a:t>
            </a:r>
            <a:endParaRPr lang="ar-SA" sz="1300" dirty="0"/>
          </a:p>
        </p:txBody>
      </p:sp>
      <p:sp>
        <p:nvSpPr>
          <p:cNvPr id="10" name="Text 8"/>
          <p:cNvSpPr txBox="1"/>
          <p:nvPr/>
        </p:nvSpPr>
        <p:spPr>
          <a:xfrm>
            <a:off x="4828032" y="1737360"/>
            <a:ext cx="3602736" cy="2706624"/>
          </a:xfrm>
          <a:prstGeom prst="rect">
            <a:avLst/>
          </a:prstGeom>
          <a:noFill/>
          <a:ln/>
        </p:spPr>
        <p:txBody>
          <a:bodyPr wrap="square" lIns="0" tIns="0" rIns="0" bIns="0" rtlCol="0" anchor="t"/>
          <a:lstStyle/>
          <a:p>
            <a:pPr rtl="1" algn="r" indent="0" marL="0">
              <a:lnSpc>
                <a:spcPct val="114000"/>
              </a:lnSpc>
              <a:buNone/>
            </a:pPr>
            <a:r>
              <a:rPr lang="ar-SA" altLang="en-US" sz="1000" dirty="0">
                <a:solidFill>
                  <a:srgbClr val="1B2330"/>
                </a:solidFill>
                <a:latin typeface="Arial" pitchFamily="34" charset="0"/>
                <a:ea typeface="Arial" pitchFamily="34" charset="-122"/>
                <a:cs typeface="Arial" pitchFamily="34" charset="-120"/>
              </a:rPr>
              <a:t>تضع رؤية ٢٠٣٠ التحول الرقمي والاقتصاد القائم على البيانات في صلب أهدافها، وتقود الهيئة السعودية للبيانات والذكاء الاصطناعي (سدايا) استراتيجية وطنية لتوطين حلول الذكاء الاصطناعي.</a:t>
            </a:r>
            <a:endParaRPr lang="ar-SA" sz="1000" dirty="0"/>
          </a:p>
          <a:p>
            <a:pPr rtl="1" algn="r" indent="0" marL="0">
              <a:lnSpc>
                <a:spcPct val="114000"/>
              </a:lnSpc>
              <a:buNone/>
            </a:pPr>
            <a:endParaRPr lang="ar-SA" sz="1000" dirty="0"/>
          </a:p>
          <a:p>
            <a:pPr rtl="1" algn="r" indent="0" marL="0">
              <a:lnSpc>
                <a:spcPct val="114000"/>
              </a:lnSpc>
              <a:buNone/>
            </a:pPr>
            <a:r>
              <a:rPr lang="ar-SA" altLang="en-US" sz="1000" dirty="0">
                <a:solidFill>
                  <a:srgbClr val="1B2330"/>
                </a:solidFill>
                <a:latin typeface="Arial" pitchFamily="34" charset="0"/>
                <a:ea typeface="Arial" pitchFamily="34" charset="-122"/>
                <a:cs typeface="Arial" pitchFamily="34" charset="-120"/>
              </a:rPr>
              <a:t>وفي المقابل، معظم معرفة الشركات السعودية محبوسة في ملفات PDF وWord وأرشيفات ممسوحة ضوئيًا، مكتوبة بالعربية، لا تقرؤها الأدوات العالمية كما ينبغي.</a:t>
            </a:r>
            <a:endParaRPr lang="ar-SA" sz="1000" dirty="0"/>
          </a:p>
        </p:txBody>
      </p:sp>
      <p:sp>
        <p:nvSpPr>
          <p:cNvPr id="11" name="Shape 9"/>
          <p:cNvSpPr/>
          <p:nvPr/>
        </p:nvSpPr>
        <p:spPr>
          <a:xfrm>
            <a:off x="548640" y="1280160"/>
            <a:ext cx="3931920" cy="3291840"/>
          </a:xfrm>
          <a:prstGeom prst="roundRect">
            <a:avLst>
              <a:gd name="adj" fmla="val 2778"/>
            </a:avLst>
          </a:prstGeom>
          <a:solidFill>
            <a:srgbClr val="FFFFFF"/>
          </a:solidFill>
          <a:ln w="12700">
            <a:solidFill>
              <a:srgbClr val="D9DEE7"/>
            </a:solidFill>
            <a:prstDash val="solid"/>
          </a:ln>
        </p:spPr>
      </p:sp>
      <p:sp>
        <p:nvSpPr>
          <p:cNvPr id="12" name="Text 10"/>
          <p:cNvSpPr txBox="1"/>
          <p:nvPr/>
        </p:nvSpPr>
        <p:spPr>
          <a:xfrm>
            <a:off x="713232" y="1408176"/>
            <a:ext cx="3602736" cy="292608"/>
          </a:xfrm>
          <a:prstGeom prst="rect">
            <a:avLst/>
          </a:prstGeom>
          <a:noFill/>
          <a:ln/>
        </p:spPr>
        <p:txBody>
          <a:bodyPr wrap="square" lIns="0" tIns="0" rIns="0" bIns="0" rtlCol="0" anchor="t"/>
          <a:lstStyle/>
          <a:p>
            <a:pPr rtl="1" algn="r" indent="0" marL="0">
              <a:buNone/>
            </a:pPr>
            <a:r>
              <a:rPr lang="ar-SA" altLang="en-US" sz="1300" b="1" dirty="0">
                <a:solidFill>
                  <a:srgbClr val="1E3967"/>
                </a:solidFill>
                <a:latin typeface="Arial" pitchFamily="34" charset="0"/>
                <a:ea typeface="Arial" pitchFamily="34" charset="-122"/>
                <a:cs typeface="Arial" pitchFamily="34" charset="-120"/>
              </a:rPr>
              <a:t>التحدي الذي تحلّه بديهة</a:t>
            </a:r>
            <a:endParaRPr lang="ar-SA" sz="1300" dirty="0"/>
          </a:p>
        </p:txBody>
      </p:sp>
      <p:sp>
        <p:nvSpPr>
          <p:cNvPr id="13" name="Text 11"/>
          <p:cNvSpPr txBox="1"/>
          <p:nvPr/>
        </p:nvSpPr>
        <p:spPr>
          <a:xfrm>
            <a:off x="713232" y="1737360"/>
            <a:ext cx="3602736" cy="2706624"/>
          </a:xfrm>
          <a:prstGeom prst="rect">
            <a:avLst/>
          </a:prstGeom>
          <a:noFill/>
          <a:ln/>
        </p:spPr>
        <p:txBody>
          <a:bodyPr wrap="square" lIns="0" tIns="0" rIns="0" bIns="0" rtlCol="0" anchor="t"/>
          <a:lstStyle/>
          <a:p>
            <a:pPr rtl="1" algn="r" indent="0" marL="0">
              <a:lnSpc>
                <a:spcPct val="114000"/>
              </a:lnSpc>
              <a:buNone/>
            </a:pPr>
            <a:r>
              <a:rPr lang="ar-SA" altLang="en-US" sz="1000" dirty="0">
                <a:solidFill>
                  <a:srgbClr val="1B2330"/>
                </a:solidFill>
                <a:latin typeface="Arial" pitchFamily="34" charset="0"/>
                <a:ea typeface="Arial" pitchFamily="34" charset="-122"/>
                <a:cs typeface="Arial" pitchFamily="34" charset="-120"/>
              </a:rPr>
              <a:t>• الموظف يسأل زميله بدل أن يجد الجواب في اللائحة، فتتكرّر الأسئلة نفسها كل يوم.</a:t>
            </a:r>
            <a:endParaRPr lang="ar-SA" sz="1000" dirty="0"/>
          </a:p>
          <a:p>
            <a:pPr rtl="1" algn="r" indent="0" marL="0">
              <a:lnSpc>
                <a:spcPct val="114000"/>
              </a:lnSpc>
              <a:buNone/>
            </a:pPr>
            <a:endParaRPr lang="ar-SA" sz="1000" dirty="0"/>
          </a:p>
          <a:p>
            <a:pPr rtl="1" algn="r" indent="0" marL="0">
              <a:lnSpc>
                <a:spcPct val="114000"/>
              </a:lnSpc>
              <a:buNone/>
            </a:pPr>
            <a:r>
              <a:rPr lang="ar-SA" altLang="en-US" sz="1000" dirty="0">
                <a:solidFill>
                  <a:srgbClr val="1B2330"/>
                </a:solidFill>
                <a:latin typeface="Arial" pitchFamily="34" charset="0"/>
                <a:ea typeface="Arial" pitchFamily="34" charset="-122"/>
                <a:cs typeface="Arial" pitchFamily="34" charset="-120"/>
              </a:rPr>
              <a:t>• الأدوات العامة تخطئ في قراءة ملفات PDF العربية، وتخترع تفاصيل لا وجود لها في السياسة.</a:t>
            </a:r>
            <a:endParaRPr lang="ar-SA" sz="1000" dirty="0"/>
          </a:p>
          <a:p>
            <a:pPr rtl="1" algn="r" indent="0" marL="0">
              <a:lnSpc>
                <a:spcPct val="114000"/>
              </a:lnSpc>
              <a:buNone/>
            </a:pPr>
            <a:endParaRPr lang="ar-SA" sz="1000" dirty="0"/>
          </a:p>
          <a:p>
            <a:pPr rtl="1" algn="r" indent="0" marL="0">
              <a:lnSpc>
                <a:spcPct val="114000"/>
              </a:lnSpc>
              <a:buNone/>
            </a:pPr>
            <a:r>
              <a:rPr lang="ar-SA" altLang="en-US" sz="1000" dirty="0">
                <a:solidFill>
                  <a:srgbClr val="1B2330"/>
                </a:solidFill>
                <a:latin typeface="Arial" pitchFamily="34" charset="0"/>
                <a:ea typeface="Arial" pitchFamily="34" charset="-122"/>
                <a:cs typeface="Arial" pitchFamily="34" charset="-120"/>
              </a:rPr>
              <a:t>• لا أحد يعرف أي الأسئلة بلا جواب موثّق، فتبقى فجوات التوثيق مخفية.</a:t>
            </a:r>
            <a:endParaRPr lang="ar-SA" sz="1000" dirty="0"/>
          </a:p>
          <a:p>
            <a:pPr rtl="1" algn="r" indent="0" marL="0">
              <a:lnSpc>
                <a:spcPct val="114000"/>
              </a:lnSpc>
              <a:buNone/>
            </a:pPr>
            <a:endParaRPr lang="ar-SA" sz="1000" dirty="0"/>
          </a:p>
          <a:p>
            <a:pPr rtl="1" algn="r" indent="0" marL="0">
              <a:lnSpc>
                <a:spcPct val="114000"/>
              </a:lnSpc>
              <a:buNone/>
            </a:pPr>
            <a:r>
              <a:rPr lang="ar-SA" altLang="en-US" sz="1000" dirty="0">
                <a:solidFill>
                  <a:srgbClr val="1B2330"/>
                </a:solidFill>
                <a:latin typeface="Arial" pitchFamily="34" charset="0"/>
                <a:ea typeface="Arial" pitchFamily="34" charset="-122"/>
                <a:cs typeface="Arial" pitchFamily="34" charset="-120"/>
              </a:rPr>
              <a:t>• الأرشيف الممسوح ضوئيًا، وهو جزء كبير من مستندات الشركات، خارج أي بحث.</a:t>
            </a:r>
            <a:endParaRPr lang="ar-SA"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411480" cy="411480"/>
          </a:xfrm>
          <a:prstGeom prst="roundRect">
            <a:avLst>
              <a:gd name="adj" fmla="val 25000"/>
            </a:avLst>
          </a:prstGeom>
          <a:solidFill>
            <a:srgbClr val="1E3967"/>
          </a:solidFill>
          <a:ln w="12700">
            <a:solidFill>
              <a:srgbClr val="1E3967"/>
            </a:solidFill>
            <a:prstDash val="solid"/>
          </a:ln>
        </p:spPr>
      </p:sp>
      <p:sp>
        <p:nvSpPr>
          <p:cNvPr id="3" name="Shape 1"/>
          <p:cNvSpPr/>
          <p:nvPr/>
        </p:nvSpPr>
        <p:spPr>
          <a:xfrm>
            <a:off x="622706" y="396850"/>
            <a:ext cx="213970" cy="213970"/>
          </a:xfrm>
          <a:prstGeom prst="diamond">
            <a:avLst/>
          </a:prstGeom>
          <a:solidFill>
            <a:srgbClr val="C9A24C"/>
          </a:solidFill>
          <a:ln w="12700">
            <a:solidFill>
              <a:srgbClr val="C9A24C"/>
            </a:solidFill>
            <a:prstDash val="solid"/>
          </a:ln>
        </p:spPr>
      </p:sp>
      <p:sp>
        <p:nvSpPr>
          <p:cNvPr id="4" name="Shape 2"/>
          <p:cNvSpPr/>
          <p:nvPr/>
        </p:nvSpPr>
        <p:spPr>
          <a:xfrm>
            <a:off x="795528" y="586130"/>
            <a:ext cx="106985" cy="106985"/>
          </a:xfrm>
          <a:prstGeom prst="diamond">
            <a:avLst/>
          </a:prstGeom>
          <a:solidFill>
            <a:srgbClr val="FFFFFF"/>
          </a:solidFill>
          <a:ln w="12700">
            <a:solidFill>
              <a:srgbClr val="FFFFFF"/>
            </a:solidFill>
            <a:prstDash val="solid"/>
          </a:ln>
        </p:spPr>
      </p:sp>
      <p:sp>
        <p:nvSpPr>
          <p:cNvPr id="5" name="Text 3"/>
          <p:cNvSpPr txBox="1"/>
          <p:nvPr/>
        </p:nvSpPr>
        <p:spPr>
          <a:xfrm>
            <a:off x="1188720" y="301752"/>
            <a:ext cx="7406640" cy="502920"/>
          </a:xfrm>
          <a:prstGeom prst="rect">
            <a:avLst/>
          </a:prstGeom>
          <a:noFill/>
          <a:ln/>
        </p:spPr>
        <p:txBody>
          <a:bodyPr wrap="square" lIns="0" tIns="0" rIns="0" bIns="0" rtlCol="0" anchor="t"/>
          <a:lstStyle/>
          <a:p>
            <a:pPr rtl="1" algn="r" indent="0" marL="0">
              <a:buNone/>
            </a:pPr>
            <a:r>
              <a:rPr lang="ar-SA" altLang="en-US" sz="2600" b="1" dirty="0">
                <a:solidFill>
                  <a:srgbClr val="1E3967"/>
                </a:solidFill>
                <a:latin typeface="Arial" pitchFamily="34" charset="0"/>
                <a:ea typeface="Arial" pitchFamily="34" charset="-122"/>
                <a:cs typeface="Arial" pitchFamily="34" charset="-120"/>
              </a:rPr>
              <a:t>نبذة عن المشروع</a:t>
            </a:r>
            <a:endParaRPr lang="ar-SA" sz="2600" dirty="0"/>
          </a:p>
        </p:txBody>
      </p:sp>
      <p:sp>
        <p:nvSpPr>
          <p:cNvPr id="6" name="Text 4"/>
          <p:cNvSpPr txBox="1"/>
          <p:nvPr/>
        </p:nvSpPr>
        <p:spPr>
          <a:xfrm>
            <a:off x="1188720" y="804672"/>
            <a:ext cx="7406640" cy="256032"/>
          </a:xfrm>
          <a:prstGeom prst="rect">
            <a:avLst/>
          </a:prstGeom>
          <a:noFill/>
          <a:ln/>
        </p:spPr>
        <p:txBody>
          <a:bodyPr wrap="square" lIns="0" tIns="0" rIns="0" bIns="0" rtlCol="0" anchor="t"/>
          <a:lstStyle/>
          <a:p>
            <a:pPr algn="r" indent="0" marL="0">
              <a:buNone/>
            </a:pPr>
            <a:r>
              <a:rPr lang="en-US" altLang="en-US" sz="1050" dirty="0">
                <a:solidFill>
                  <a:srgbClr val="5B6573"/>
                </a:solidFill>
                <a:latin typeface="Arial" pitchFamily="34" charset="0"/>
                <a:ea typeface="Arial" pitchFamily="34" charset="-122"/>
                <a:cs typeface="Arial" pitchFamily="34" charset="-120"/>
              </a:rPr>
              <a:t>About the project</a:t>
            </a:r>
            <a:endParaRPr lang="en-US" sz="1050" dirty="0"/>
          </a:p>
        </p:txBody>
      </p:sp>
      <p:sp>
        <p:nvSpPr>
          <p:cNvPr id="7" name="Text 5"/>
          <p:cNvSpPr txBox="1"/>
          <p:nvPr/>
        </p:nvSpPr>
        <p:spPr>
          <a:xfrm>
            <a:off x="548640" y="4754880"/>
            <a:ext cx="2743200" cy="228600"/>
          </a:xfrm>
          <a:prstGeom prst="rect">
            <a:avLst/>
          </a:prstGeom>
          <a:noFill/>
          <a:ln/>
        </p:spPr>
        <p:txBody>
          <a:bodyPr wrap="square" lIns="0" tIns="0" rIns="0" bIns="0" rtlCol="0" anchor="t"/>
          <a:lstStyle/>
          <a:p>
            <a:pPr rtl="1" algn="l" indent="0" marL="0">
              <a:buNone/>
            </a:pPr>
            <a:r>
              <a:rPr lang="ar-SA" altLang="en-US" sz="900" dirty="0">
                <a:solidFill>
                  <a:srgbClr val="5B6573"/>
                </a:solidFill>
                <a:latin typeface="Arial" pitchFamily="34" charset="0"/>
                <a:ea typeface="Arial" pitchFamily="34" charset="-122"/>
                <a:cs typeface="Arial" pitchFamily="34" charset="-120"/>
              </a:rPr>
              <a:t>بديهة · ملف المشروع</a:t>
            </a:r>
            <a:endParaRPr lang="ar-SA" sz="900" dirty="0"/>
          </a:p>
        </p:txBody>
      </p:sp>
      <p:sp>
        <p:nvSpPr>
          <p:cNvPr id="8" name="Text 6"/>
          <p:cNvSpPr txBox="1"/>
          <p:nvPr/>
        </p:nvSpPr>
        <p:spPr>
          <a:xfrm>
            <a:off x="4023360" y="1234440"/>
            <a:ext cx="4572000" cy="3383280"/>
          </a:xfrm>
          <a:prstGeom prst="rect">
            <a:avLst/>
          </a:prstGeom>
          <a:noFill/>
          <a:ln/>
        </p:spPr>
        <p:txBody>
          <a:bodyPr wrap="square" lIns="0" tIns="0" rIns="0" bIns="0" rtlCol="0" anchor="t"/>
          <a:lstStyle/>
          <a:p>
            <a:pPr rtl="1" algn="r" indent="0" marL="0">
              <a:lnSpc>
                <a:spcPct val="118000"/>
              </a:lnSpc>
              <a:buNone/>
            </a:pPr>
            <a:r>
              <a:rPr lang="ar-SA" altLang="en-US" sz="1150" dirty="0">
                <a:solidFill>
                  <a:srgbClr val="1B2330"/>
                </a:solidFill>
                <a:latin typeface="Arial" pitchFamily="34" charset="0"/>
                <a:ea typeface="Arial" pitchFamily="34" charset="-122"/>
                <a:cs typeface="Arial" pitchFamily="34" charset="-120"/>
              </a:rPr>
              <a:t>بديهة منصة سعودية تعمل في الإنتاج اليوم. ترفع الشركة لوائحها وسياساتها وأدلة إجراءاتها، فيسأل موظفوها بالعربية ويحصلون على إجابات مبنية على تلك المستندات وحدها، مع اسم المستند ورقم الصفحة تحت كل إجابة.</a:t>
            </a:r>
            <a:endParaRPr lang="ar-SA" sz="1150" dirty="0"/>
          </a:p>
          <a:p>
            <a:pPr rtl="1" algn="r" indent="0" marL="0">
              <a:lnSpc>
                <a:spcPct val="118000"/>
              </a:lnSpc>
              <a:buNone/>
            </a:pPr>
            <a:endParaRPr lang="ar-SA" sz="1150" dirty="0"/>
          </a:p>
          <a:p>
            <a:pPr rtl="1" algn="r" indent="0" marL="0">
              <a:lnSpc>
                <a:spcPct val="118000"/>
              </a:lnSpc>
              <a:buNone/>
            </a:pPr>
            <a:r>
              <a:rPr lang="ar-SA" altLang="en-US" sz="1150" dirty="0">
                <a:solidFill>
                  <a:srgbClr val="1B2330"/>
                </a:solidFill>
                <a:latin typeface="Arial" pitchFamily="34" charset="0"/>
                <a:ea typeface="Arial" pitchFamily="34" charset="-122"/>
                <a:cs typeface="Arial" pitchFamily="34" charset="-120"/>
              </a:rPr>
              <a:t>وحين لا يجد النظام جوابًا يقول ذلك صراحةً بدل أن يخترع، ويسجّل السؤال في تقرير فجوات المعرفة الذي يوجّه الإدارة إلى ما ينقص توثيقه.</a:t>
            </a:r>
            <a:endParaRPr lang="ar-SA" sz="1150" dirty="0"/>
          </a:p>
          <a:p>
            <a:pPr rtl="1" algn="r" indent="0" marL="0">
              <a:lnSpc>
                <a:spcPct val="118000"/>
              </a:lnSpc>
              <a:buNone/>
            </a:pPr>
            <a:endParaRPr lang="ar-SA" sz="1150" dirty="0"/>
          </a:p>
          <a:p>
            <a:pPr rtl="1" algn="r" indent="0" marL="0">
              <a:lnSpc>
                <a:spcPct val="118000"/>
              </a:lnSpc>
              <a:buNone/>
            </a:pPr>
            <a:r>
              <a:rPr lang="ar-SA" altLang="en-US" sz="1150" dirty="0">
                <a:solidFill>
                  <a:srgbClr val="1B2330"/>
                </a:solidFill>
                <a:latin typeface="Arial" pitchFamily="34" charset="0"/>
                <a:ea typeface="Arial" pitchFamily="34" charset="-122"/>
                <a:cs typeface="Arial" pitchFamily="34" charset="-120"/>
              </a:rPr>
              <a:t>المنصة متعددة المستأجرين: كل شركة معزولة عن الأخرى داخل قاعدة البيانات، والصلاحيات على مستوى المستند الواحد (الشركة، القسم، الدور).</a:t>
            </a:r>
            <a:endParaRPr lang="ar-SA" sz="1150" dirty="0"/>
          </a:p>
          <a:p>
            <a:pPr rtl="1" algn="r" indent="0" marL="0">
              <a:lnSpc>
                <a:spcPct val="118000"/>
              </a:lnSpc>
              <a:buNone/>
            </a:pPr>
            <a:endParaRPr lang="ar-SA" sz="1150" dirty="0"/>
          </a:p>
          <a:p>
            <a:pPr rtl="1" algn="r" indent="0" marL="0">
              <a:lnSpc>
                <a:spcPct val="118000"/>
              </a:lnSpc>
              <a:buNone/>
            </a:pPr>
            <a:r>
              <a:rPr lang="ar-SA" altLang="en-US" sz="1150" dirty="0">
                <a:solidFill>
                  <a:srgbClr val="1B2330"/>
                </a:solidFill>
                <a:latin typeface="Arial" pitchFamily="34" charset="0"/>
                <a:ea typeface="Arial" pitchFamily="34" charset="-122"/>
                <a:cs typeface="Arial" pitchFamily="34" charset="-120"/>
              </a:rPr>
              <a:t>النشاط التجاري الرئيسي: تطوير وتشغيل منصة سحابية (SaaS) تُباع باشتراك شهري أو سنوي لمنشآت القطاع الخاص في المملكة. رموز التصنيف الوطني: 620113 (رئيسي)، 620102، 620111، 582001.</a:t>
            </a:r>
            <a:endParaRPr lang="ar-SA" sz="1150" dirty="0"/>
          </a:p>
        </p:txBody>
      </p:sp>
      <p:sp>
        <p:nvSpPr>
          <p:cNvPr id="9" name="Shape 7"/>
          <p:cNvSpPr/>
          <p:nvPr/>
        </p:nvSpPr>
        <p:spPr>
          <a:xfrm>
            <a:off x="548640" y="1234440"/>
            <a:ext cx="3200400" cy="3200400"/>
          </a:xfrm>
          <a:prstGeom prst="roundRect">
            <a:avLst>
              <a:gd name="adj" fmla="val 2857"/>
            </a:avLst>
          </a:prstGeom>
          <a:solidFill>
            <a:srgbClr val="FFFFFF"/>
          </a:solidFill>
          <a:ln w="12700">
            <a:solidFill>
              <a:srgbClr val="D9DEE7"/>
            </a:solidFill>
            <a:prstDash val="solid"/>
          </a:ln>
        </p:spPr>
      </p:sp>
      <p:sp>
        <p:nvSpPr>
          <p:cNvPr id="10" name="Shape 8"/>
          <p:cNvSpPr/>
          <p:nvPr/>
        </p:nvSpPr>
        <p:spPr>
          <a:xfrm>
            <a:off x="914400" y="1508760"/>
            <a:ext cx="2468880" cy="457200"/>
          </a:xfrm>
          <a:prstGeom prst="roundRect">
            <a:avLst>
              <a:gd name="adj" fmla="val 20000"/>
            </a:avLst>
          </a:prstGeom>
          <a:solidFill>
            <a:srgbClr val="E9EEF6"/>
          </a:solidFill>
          <a:ln w="12700">
            <a:solidFill>
              <a:srgbClr val="E9EEF6"/>
            </a:solidFill>
            <a:prstDash val="solid"/>
          </a:ln>
        </p:spPr>
      </p:sp>
      <p:sp>
        <p:nvSpPr>
          <p:cNvPr id="11" name="Text 9"/>
          <p:cNvSpPr txBox="1"/>
          <p:nvPr/>
        </p:nvSpPr>
        <p:spPr>
          <a:xfrm>
            <a:off x="1005840" y="1600200"/>
            <a:ext cx="2286000" cy="274320"/>
          </a:xfrm>
          <a:prstGeom prst="rect">
            <a:avLst/>
          </a:prstGeom>
          <a:noFill/>
          <a:ln/>
        </p:spPr>
        <p:txBody>
          <a:bodyPr wrap="square" lIns="0" tIns="0" rIns="0" bIns="0" rtlCol="0" anchor="t"/>
          <a:lstStyle/>
          <a:p>
            <a:pPr rtl="1" algn="r" indent="0" marL="0">
              <a:buNone/>
            </a:pPr>
            <a:r>
              <a:rPr lang="ar-SA" altLang="en-US" sz="1000" dirty="0">
                <a:solidFill>
                  <a:srgbClr val="1B2330"/>
                </a:solidFill>
                <a:latin typeface="Arial" pitchFamily="34" charset="0"/>
                <a:ea typeface="Arial" pitchFamily="34" charset="-122"/>
                <a:cs typeface="Arial" pitchFamily="34" charset="-120"/>
              </a:rPr>
              <a:t>كم مدة الإجازة السنوية؟</a:t>
            </a:r>
            <a:endParaRPr lang="ar-SA" sz="1000" dirty="0"/>
          </a:p>
        </p:txBody>
      </p:sp>
      <p:sp>
        <p:nvSpPr>
          <p:cNvPr id="12" name="Shape 10"/>
          <p:cNvSpPr/>
          <p:nvPr/>
        </p:nvSpPr>
        <p:spPr>
          <a:xfrm>
            <a:off x="731520" y="2148840"/>
            <a:ext cx="2834640" cy="1371600"/>
          </a:xfrm>
          <a:prstGeom prst="roundRect">
            <a:avLst>
              <a:gd name="adj" fmla="val 6667"/>
            </a:avLst>
          </a:prstGeom>
          <a:solidFill>
            <a:srgbClr val="FFFFFF"/>
          </a:solidFill>
          <a:ln w="12700">
            <a:solidFill>
              <a:srgbClr val="D9DEE7"/>
            </a:solidFill>
            <a:prstDash val="solid"/>
          </a:ln>
        </p:spPr>
      </p:sp>
      <p:sp>
        <p:nvSpPr>
          <p:cNvPr id="13" name="Text 11"/>
          <p:cNvSpPr txBox="1"/>
          <p:nvPr/>
        </p:nvSpPr>
        <p:spPr>
          <a:xfrm>
            <a:off x="868680" y="2240280"/>
            <a:ext cx="2560320" cy="640080"/>
          </a:xfrm>
          <a:prstGeom prst="rect">
            <a:avLst/>
          </a:prstGeom>
          <a:noFill/>
          <a:ln/>
        </p:spPr>
        <p:txBody>
          <a:bodyPr wrap="square" lIns="0" tIns="0" rIns="0" bIns="0" rtlCol="0" anchor="t"/>
          <a:lstStyle/>
          <a:p>
            <a:pPr rtl="1" algn="r" indent="0" marL="0">
              <a:lnSpc>
                <a:spcPct val="115000"/>
              </a:lnSpc>
              <a:buNone/>
            </a:pPr>
            <a:r>
              <a:rPr lang="ar-SA" altLang="en-US" sz="1000" dirty="0">
                <a:solidFill>
                  <a:srgbClr val="1B2330"/>
                </a:solidFill>
                <a:latin typeface="Arial" pitchFamily="34" charset="0"/>
                <a:ea typeface="Arial" pitchFamily="34" charset="-122"/>
                <a:cs typeface="Arial" pitchFamily="34" charset="-120"/>
              </a:rPr>
              <a:t>٣٠ يومًا بعد إتمام خمس سنوات من الخدمة، و٢١ يومًا قبل ذلك.</a:t>
            </a:r>
            <a:endParaRPr lang="ar-SA" sz="1000" dirty="0"/>
          </a:p>
        </p:txBody>
      </p:sp>
      <p:sp>
        <p:nvSpPr>
          <p:cNvPr id="14" name="Shape 12"/>
          <p:cNvSpPr/>
          <p:nvPr/>
        </p:nvSpPr>
        <p:spPr>
          <a:xfrm>
            <a:off x="1737360" y="3017520"/>
            <a:ext cx="1691640" cy="292608"/>
          </a:xfrm>
          <a:prstGeom prst="roundRect">
            <a:avLst>
              <a:gd name="adj" fmla="val 50000"/>
            </a:avLst>
          </a:prstGeom>
          <a:solidFill>
            <a:srgbClr val="E9EEF6"/>
          </a:solidFill>
          <a:ln w="12700">
            <a:solidFill>
              <a:srgbClr val="E9EEF6"/>
            </a:solidFill>
            <a:prstDash val="solid"/>
          </a:ln>
        </p:spPr>
      </p:sp>
      <p:sp>
        <p:nvSpPr>
          <p:cNvPr id="15" name="Text 13"/>
          <p:cNvSpPr txBox="1"/>
          <p:nvPr/>
        </p:nvSpPr>
        <p:spPr>
          <a:xfrm>
            <a:off x="1783080" y="3063240"/>
            <a:ext cx="1600200" cy="228600"/>
          </a:xfrm>
          <a:prstGeom prst="rect">
            <a:avLst/>
          </a:prstGeom>
          <a:noFill/>
          <a:ln/>
        </p:spPr>
        <p:txBody>
          <a:bodyPr wrap="square" lIns="0" tIns="0" rIns="0" bIns="0" rtlCol="0" anchor="t"/>
          <a:lstStyle/>
          <a:p>
            <a:pPr rtl="1" algn="ctr" indent="0" marL="0">
              <a:buNone/>
            </a:pPr>
            <a:r>
              <a:rPr lang="ar-SA" altLang="en-US" sz="800" dirty="0">
                <a:solidFill>
                  <a:srgbClr val="1E3967"/>
                </a:solidFill>
                <a:latin typeface="Arial" pitchFamily="34" charset="0"/>
                <a:ea typeface="Arial" pitchFamily="34" charset="-122"/>
                <a:cs typeface="Arial" pitchFamily="34" charset="-120"/>
              </a:rPr>
              <a:t>لائحة الموارد البشرية · ص ١٢</a:t>
            </a:r>
            <a:endParaRPr lang="ar-SA" sz="800" dirty="0"/>
          </a:p>
        </p:txBody>
      </p:sp>
      <p:sp>
        <p:nvSpPr>
          <p:cNvPr id="16" name="Text 14"/>
          <p:cNvSpPr txBox="1"/>
          <p:nvPr/>
        </p:nvSpPr>
        <p:spPr>
          <a:xfrm>
            <a:off x="868680" y="3063240"/>
            <a:ext cx="822960" cy="228600"/>
          </a:xfrm>
          <a:prstGeom prst="rect">
            <a:avLst/>
          </a:prstGeom>
          <a:noFill/>
          <a:ln/>
        </p:spPr>
        <p:txBody>
          <a:bodyPr wrap="square" lIns="0" tIns="0" rIns="0" bIns="0" rtlCol="0" anchor="t"/>
          <a:lstStyle/>
          <a:p>
            <a:pPr rtl="1" algn="l" indent="0" marL="0">
              <a:buNone/>
            </a:pPr>
            <a:r>
              <a:rPr lang="ar-SA" altLang="en-US" sz="800" b="1" dirty="0">
                <a:solidFill>
                  <a:srgbClr val="1E7F4F"/>
                </a:solidFill>
                <a:latin typeface="Arial" pitchFamily="34" charset="0"/>
                <a:ea typeface="Arial" pitchFamily="34" charset="-122"/>
                <a:cs typeface="Arial" pitchFamily="34" charset="-120"/>
              </a:rPr>
              <a:t>ثقة عالية ✓</a:t>
            </a:r>
            <a:endParaRPr lang="ar-SA" sz="800" dirty="0"/>
          </a:p>
        </p:txBody>
      </p:sp>
      <p:sp>
        <p:nvSpPr>
          <p:cNvPr id="17" name="Shape 15"/>
          <p:cNvSpPr/>
          <p:nvPr/>
        </p:nvSpPr>
        <p:spPr>
          <a:xfrm>
            <a:off x="731520" y="3749040"/>
            <a:ext cx="2834640" cy="411480"/>
          </a:xfrm>
          <a:prstGeom prst="roundRect">
            <a:avLst>
              <a:gd name="adj" fmla="val 22222"/>
            </a:avLst>
          </a:prstGeom>
          <a:solidFill>
            <a:srgbClr val="FFFFFF"/>
          </a:solidFill>
          <a:ln w="12700">
            <a:solidFill>
              <a:srgbClr val="D9DEE7"/>
            </a:solidFill>
            <a:prstDash val="solid"/>
          </a:ln>
        </p:spPr>
      </p:sp>
      <p:sp>
        <p:nvSpPr>
          <p:cNvPr id="18" name="Text 16"/>
          <p:cNvSpPr txBox="1"/>
          <p:nvPr/>
        </p:nvSpPr>
        <p:spPr>
          <a:xfrm>
            <a:off x="868680" y="3840480"/>
            <a:ext cx="2560320" cy="228600"/>
          </a:xfrm>
          <a:prstGeom prst="rect">
            <a:avLst/>
          </a:prstGeom>
          <a:noFill/>
          <a:ln/>
        </p:spPr>
        <p:txBody>
          <a:bodyPr wrap="square" lIns="0" tIns="0" rIns="0" bIns="0" rtlCol="0" anchor="t"/>
          <a:lstStyle/>
          <a:p>
            <a:pPr rtl="1" algn="r" indent="0" marL="0">
              <a:buNone/>
            </a:pPr>
            <a:r>
              <a:rPr lang="ar-SA" altLang="en-US" sz="900" dirty="0">
                <a:solidFill>
                  <a:srgbClr val="5B6573"/>
                </a:solidFill>
                <a:latin typeface="Arial" pitchFamily="34" charset="0"/>
                <a:ea typeface="Arial" pitchFamily="34" charset="-122"/>
                <a:cs typeface="Arial" pitchFamily="34" charset="-120"/>
              </a:rPr>
              <a:t>اسأل عن سياسة أو إجراء…</a:t>
            </a:r>
            <a:endParaRPr lang="ar-SA"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411480" cy="411480"/>
          </a:xfrm>
          <a:prstGeom prst="roundRect">
            <a:avLst>
              <a:gd name="adj" fmla="val 25000"/>
            </a:avLst>
          </a:prstGeom>
          <a:solidFill>
            <a:srgbClr val="1E3967"/>
          </a:solidFill>
          <a:ln w="12700">
            <a:solidFill>
              <a:srgbClr val="1E3967"/>
            </a:solidFill>
            <a:prstDash val="solid"/>
          </a:ln>
        </p:spPr>
      </p:sp>
      <p:sp>
        <p:nvSpPr>
          <p:cNvPr id="3" name="Shape 1"/>
          <p:cNvSpPr/>
          <p:nvPr/>
        </p:nvSpPr>
        <p:spPr>
          <a:xfrm>
            <a:off x="622706" y="396850"/>
            <a:ext cx="213970" cy="213970"/>
          </a:xfrm>
          <a:prstGeom prst="diamond">
            <a:avLst/>
          </a:prstGeom>
          <a:solidFill>
            <a:srgbClr val="C9A24C"/>
          </a:solidFill>
          <a:ln w="12700">
            <a:solidFill>
              <a:srgbClr val="C9A24C"/>
            </a:solidFill>
            <a:prstDash val="solid"/>
          </a:ln>
        </p:spPr>
      </p:sp>
      <p:sp>
        <p:nvSpPr>
          <p:cNvPr id="4" name="Shape 2"/>
          <p:cNvSpPr/>
          <p:nvPr/>
        </p:nvSpPr>
        <p:spPr>
          <a:xfrm>
            <a:off x="795528" y="586130"/>
            <a:ext cx="106985" cy="106985"/>
          </a:xfrm>
          <a:prstGeom prst="diamond">
            <a:avLst/>
          </a:prstGeom>
          <a:solidFill>
            <a:srgbClr val="FFFFFF"/>
          </a:solidFill>
          <a:ln w="12700">
            <a:solidFill>
              <a:srgbClr val="FFFFFF"/>
            </a:solidFill>
            <a:prstDash val="solid"/>
          </a:ln>
        </p:spPr>
      </p:sp>
      <p:sp>
        <p:nvSpPr>
          <p:cNvPr id="5" name="Text 3"/>
          <p:cNvSpPr txBox="1"/>
          <p:nvPr/>
        </p:nvSpPr>
        <p:spPr>
          <a:xfrm>
            <a:off x="1188720" y="301752"/>
            <a:ext cx="7406640" cy="502920"/>
          </a:xfrm>
          <a:prstGeom prst="rect">
            <a:avLst/>
          </a:prstGeom>
          <a:noFill/>
          <a:ln/>
        </p:spPr>
        <p:txBody>
          <a:bodyPr wrap="square" lIns="0" tIns="0" rIns="0" bIns="0" rtlCol="0" anchor="t"/>
          <a:lstStyle/>
          <a:p>
            <a:pPr rtl="1" algn="r" indent="0" marL="0">
              <a:buNone/>
            </a:pPr>
            <a:r>
              <a:rPr lang="ar-SA" altLang="en-US" sz="2600" b="1" dirty="0">
                <a:solidFill>
                  <a:srgbClr val="1E3967"/>
                </a:solidFill>
                <a:latin typeface="Arial" pitchFamily="34" charset="0"/>
                <a:ea typeface="Arial" pitchFamily="34" charset="-122"/>
                <a:cs typeface="Arial" pitchFamily="34" charset="-120"/>
              </a:rPr>
              <a:t>المميزات المنفَّذة في المنصة</a:t>
            </a:r>
            <a:endParaRPr lang="ar-SA" sz="2600" dirty="0"/>
          </a:p>
        </p:txBody>
      </p:sp>
      <p:sp>
        <p:nvSpPr>
          <p:cNvPr id="6" name="Text 4"/>
          <p:cNvSpPr txBox="1"/>
          <p:nvPr/>
        </p:nvSpPr>
        <p:spPr>
          <a:xfrm>
            <a:off x="1188720" y="804672"/>
            <a:ext cx="7406640" cy="256032"/>
          </a:xfrm>
          <a:prstGeom prst="rect">
            <a:avLst/>
          </a:prstGeom>
          <a:noFill/>
          <a:ln/>
        </p:spPr>
        <p:txBody>
          <a:bodyPr wrap="square" lIns="0" tIns="0" rIns="0" bIns="0" rtlCol="0" anchor="t"/>
          <a:lstStyle/>
          <a:p>
            <a:pPr algn="r" indent="0" marL="0">
              <a:buNone/>
            </a:pPr>
            <a:r>
              <a:rPr lang="en-US" altLang="en-US" sz="1050" dirty="0">
                <a:solidFill>
                  <a:srgbClr val="5B6573"/>
                </a:solidFill>
                <a:latin typeface="Arial" pitchFamily="34" charset="0"/>
                <a:ea typeface="Arial" pitchFamily="34" charset="-122"/>
                <a:cs typeface="Arial" pitchFamily="34" charset="-120"/>
              </a:rPr>
              <a:t>Shipped product features</a:t>
            </a:r>
            <a:endParaRPr lang="en-US" sz="1050" dirty="0"/>
          </a:p>
        </p:txBody>
      </p:sp>
      <p:sp>
        <p:nvSpPr>
          <p:cNvPr id="7" name="Text 5"/>
          <p:cNvSpPr txBox="1"/>
          <p:nvPr/>
        </p:nvSpPr>
        <p:spPr>
          <a:xfrm>
            <a:off x="548640" y="4754880"/>
            <a:ext cx="2743200" cy="228600"/>
          </a:xfrm>
          <a:prstGeom prst="rect">
            <a:avLst/>
          </a:prstGeom>
          <a:noFill/>
          <a:ln/>
        </p:spPr>
        <p:txBody>
          <a:bodyPr wrap="square" lIns="0" tIns="0" rIns="0" bIns="0" rtlCol="0" anchor="t"/>
          <a:lstStyle/>
          <a:p>
            <a:pPr rtl="1" algn="l" indent="0" marL="0">
              <a:buNone/>
            </a:pPr>
            <a:r>
              <a:rPr lang="ar-SA" altLang="en-US" sz="900" dirty="0">
                <a:solidFill>
                  <a:srgbClr val="5B6573"/>
                </a:solidFill>
                <a:latin typeface="Arial" pitchFamily="34" charset="0"/>
                <a:ea typeface="Arial" pitchFamily="34" charset="-122"/>
                <a:cs typeface="Arial" pitchFamily="34" charset="-120"/>
              </a:rPr>
              <a:t>بديهة · ملف المشروع</a:t>
            </a:r>
            <a:endParaRPr lang="ar-SA" sz="900" dirty="0"/>
          </a:p>
        </p:txBody>
      </p:sp>
      <p:sp>
        <p:nvSpPr>
          <p:cNvPr id="8" name="Text 6"/>
          <p:cNvSpPr txBox="1"/>
          <p:nvPr/>
        </p:nvSpPr>
        <p:spPr>
          <a:xfrm>
            <a:off x="1188720" y="1024128"/>
            <a:ext cx="7406640" cy="256032"/>
          </a:xfrm>
          <a:prstGeom prst="rect">
            <a:avLst/>
          </a:prstGeom>
          <a:noFill/>
          <a:ln/>
        </p:spPr>
        <p:txBody>
          <a:bodyPr wrap="square" lIns="0" tIns="0" rIns="0" bIns="0" rtlCol="0" anchor="t"/>
          <a:lstStyle/>
          <a:p>
            <a:pPr rtl="1" algn="r" indent="0" marL="0">
              <a:buNone/>
            </a:pPr>
            <a:r>
              <a:rPr lang="ar-SA" altLang="en-US" sz="1000" dirty="0">
                <a:solidFill>
                  <a:srgbClr val="5B6573"/>
                </a:solidFill>
                <a:latin typeface="Arial" pitchFamily="34" charset="0"/>
                <a:ea typeface="Arial" pitchFamily="34" charset="-122"/>
                <a:cs typeface="Arial" pitchFamily="34" charset="-120"/>
              </a:rPr>
              <a:t>عشرون ميزة تعمل في الإنتاج اليوم، موزّعة على خمسة محاور. لا ميزة هنا قيد التطوير أو موعودة.</a:t>
            </a:r>
            <a:endParaRPr lang="ar-SA" sz="1000" dirty="0"/>
          </a:p>
        </p:txBody>
      </p:sp>
      <p:sp>
        <p:nvSpPr>
          <p:cNvPr id="9" name="Shape 7"/>
          <p:cNvSpPr/>
          <p:nvPr/>
        </p:nvSpPr>
        <p:spPr>
          <a:xfrm>
            <a:off x="7196328" y="1371600"/>
            <a:ext cx="1581912" cy="2697480"/>
          </a:xfrm>
          <a:prstGeom prst="roundRect">
            <a:avLst>
              <a:gd name="adj" fmla="val 5780"/>
            </a:avLst>
          </a:prstGeom>
          <a:solidFill>
            <a:srgbClr val="E9EEF6"/>
          </a:solidFill>
          <a:ln w="12700">
            <a:solidFill>
              <a:srgbClr val="E9EEF6"/>
            </a:solidFill>
            <a:prstDash val="solid"/>
          </a:ln>
        </p:spPr>
      </p:sp>
      <p:sp>
        <p:nvSpPr>
          <p:cNvPr id="10" name="Text 8"/>
          <p:cNvSpPr txBox="1"/>
          <p:nvPr/>
        </p:nvSpPr>
        <p:spPr>
          <a:xfrm>
            <a:off x="7324344" y="1499616"/>
            <a:ext cx="1325880" cy="457200"/>
          </a:xfrm>
          <a:prstGeom prst="rect">
            <a:avLst/>
          </a:prstGeom>
          <a:noFill/>
          <a:ln/>
        </p:spPr>
        <p:txBody>
          <a:bodyPr wrap="square" lIns="0" tIns="0" rIns="0" bIns="0" rtlCol="0" anchor="t"/>
          <a:lstStyle/>
          <a:p>
            <a:pPr rtl="1" algn="r" indent="0" marL="0">
              <a:buNone/>
            </a:pPr>
            <a:r>
              <a:rPr lang="ar-SA" altLang="en-US" sz="1200" b="1" dirty="0">
                <a:solidFill>
                  <a:srgbClr val="1E3967"/>
                </a:solidFill>
                <a:latin typeface="Arial" pitchFamily="34" charset="0"/>
                <a:ea typeface="Arial" pitchFamily="34" charset="-122"/>
                <a:cs typeface="Arial" pitchFamily="34" charset="-120"/>
              </a:rPr>
              <a:t>المساعد الذكي</a:t>
            </a:r>
            <a:endParaRPr lang="ar-SA" sz="1200" dirty="0"/>
          </a:p>
        </p:txBody>
      </p:sp>
      <p:sp>
        <p:nvSpPr>
          <p:cNvPr id="11" name="Text 9"/>
          <p:cNvSpPr txBox="1"/>
          <p:nvPr/>
        </p:nvSpPr>
        <p:spPr>
          <a:xfrm>
            <a:off x="7324344" y="1975104"/>
            <a:ext cx="1325880" cy="2011680"/>
          </a:xfrm>
          <a:prstGeom prst="rect">
            <a:avLst/>
          </a:prstGeom>
          <a:noFill/>
          <a:ln/>
        </p:spPr>
        <p:txBody>
          <a:bodyPr wrap="square" lIns="0" tIns="0" rIns="0" bIns="0" rtlCol="0" anchor="t"/>
          <a:lstStyle/>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محادثة طبيعية بلا معرفة اسم المستند</a:t>
            </a:r>
            <a:endParaRPr lang="ar-SA" sz="880" dirty="0"/>
          </a:p>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مصادر مع كل إجابة: المستند والصفحة</a:t>
            </a:r>
            <a:endParaRPr lang="ar-SA" sz="880" dirty="0"/>
          </a:p>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عربي وإنجليزي في السؤال والجواب</a:t>
            </a:r>
            <a:endParaRPr lang="ar-SA" sz="880" dirty="0"/>
          </a:p>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سجل محادثات قابل للاستئناف والتقييم</a:t>
            </a:r>
            <a:endParaRPr lang="ar-SA" sz="880" dirty="0"/>
          </a:p>
        </p:txBody>
      </p:sp>
      <p:sp>
        <p:nvSpPr>
          <p:cNvPr id="12" name="Shape 10"/>
          <p:cNvSpPr/>
          <p:nvPr/>
        </p:nvSpPr>
        <p:spPr>
          <a:xfrm>
            <a:off x="5522976" y="1371600"/>
            <a:ext cx="1581912" cy="2697480"/>
          </a:xfrm>
          <a:prstGeom prst="roundRect">
            <a:avLst>
              <a:gd name="adj" fmla="val 5780"/>
            </a:avLst>
          </a:prstGeom>
          <a:solidFill>
            <a:srgbClr val="FFFFFF"/>
          </a:solidFill>
          <a:ln w="12700">
            <a:solidFill>
              <a:srgbClr val="D9DEE7"/>
            </a:solidFill>
            <a:prstDash val="solid"/>
          </a:ln>
        </p:spPr>
      </p:sp>
      <p:sp>
        <p:nvSpPr>
          <p:cNvPr id="13" name="Text 11"/>
          <p:cNvSpPr txBox="1"/>
          <p:nvPr/>
        </p:nvSpPr>
        <p:spPr>
          <a:xfrm>
            <a:off x="5650992" y="1499616"/>
            <a:ext cx="1325880" cy="457200"/>
          </a:xfrm>
          <a:prstGeom prst="rect">
            <a:avLst/>
          </a:prstGeom>
          <a:noFill/>
          <a:ln/>
        </p:spPr>
        <p:txBody>
          <a:bodyPr wrap="square" lIns="0" tIns="0" rIns="0" bIns="0" rtlCol="0" anchor="t"/>
          <a:lstStyle/>
          <a:p>
            <a:pPr rtl="1" algn="r" indent="0" marL="0">
              <a:buNone/>
            </a:pPr>
            <a:r>
              <a:rPr lang="ar-SA" altLang="en-US" sz="1200" b="1" dirty="0">
                <a:solidFill>
                  <a:srgbClr val="1E3967"/>
                </a:solidFill>
                <a:latin typeface="Arial" pitchFamily="34" charset="0"/>
                <a:ea typeface="Arial" pitchFamily="34" charset="-122"/>
                <a:cs typeface="Arial" pitchFamily="34" charset="-120"/>
              </a:rPr>
              <a:t>الثقة في الإجابة</a:t>
            </a:r>
            <a:endParaRPr lang="ar-SA" sz="1200" dirty="0"/>
          </a:p>
        </p:txBody>
      </p:sp>
      <p:sp>
        <p:nvSpPr>
          <p:cNvPr id="14" name="Text 12"/>
          <p:cNvSpPr txBox="1"/>
          <p:nvPr/>
        </p:nvSpPr>
        <p:spPr>
          <a:xfrm>
            <a:off x="5650992" y="1975104"/>
            <a:ext cx="1325880" cy="2011680"/>
          </a:xfrm>
          <a:prstGeom prst="rect">
            <a:avLst/>
          </a:prstGeom>
          <a:noFill/>
          <a:ln/>
        </p:spPr>
        <p:txBody>
          <a:bodyPr wrap="square" lIns="0" tIns="0" rIns="0" bIns="0" rtlCol="0" anchor="t"/>
          <a:lstStyle/>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التحقق من كل رقم ومدة ومبلغ</a:t>
            </a:r>
            <a:endParaRPr lang="ar-SA" sz="880" dirty="0"/>
          </a:p>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درجة ثقة ظاهرة: عالية · متوسطة · منخفضة</a:t>
            </a:r>
            <a:endParaRPr lang="ar-SA" sz="880" dirty="0"/>
          </a:p>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عرض المصادر المستعملة فعلًا لا كل ما بُحث</a:t>
            </a:r>
            <a:endParaRPr lang="ar-SA" sz="880" dirty="0"/>
          </a:p>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يقول «لم أجد» بدل أن يخترع</a:t>
            </a:r>
            <a:endParaRPr lang="ar-SA" sz="880" dirty="0"/>
          </a:p>
        </p:txBody>
      </p:sp>
      <p:sp>
        <p:nvSpPr>
          <p:cNvPr id="15" name="Shape 13"/>
          <p:cNvSpPr/>
          <p:nvPr/>
        </p:nvSpPr>
        <p:spPr>
          <a:xfrm>
            <a:off x="3849624" y="1371600"/>
            <a:ext cx="1581912" cy="2697480"/>
          </a:xfrm>
          <a:prstGeom prst="roundRect">
            <a:avLst>
              <a:gd name="adj" fmla="val 5780"/>
            </a:avLst>
          </a:prstGeom>
          <a:solidFill>
            <a:srgbClr val="E9EEF6"/>
          </a:solidFill>
          <a:ln w="12700">
            <a:solidFill>
              <a:srgbClr val="E9EEF6"/>
            </a:solidFill>
            <a:prstDash val="solid"/>
          </a:ln>
        </p:spPr>
      </p:sp>
      <p:sp>
        <p:nvSpPr>
          <p:cNvPr id="16" name="Text 14"/>
          <p:cNvSpPr txBox="1"/>
          <p:nvPr/>
        </p:nvSpPr>
        <p:spPr>
          <a:xfrm>
            <a:off x="3977640" y="1499616"/>
            <a:ext cx="1325880" cy="457200"/>
          </a:xfrm>
          <a:prstGeom prst="rect">
            <a:avLst/>
          </a:prstGeom>
          <a:noFill/>
          <a:ln/>
        </p:spPr>
        <p:txBody>
          <a:bodyPr wrap="square" lIns="0" tIns="0" rIns="0" bIns="0" rtlCol="0" anchor="t"/>
          <a:lstStyle/>
          <a:p>
            <a:pPr rtl="1" algn="r" indent="0" marL="0">
              <a:buNone/>
            </a:pPr>
            <a:r>
              <a:rPr lang="ar-SA" altLang="en-US" sz="1200" b="1" dirty="0">
                <a:solidFill>
                  <a:srgbClr val="1E3967"/>
                </a:solidFill>
                <a:latin typeface="Arial" pitchFamily="34" charset="0"/>
                <a:ea typeface="Arial" pitchFamily="34" charset="-122"/>
                <a:cs typeface="Arial" pitchFamily="34" charset="-120"/>
              </a:rPr>
              <a:t>إدارة المعرفة</a:t>
            </a:r>
            <a:endParaRPr lang="ar-SA" sz="1200" dirty="0"/>
          </a:p>
        </p:txBody>
      </p:sp>
      <p:sp>
        <p:nvSpPr>
          <p:cNvPr id="17" name="Text 15"/>
          <p:cNvSpPr txBox="1"/>
          <p:nvPr/>
        </p:nvSpPr>
        <p:spPr>
          <a:xfrm>
            <a:off x="3977640" y="1975104"/>
            <a:ext cx="1325880" cy="2011680"/>
          </a:xfrm>
          <a:prstGeom prst="rect">
            <a:avLst/>
          </a:prstGeom>
          <a:noFill/>
          <a:ln/>
        </p:spPr>
        <p:txBody>
          <a:bodyPr wrap="square" lIns="0" tIns="0" rIns="0" bIns="0" rtlCol="0" anchor="t"/>
          <a:lstStyle/>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رفع ومعالجة PDF وWord وExcel وCSV ونصوص</a:t>
            </a:r>
            <a:endParaRPr lang="ar-SA" sz="880" dirty="0"/>
          </a:p>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تصنيفات معرفة جاهزة أو مخصّصة</a:t>
            </a:r>
            <a:endParaRPr lang="ar-SA" sz="880" dirty="0"/>
          </a:p>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بحث دلالي بالمعنى لا بتطابق الكلمات</a:t>
            </a:r>
            <a:endParaRPr lang="ar-SA" sz="880" dirty="0"/>
          </a:p>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إصدارات المستندات وأرشفة القديم</a:t>
            </a:r>
            <a:endParaRPr lang="ar-SA" sz="880" dirty="0"/>
          </a:p>
        </p:txBody>
      </p:sp>
      <p:sp>
        <p:nvSpPr>
          <p:cNvPr id="18" name="Shape 16"/>
          <p:cNvSpPr/>
          <p:nvPr/>
        </p:nvSpPr>
        <p:spPr>
          <a:xfrm>
            <a:off x="2176272" y="1371600"/>
            <a:ext cx="1581912" cy="2697480"/>
          </a:xfrm>
          <a:prstGeom prst="roundRect">
            <a:avLst>
              <a:gd name="adj" fmla="val 5780"/>
            </a:avLst>
          </a:prstGeom>
          <a:solidFill>
            <a:srgbClr val="FFFFFF"/>
          </a:solidFill>
          <a:ln w="12700">
            <a:solidFill>
              <a:srgbClr val="D9DEE7"/>
            </a:solidFill>
            <a:prstDash val="solid"/>
          </a:ln>
        </p:spPr>
      </p:sp>
      <p:sp>
        <p:nvSpPr>
          <p:cNvPr id="19" name="Text 17"/>
          <p:cNvSpPr txBox="1"/>
          <p:nvPr/>
        </p:nvSpPr>
        <p:spPr>
          <a:xfrm>
            <a:off x="2304288" y="1499616"/>
            <a:ext cx="1325880" cy="457200"/>
          </a:xfrm>
          <a:prstGeom prst="rect">
            <a:avLst/>
          </a:prstGeom>
          <a:noFill/>
          <a:ln/>
        </p:spPr>
        <p:txBody>
          <a:bodyPr wrap="square" lIns="0" tIns="0" rIns="0" bIns="0" rtlCol="0" anchor="t"/>
          <a:lstStyle/>
          <a:p>
            <a:pPr rtl="1" algn="r" indent="0" marL="0">
              <a:buNone/>
            </a:pPr>
            <a:r>
              <a:rPr lang="ar-SA" altLang="en-US" sz="1200" b="1" dirty="0">
                <a:solidFill>
                  <a:srgbClr val="1E3967"/>
                </a:solidFill>
                <a:latin typeface="Arial" pitchFamily="34" charset="0"/>
                <a:ea typeface="Arial" pitchFamily="34" charset="-122"/>
                <a:cs typeface="Arial" pitchFamily="34" charset="-120"/>
              </a:rPr>
              <a:t>التحكم والصلاحيات</a:t>
            </a:r>
            <a:endParaRPr lang="ar-SA" sz="1200" dirty="0"/>
          </a:p>
        </p:txBody>
      </p:sp>
      <p:sp>
        <p:nvSpPr>
          <p:cNvPr id="20" name="Text 18"/>
          <p:cNvSpPr txBox="1"/>
          <p:nvPr/>
        </p:nvSpPr>
        <p:spPr>
          <a:xfrm>
            <a:off x="2304288" y="1975104"/>
            <a:ext cx="1325880" cy="2011680"/>
          </a:xfrm>
          <a:prstGeom prst="rect">
            <a:avLst/>
          </a:prstGeom>
          <a:noFill/>
          <a:ln/>
        </p:spPr>
        <p:txBody>
          <a:bodyPr wrap="square" lIns="0" tIns="0" rIns="0" bIns="0" rtlCol="0" anchor="t"/>
          <a:lstStyle/>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ثلاثة مستويات وصول لكل مستند</a:t>
            </a:r>
            <a:endParaRPr lang="ar-SA" sz="880" dirty="0"/>
          </a:p>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أربعة أدوار مطبَّقة على الخادم</a:t>
            </a:r>
            <a:endParaRPr lang="ar-SA" sz="880" dirty="0"/>
          </a:p>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أقسام تربط الصلاحيات بالتحليلات</a:t>
            </a:r>
            <a:endParaRPr lang="ar-SA" sz="880" dirty="0"/>
          </a:p>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سجل تدقيق لكل عملية حسّاسة</a:t>
            </a:r>
            <a:endParaRPr lang="ar-SA" sz="880" dirty="0"/>
          </a:p>
        </p:txBody>
      </p:sp>
      <p:sp>
        <p:nvSpPr>
          <p:cNvPr id="21" name="Shape 19"/>
          <p:cNvSpPr/>
          <p:nvPr/>
        </p:nvSpPr>
        <p:spPr>
          <a:xfrm>
            <a:off x="502920" y="1371600"/>
            <a:ext cx="1581912" cy="2697480"/>
          </a:xfrm>
          <a:prstGeom prst="roundRect">
            <a:avLst>
              <a:gd name="adj" fmla="val 5780"/>
            </a:avLst>
          </a:prstGeom>
          <a:solidFill>
            <a:srgbClr val="E9EEF6"/>
          </a:solidFill>
          <a:ln w="12700">
            <a:solidFill>
              <a:srgbClr val="E9EEF6"/>
            </a:solidFill>
            <a:prstDash val="solid"/>
          </a:ln>
        </p:spPr>
      </p:sp>
      <p:sp>
        <p:nvSpPr>
          <p:cNvPr id="22" name="Text 20"/>
          <p:cNvSpPr txBox="1"/>
          <p:nvPr/>
        </p:nvSpPr>
        <p:spPr>
          <a:xfrm>
            <a:off x="630936" y="1499616"/>
            <a:ext cx="1325880" cy="457200"/>
          </a:xfrm>
          <a:prstGeom prst="rect">
            <a:avLst/>
          </a:prstGeom>
          <a:noFill/>
          <a:ln/>
        </p:spPr>
        <p:txBody>
          <a:bodyPr wrap="square" lIns="0" tIns="0" rIns="0" bIns="0" rtlCol="0" anchor="t"/>
          <a:lstStyle/>
          <a:p>
            <a:pPr rtl="1" algn="r" indent="0" marL="0">
              <a:buNone/>
            </a:pPr>
            <a:r>
              <a:rPr lang="ar-SA" altLang="en-US" sz="1200" b="1" dirty="0">
                <a:solidFill>
                  <a:srgbClr val="1E3967"/>
                </a:solidFill>
                <a:latin typeface="Arial" pitchFamily="34" charset="0"/>
                <a:ea typeface="Arial" pitchFamily="34" charset="-122"/>
                <a:cs typeface="Arial" pitchFamily="34" charset="-120"/>
              </a:rPr>
              <a:t>الرؤية والتحليلات</a:t>
            </a:r>
            <a:endParaRPr lang="ar-SA" sz="1200" dirty="0"/>
          </a:p>
        </p:txBody>
      </p:sp>
      <p:sp>
        <p:nvSpPr>
          <p:cNvPr id="23" name="Text 21"/>
          <p:cNvSpPr txBox="1"/>
          <p:nvPr/>
        </p:nvSpPr>
        <p:spPr>
          <a:xfrm>
            <a:off x="630936" y="1975104"/>
            <a:ext cx="1325880" cy="2011680"/>
          </a:xfrm>
          <a:prstGeom prst="rect">
            <a:avLst/>
          </a:prstGeom>
          <a:noFill/>
          <a:ln/>
        </p:spPr>
        <p:txBody>
          <a:bodyPr wrap="square" lIns="0" tIns="0" rIns="0" bIns="0" rtlCol="0" anchor="t"/>
          <a:lstStyle/>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فجوات المعرفة بعدّاد تكرار</a:t>
            </a:r>
            <a:endParaRPr lang="ar-SA" sz="880" dirty="0"/>
          </a:p>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إجابات معتمدة تدخل القاعدة فورًا</a:t>
            </a:r>
            <a:endParaRPr lang="ar-SA" sz="880" dirty="0"/>
          </a:p>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تنبيهات داخل المنصة للطرفين</a:t>
            </a:r>
            <a:endParaRPr lang="ar-SA" sz="880" dirty="0"/>
          </a:p>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تحليلات الاستخدام وجودة الإجابات</a:t>
            </a:r>
            <a:endParaRPr lang="ar-SA" sz="880" dirty="0"/>
          </a:p>
        </p:txBody>
      </p:sp>
      <p:sp>
        <p:nvSpPr>
          <p:cNvPr id="24" name="Shape 22"/>
          <p:cNvSpPr/>
          <p:nvPr/>
        </p:nvSpPr>
        <p:spPr>
          <a:xfrm>
            <a:off x="502920" y="4224528"/>
            <a:ext cx="8229600" cy="457200"/>
          </a:xfrm>
          <a:prstGeom prst="roundRect">
            <a:avLst>
              <a:gd name="adj" fmla="val 20000"/>
            </a:avLst>
          </a:prstGeom>
          <a:solidFill>
            <a:srgbClr val="F7F4EC"/>
          </a:solidFill>
          <a:ln w="12700">
            <a:solidFill>
              <a:srgbClr val="C9A24C"/>
            </a:solidFill>
            <a:prstDash val="solid"/>
          </a:ln>
        </p:spPr>
      </p:sp>
      <p:sp>
        <p:nvSpPr>
          <p:cNvPr id="25" name="Text 23"/>
          <p:cNvSpPr txBox="1"/>
          <p:nvPr/>
        </p:nvSpPr>
        <p:spPr>
          <a:xfrm>
            <a:off x="685800" y="4343400"/>
            <a:ext cx="7863840" cy="274320"/>
          </a:xfrm>
          <a:prstGeom prst="rect">
            <a:avLst/>
          </a:prstGeom>
          <a:noFill/>
          <a:ln/>
        </p:spPr>
        <p:txBody>
          <a:bodyPr wrap="square" lIns="0" tIns="0" rIns="0" bIns="0" rtlCol="0" anchor="t"/>
          <a:lstStyle/>
          <a:p>
            <a:pPr rtl="1" algn="r" indent="0" marL="0">
              <a:buNone/>
            </a:pPr>
            <a:r>
              <a:rPr lang="ar-SA" altLang="en-US" sz="1050" b="1" dirty="0">
                <a:solidFill>
                  <a:srgbClr val="1E3967"/>
                </a:solidFill>
                <a:latin typeface="Arial" pitchFamily="34" charset="0"/>
                <a:ea typeface="Arial" pitchFamily="34" charset="-122"/>
                <a:cs typeface="Arial" pitchFamily="34" charset="-120"/>
              </a:rPr>
              <a:t>وأربع قنوات للوصول: الويب، وواتساب، ومركز مساعدة بثلاثة عشر مقالًا، ودعم فني بالتذاكر داخل المنصة.</a:t>
            </a:r>
            <a:endParaRPr lang="ar-SA"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411480" cy="411480"/>
          </a:xfrm>
          <a:prstGeom prst="roundRect">
            <a:avLst>
              <a:gd name="adj" fmla="val 25000"/>
            </a:avLst>
          </a:prstGeom>
          <a:solidFill>
            <a:srgbClr val="1E3967"/>
          </a:solidFill>
          <a:ln w="12700">
            <a:solidFill>
              <a:srgbClr val="1E3967"/>
            </a:solidFill>
            <a:prstDash val="solid"/>
          </a:ln>
        </p:spPr>
      </p:sp>
      <p:sp>
        <p:nvSpPr>
          <p:cNvPr id="3" name="Shape 1"/>
          <p:cNvSpPr/>
          <p:nvPr/>
        </p:nvSpPr>
        <p:spPr>
          <a:xfrm>
            <a:off x="622706" y="396850"/>
            <a:ext cx="213970" cy="213970"/>
          </a:xfrm>
          <a:prstGeom prst="diamond">
            <a:avLst/>
          </a:prstGeom>
          <a:solidFill>
            <a:srgbClr val="C9A24C"/>
          </a:solidFill>
          <a:ln w="12700">
            <a:solidFill>
              <a:srgbClr val="C9A24C"/>
            </a:solidFill>
            <a:prstDash val="solid"/>
          </a:ln>
        </p:spPr>
      </p:sp>
      <p:sp>
        <p:nvSpPr>
          <p:cNvPr id="4" name="Shape 2"/>
          <p:cNvSpPr/>
          <p:nvPr/>
        </p:nvSpPr>
        <p:spPr>
          <a:xfrm>
            <a:off x="795528" y="586130"/>
            <a:ext cx="106985" cy="106985"/>
          </a:xfrm>
          <a:prstGeom prst="diamond">
            <a:avLst/>
          </a:prstGeom>
          <a:solidFill>
            <a:srgbClr val="FFFFFF"/>
          </a:solidFill>
          <a:ln w="12700">
            <a:solidFill>
              <a:srgbClr val="FFFFFF"/>
            </a:solidFill>
            <a:prstDash val="solid"/>
          </a:ln>
        </p:spPr>
      </p:sp>
      <p:sp>
        <p:nvSpPr>
          <p:cNvPr id="5" name="Text 3"/>
          <p:cNvSpPr txBox="1"/>
          <p:nvPr/>
        </p:nvSpPr>
        <p:spPr>
          <a:xfrm>
            <a:off x="1188720" y="301752"/>
            <a:ext cx="7406640" cy="502920"/>
          </a:xfrm>
          <a:prstGeom prst="rect">
            <a:avLst/>
          </a:prstGeom>
          <a:noFill/>
          <a:ln/>
        </p:spPr>
        <p:txBody>
          <a:bodyPr wrap="square" lIns="0" tIns="0" rIns="0" bIns="0" rtlCol="0" anchor="t"/>
          <a:lstStyle/>
          <a:p>
            <a:pPr rtl="1" algn="r" indent="0" marL="0">
              <a:buNone/>
            </a:pPr>
            <a:r>
              <a:rPr lang="ar-SA" altLang="en-US" sz="2600" b="1" dirty="0">
                <a:solidFill>
                  <a:srgbClr val="1E3967"/>
                </a:solidFill>
                <a:latin typeface="Arial" pitchFamily="34" charset="0"/>
                <a:ea typeface="Arial" pitchFamily="34" charset="-122"/>
                <a:cs typeface="Arial" pitchFamily="34" charset="-120"/>
              </a:rPr>
              <a:t>الذكاء الاصطناعي داخل المنصة</a:t>
            </a:r>
            <a:endParaRPr lang="ar-SA" sz="2600" dirty="0"/>
          </a:p>
        </p:txBody>
      </p:sp>
      <p:sp>
        <p:nvSpPr>
          <p:cNvPr id="6" name="Text 4"/>
          <p:cNvSpPr txBox="1"/>
          <p:nvPr/>
        </p:nvSpPr>
        <p:spPr>
          <a:xfrm>
            <a:off x="1188720" y="804672"/>
            <a:ext cx="7406640" cy="256032"/>
          </a:xfrm>
          <a:prstGeom prst="rect">
            <a:avLst/>
          </a:prstGeom>
          <a:noFill/>
          <a:ln/>
        </p:spPr>
        <p:txBody>
          <a:bodyPr wrap="square" lIns="0" tIns="0" rIns="0" bIns="0" rtlCol="0" anchor="t"/>
          <a:lstStyle/>
          <a:p>
            <a:pPr algn="r" indent="0" marL="0">
              <a:buNone/>
            </a:pPr>
            <a:r>
              <a:rPr lang="en-US" altLang="en-US" sz="1050" dirty="0">
                <a:solidFill>
                  <a:srgbClr val="5B6573"/>
                </a:solidFill>
                <a:latin typeface="Arial" pitchFamily="34" charset="0"/>
                <a:ea typeface="Arial" pitchFamily="34" charset="-122"/>
                <a:cs typeface="Arial" pitchFamily="34" charset="-120"/>
              </a:rPr>
              <a:t>Applied AI: seven roles, two agents</a:t>
            </a:r>
            <a:endParaRPr lang="en-US" sz="1050" dirty="0"/>
          </a:p>
        </p:txBody>
      </p:sp>
      <p:sp>
        <p:nvSpPr>
          <p:cNvPr id="7" name="Text 5"/>
          <p:cNvSpPr txBox="1"/>
          <p:nvPr/>
        </p:nvSpPr>
        <p:spPr>
          <a:xfrm>
            <a:off x="548640" y="4754880"/>
            <a:ext cx="2743200" cy="228600"/>
          </a:xfrm>
          <a:prstGeom prst="rect">
            <a:avLst/>
          </a:prstGeom>
          <a:noFill/>
          <a:ln/>
        </p:spPr>
        <p:txBody>
          <a:bodyPr wrap="square" lIns="0" tIns="0" rIns="0" bIns="0" rtlCol="0" anchor="t"/>
          <a:lstStyle/>
          <a:p>
            <a:pPr rtl="1" algn="l" indent="0" marL="0">
              <a:buNone/>
            </a:pPr>
            <a:r>
              <a:rPr lang="ar-SA" altLang="en-US" sz="900" dirty="0">
                <a:solidFill>
                  <a:srgbClr val="5B6573"/>
                </a:solidFill>
                <a:latin typeface="Arial" pitchFamily="34" charset="0"/>
                <a:ea typeface="Arial" pitchFamily="34" charset="-122"/>
                <a:cs typeface="Arial" pitchFamily="34" charset="-120"/>
              </a:rPr>
              <a:t>بديهة · ملف المشروع</a:t>
            </a:r>
            <a:endParaRPr lang="ar-SA" sz="900" dirty="0"/>
          </a:p>
        </p:txBody>
      </p:sp>
      <p:sp>
        <p:nvSpPr>
          <p:cNvPr id="8" name="Shape 6"/>
          <p:cNvSpPr/>
          <p:nvPr/>
        </p:nvSpPr>
        <p:spPr>
          <a:xfrm>
            <a:off x="548640" y="1143000"/>
            <a:ext cx="8046720" cy="530352"/>
          </a:xfrm>
          <a:prstGeom prst="roundRect">
            <a:avLst>
              <a:gd name="adj" fmla="val 17241"/>
            </a:avLst>
          </a:prstGeom>
          <a:solidFill>
            <a:srgbClr val="1E3967"/>
          </a:solidFill>
          <a:ln w="12700">
            <a:solidFill>
              <a:srgbClr val="1E3967"/>
            </a:solidFill>
            <a:prstDash val="solid"/>
          </a:ln>
        </p:spPr>
      </p:sp>
      <p:sp>
        <p:nvSpPr>
          <p:cNvPr id="9" name="Text 7"/>
          <p:cNvSpPr txBox="1"/>
          <p:nvPr/>
        </p:nvSpPr>
        <p:spPr>
          <a:xfrm>
            <a:off x="731520" y="1261872"/>
            <a:ext cx="7680960" cy="292608"/>
          </a:xfrm>
          <a:prstGeom prst="rect">
            <a:avLst/>
          </a:prstGeom>
          <a:noFill/>
          <a:ln/>
        </p:spPr>
        <p:txBody>
          <a:bodyPr wrap="square" lIns="0" tIns="0" rIns="0" bIns="0" rtlCol="0" anchor="t"/>
          <a:lstStyle/>
          <a:p>
            <a:pPr rtl="1" algn="r" indent="0" marL="0">
              <a:buNone/>
            </a:pPr>
            <a:r>
              <a:rPr lang="ar-SA" altLang="en-US" sz="1050" b="1" dirty="0">
                <a:solidFill>
                  <a:srgbClr val="FFFFFF"/>
                </a:solidFill>
                <a:latin typeface="Arial" pitchFamily="34" charset="0"/>
                <a:ea typeface="Arial" pitchFamily="34" charset="-122"/>
                <a:cs typeface="Arial" pitchFamily="34" charset="-120"/>
              </a:rPr>
              <a:t>سبعة أدوار ذكاء اصطناعي مستقلّة، منها وكيلان (★) يتّخذان خطوات بأنفسهما — ولكلٍّ موجّهه ونموذجه وحصته، وتكلفته تُقاس لكل شركة.</a:t>
            </a:r>
            <a:endParaRPr lang="ar-SA" sz="1050" dirty="0"/>
          </a:p>
        </p:txBody>
      </p:sp>
      <p:sp>
        <p:nvSpPr>
          <p:cNvPr id="10" name="Shape 8"/>
          <p:cNvSpPr/>
          <p:nvPr/>
        </p:nvSpPr>
        <p:spPr>
          <a:xfrm>
            <a:off x="6638544" y="1783080"/>
            <a:ext cx="1938528" cy="713232"/>
          </a:xfrm>
          <a:prstGeom prst="roundRect">
            <a:avLst>
              <a:gd name="adj" fmla="val 12821"/>
            </a:avLst>
          </a:prstGeom>
          <a:solidFill>
            <a:srgbClr val="E9EEF6"/>
          </a:solidFill>
          <a:ln w="12700">
            <a:solidFill>
              <a:srgbClr val="E9EEF6"/>
            </a:solidFill>
            <a:prstDash val="solid"/>
          </a:ln>
        </p:spPr>
      </p:sp>
      <p:sp>
        <p:nvSpPr>
          <p:cNvPr id="11" name="Text 9"/>
          <p:cNvSpPr txBox="1"/>
          <p:nvPr/>
        </p:nvSpPr>
        <p:spPr>
          <a:xfrm>
            <a:off x="6748272" y="1874520"/>
            <a:ext cx="1719072" cy="219456"/>
          </a:xfrm>
          <a:prstGeom prst="rect">
            <a:avLst/>
          </a:prstGeom>
          <a:noFill/>
          <a:ln/>
        </p:spPr>
        <p:txBody>
          <a:bodyPr wrap="square" lIns="0" tIns="0" rIns="0" bIns="0" rtlCol="0" anchor="t"/>
          <a:lstStyle/>
          <a:p>
            <a:pPr rtl="1" algn="r" indent="0" marL="0">
              <a:buNone/>
            </a:pPr>
            <a:r>
              <a:rPr lang="ar-SA" altLang="en-US" sz="1050" b="1" dirty="0">
                <a:solidFill>
                  <a:srgbClr val="1E3967"/>
                </a:solidFill>
                <a:latin typeface="Arial" pitchFamily="34" charset="0"/>
                <a:ea typeface="Arial" pitchFamily="34" charset="-122"/>
                <a:cs typeface="Arial" pitchFamily="34" charset="-120"/>
              </a:rPr>
              <a:t>١ · المساعد الرئيسي</a:t>
            </a:r>
            <a:endParaRPr lang="ar-SA" sz="1050" dirty="0"/>
          </a:p>
        </p:txBody>
      </p:sp>
      <p:sp>
        <p:nvSpPr>
          <p:cNvPr id="12" name="Text 10"/>
          <p:cNvSpPr txBox="1"/>
          <p:nvPr/>
        </p:nvSpPr>
        <p:spPr>
          <a:xfrm>
            <a:off x="6748272" y="2112264"/>
            <a:ext cx="1719072" cy="329184"/>
          </a:xfrm>
          <a:prstGeom prst="rect">
            <a:avLst/>
          </a:prstGeom>
          <a:noFill/>
          <a:ln/>
        </p:spPr>
        <p:txBody>
          <a:bodyPr wrap="square" lIns="0" tIns="0" rIns="0" bIns="0" rtlCol="0" anchor="t"/>
          <a:lstStyle/>
          <a:p>
            <a:pPr rtl="1" algn="r" indent="0" marL="0">
              <a:lnSpc>
                <a:spcPct val="110000"/>
              </a:lnSpc>
              <a:buNone/>
            </a:pPr>
            <a:r>
              <a:rPr lang="ar-SA" altLang="en-US" sz="850" dirty="0">
                <a:solidFill>
                  <a:srgbClr val="1B2330"/>
                </a:solidFill>
                <a:latin typeface="Arial" pitchFamily="34" charset="0"/>
                <a:ea typeface="Arial" pitchFamily="34" charset="-122"/>
                <a:cs typeface="Arial" pitchFamily="34" charset="-120"/>
              </a:rPr>
              <a:t>يجيب من مستندات الشركة بصلاحيات السائل</a:t>
            </a:r>
            <a:endParaRPr lang="ar-SA" sz="850" dirty="0"/>
          </a:p>
        </p:txBody>
      </p:sp>
      <p:sp>
        <p:nvSpPr>
          <p:cNvPr id="13" name="Shape 11"/>
          <p:cNvSpPr/>
          <p:nvPr/>
        </p:nvSpPr>
        <p:spPr>
          <a:xfrm>
            <a:off x="4608576" y="1783080"/>
            <a:ext cx="1938528" cy="713232"/>
          </a:xfrm>
          <a:prstGeom prst="roundRect">
            <a:avLst>
              <a:gd name="adj" fmla="val 12821"/>
            </a:avLst>
          </a:prstGeom>
          <a:solidFill>
            <a:srgbClr val="E9EEF6"/>
          </a:solidFill>
          <a:ln w="12700">
            <a:solidFill>
              <a:srgbClr val="E9EEF6"/>
            </a:solidFill>
            <a:prstDash val="solid"/>
          </a:ln>
        </p:spPr>
      </p:sp>
      <p:sp>
        <p:nvSpPr>
          <p:cNvPr id="14" name="Text 12"/>
          <p:cNvSpPr txBox="1"/>
          <p:nvPr/>
        </p:nvSpPr>
        <p:spPr>
          <a:xfrm>
            <a:off x="4718304" y="1874520"/>
            <a:ext cx="1719072" cy="219456"/>
          </a:xfrm>
          <a:prstGeom prst="rect">
            <a:avLst/>
          </a:prstGeom>
          <a:noFill/>
          <a:ln/>
        </p:spPr>
        <p:txBody>
          <a:bodyPr wrap="square" lIns="0" tIns="0" rIns="0" bIns="0" rtlCol="0" anchor="t"/>
          <a:lstStyle/>
          <a:p>
            <a:pPr rtl="1" algn="r" indent="0" marL="0">
              <a:buNone/>
            </a:pPr>
            <a:r>
              <a:rPr lang="ar-SA" altLang="en-US" sz="1050" b="1" dirty="0">
                <a:solidFill>
                  <a:srgbClr val="1E3967"/>
                </a:solidFill>
                <a:latin typeface="Arial" pitchFamily="34" charset="0"/>
                <a:ea typeface="Arial" pitchFamily="34" charset="-122"/>
                <a:cs typeface="Arial" pitchFamily="34" charset="-120"/>
              </a:rPr>
              <a:t>٢ · الصياغة الإنقاذية</a:t>
            </a:r>
            <a:endParaRPr lang="ar-SA" sz="1050" dirty="0"/>
          </a:p>
        </p:txBody>
      </p:sp>
      <p:sp>
        <p:nvSpPr>
          <p:cNvPr id="15" name="Text 13"/>
          <p:cNvSpPr txBox="1"/>
          <p:nvPr/>
        </p:nvSpPr>
        <p:spPr>
          <a:xfrm>
            <a:off x="4718304" y="2112264"/>
            <a:ext cx="1719072" cy="329184"/>
          </a:xfrm>
          <a:prstGeom prst="rect">
            <a:avLst/>
          </a:prstGeom>
          <a:noFill/>
          <a:ln/>
        </p:spPr>
        <p:txBody>
          <a:bodyPr wrap="square" lIns="0" tIns="0" rIns="0" bIns="0" rtlCol="0" anchor="t"/>
          <a:lstStyle/>
          <a:p>
            <a:pPr rtl="1" algn="r" indent="0" marL="0">
              <a:lnSpc>
                <a:spcPct val="110000"/>
              </a:lnSpc>
              <a:buNone/>
            </a:pPr>
            <a:r>
              <a:rPr lang="ar-SA" altLang="en-US" sz="850" dirty="0">
                <a:solidFill>
                  <a:srgbClr val="1B2330"/>
                </a:solidFill>
                <a:latin typeface="Arial" pitchFamily="34" charset="0"/>
                <a:ea typeface="Arial" pitchFamily="34" charset="-122"/>
                <a:cs typeface="Arial" pitchFamily="34" charset="-120"/>
              </a:rPr>
              <a:t>يعيد صوغ السؤال إن رجع البحث خاويًا</a:t>
            </a:r>
            <a:endParaRPr lang="ar-SA" sz="850" dirty="0"/>
          </a:p>
        </p:txBody>
      </p:sp>
      <p:sp>
        <p:nvSpPr>
          <p:cNvPr id="16" name="Shape 14"/>
          <p:cNvSpPr/>
          <p:nvPr/>
        </p:nvSpPr>
        <p:spPr>
          <a:xfrm>
            <a:off x="2578608" y="1783080"/>
            <a:ext cx="1938528" cy="713232"/>
          </a:xfrm>
          <a:prstGeom prst="roundRect">
            <a:avLst>
              <a:gd name="adj" fmla="val 12821"/>
            </a:avLst>
          </a:prstGeom>
          <a:solidFill>
            <a:srgbClr val="E9EEF6"/>
          </a:solidFill>
          <a:ln w="12700">
            <a:solidFill>
              <a:srgbClr val="E9EEF6"/>
            </a:solidFill>
            <a:prstDash val="solid"/>
          </a:ln>
        </p:spPr>
      </p:sp>
      <p:sp>
        <p:nvSpPr>
          <p:cNvPr id="17" name="Text 15"/>
          <p:cNvSpPr txBox="1"/>
          <p:nvPr/>
        </p:nvSpPr>
        <p:spPr>
          <a:xfrm>
            <a:off x="2688336" y="1874520"/>
            <a:ext cx="1719072" cy="219456"/>
          </a:xfrm>
          <a:prstGeom prst="rect">
            <a:avLst/>
          </a:prstGeom>
          <a:noFill/>
          <a:ln/>
        </p:spPr>
        <p:txBody>
          <a:bodyPr wrap="square" lIns="0" tIns="0" rIns="0" bIns="0" rtlCol="0" anchor="t"/>
          <a:lstStyle/>
          <a:p>
            <a:pPr rtl="1" algn="r" indent="0" marL="0">
              <a:buNone/>
            </a:pPr>
            <a:r>
              <a:rPr lang="ar-SA" altLang="en-US" sz="1050" b="1" dirty="0">
                <a:solidFill>
                  <a:srgbClr val="1E3967"/>
                </a:solidFill>
                <a:latin typeface="Arial" pitchFamily="34" charset="0"/>
                <a:ea typeface="Arial" pitchFamily="34" charset="-122"/>
                <a:cs typeface="Arial" pitchFamily="34" charset="-120"/>
              </a:rPr>
              <a:t>٣ · وكيل الفجوة ★</a:t>
            </a:r>
            <a:endParaRPr lang="ar-SA" sz="1050" dirty="0"/>
          </a:p>
        </p:txBody>
      </p:sp>
      <p:sp>
        <p:nvSpPr>
          <p:cNvPr id="18" name="Text 16"/>
          <p:cNvSpPr txBox="1"/>
          <p:nvPr/>
        </p:nvSpPr>
        <p:spPr>
          <a:xfrm>
            <a:off x="2688336" y="2112264"/>
            <a:ext cx="1719072" cy="329184"/>
          </a:xfrm>
          <a:prstGeom prst="rect">
            <a:avLst/>
          </a:prstGeom>
          <a:noFill/>
          <a:ln/>
        </p:spPr>
        <p:txBody>
          <a:bodyPr wrap="square" lIns="0" tIns="0" rIns="0" bIns="0" rtlCol="0" anchor="t"/>
          <a:lstStyle/>
          <a:p>
            <a:pPr rtl="1" algn="r" indent="0" marL="0">
              <a:lnSpc>
                <a:spcPct val="110000"/>
              </a:lnSpc>
              <a:buNone/>
            </a:pPr>
            <a:r>
              <a:rPr lang="ar-SA" altLang="en-US" sz="850" dirty="0">
                <a:solidFill>
                  <a:srgbClr val="1B2330"/>
                </a:solidFill>
                <a:latin typeface="Arial" pitchFamily="34" charset="0"/>
                <a:ea typeface="Arial" pitchFamily="34" charset="-122"/>
                <a:cs typeface="Arial" pitchFamily="34" charset="-120"/>
              </a:rPr>
              <a:t>يبحث ثم يصوغ مسودة جواب يعتمدها المدير</a:t>
            </a:r>
            <a:endParaRPr lang="ar-SA" sz="850" dirty="0"/>
          </a:p>
        </p:txBody>
      </p:sp>
      <p:sp>
        <p:nvSpPr>
          <p:cNvPr id="19" name="Shape 17"/>
          <p:cNvSpPr/>
          <p:nvPr/>
        </p:nvSpPr>
        <p:spPr>
          <a:xfrm>
            <a:off x="548640" y="1783080"/>
            <a:ext cx="1938528" cy="713232"/>
          </a:xfrm>
          <a:prstGeom prst="roundRect">
            <a:avLst>
              <a:gd name="adj" fmla="val 12821"/>
            </a:avLst>
          </a:prstGeom>
          <a:solidFill>
            <a:srgbClr val="E9EEF6"/>
          </a:solidFill>
          <a:ln w="12700">
            <a:solidFill>
              <a:srgbClr val="E9EEF6"/>
            </a:solidFill>
            <a:prstDash val="solid"/>
          </a:ln>
        </p:spPr>
      </p:sp>
      <p:sp>
        <p:nvSpPr>
          <p:cNvPr id="20" name="Text 18"/>
          <p:cNvSpPr txBox="1"/>
          <p:nvPr/>
        </p:nvSpPr>
        <p:spPr>
          <a:xfrm>
            <a:off x="658368" y="1874520"/>
            <a:ext cx="1719072" cy="219456"/>
          </a:xfrm>
          <a:prstGeom prst="rect">
            <a:avLst/>
          </a:prstGeom>
          <a:noFill/>
          <a:ln/>
        </p:spPr>
        <p:txBody>
          <a:bodyPr wrap="square" lIns="0" tIns="0" rIns="0" bIns="0" rtlCol="0" anchor="t"/>
          <a:lstStyle/>
          <a:p>
            <a:pPr rtl="1" algn="r" indent="0" marL="0">
              <a:buNone/>
            </a:pPr>
            <a:r>
              <a:rPr lang="ar-SA" altLang="en-US" sz="1050" b="1" dirty="0">
                <a:solidFill>
                  <a:srgbClr val="1E3967"/>
                </a:solidFill>
                <a:latin typeface="Arial" pitchFamily="34" charset="0"/>
                <a:ea typeface="Arial" pitchFamily="34" charset="-122"/>
                <a:cs typeface="Arial" pitchFamily="34" charset="-120"/>
              </a:rPr>
              <a:t>٤ · مساعد الموقع</a:t>
            </a:r>
            <a:endParaRPr lang="ar-SA" sz="1050" dirty="0"/>
          </a:p>
        </p:txBody>
      </p:sp>
      <p:sp>
        <p:nvSpPr>
          <p:cNvPr id="21" name="Text 19"/>
          <p:cNvSpPr txBox="1"/>
          <p:nvPr/>
        </p:nvSpPr>
        <p:spPr>
          <a:xfrm>
            <a:off x="658368" y="2112264"/>
            <a:ext cx="1719072" cy="329184"/>
          </a:xfrm>
          <a:prstGeom prst="rect">
            <a:avLst/>
          </a:prstGeom>
          <a:noFill/>
          <a:ln/>
        </p:spPr>
        <p:txBody>
          <a:bodyPr wrap="square" lIns="0" tIns="0" rIns="0" bIns="0" rtlCol="0" anchor="t"/>
          <a:lstStyle/>
          <a:p>
            <a:pPr rtl="1" algn="r" indent="0" marL="0">
              <a:lnSpc>
                <a:spcPct val="110000"/>
              </a:lnSpc>
              <a:buNone/>
            </a:pPr>
            <a:r>
              <a:rPr lang="ar-SA" altLang="en-US" sz="850" dirty="0">
                <a:solidFill>
                  <a:srgbClr val="1B2330"/>
                </a:solidFill>
                <a:latin typeface="Arial" pitchFamily="34" charset="0"/>
                <a:ea typeface="Arial" pitchFamily="34" charset="-122"/>
                <a:cs typeface="Arial" pitchFamily="34" charset="-120"/>
              </a:rPr>
              <a:t>يجيب الزوّار بمعزل عن بيانات أي شركة</a:t>
            </a:r>
            <a:endParaRPr lang="ar-SA" sz="850" dirty="0"/>
          </a:p>
        </p:txBody>
      </p:sp>
      <p:sp>
        <p:nvSpPr>
          <p:cNvPr id="22" name="Shape 20"/>
          <p:cNvSpPr/>
          <p:nvPr/>
        </p:nvSpPr>
        <p:spPr>
          <a:xfrm>
            <a:off x="6638544" y="2569464"/>
            <a:ext cx="1938528" cy="713232"/>
          </a:xfrm>
          <a:prstGeom prst="roundRect">
            <a:avLst>
              <a:gd name="adj" fmla="val 12821"/>
            </a:avLst>
          </a:prstGeom>
          <a:solidFill>
            <a:srgbClr val="FFFFFF"/>
          </a:solidFill>
          <a:ln w="12700">
            <a:solidFill>
              <a:srgbClr val="D9DEE7"/>
            </a:solidFill>
            <a:prstDash val="solid"/>
          </a:ln>
        </p:spPr>
      </p:sp>
      <p:sp>
        <p:nvSpPr>
          <p:cNvPr id="23" name="Text 21"/>
          <p:cNvSpPr txBox="1"/>
          <p:nvPr/>
        </p:nvSpPr>
        <p:spPr>
          <a:xfrm>
            <a:off x="6748272" y="2660904"/>
            <a:ext cx="1719072" cy="219456"/>
          </a:xfrm>
          <a:prstGeom prst="rect">
            <a:avLst/>
          </a:prstGeom>
          <a:noFill/>
          <a:ln/>
        </p:spPr>
        <p:txBody>
          <a:bodyPr wrap="square" lIns="0" tIns="0" rIns="0" bIns="0" rtlCol="0" anchor="t"/>
          <a:lstStyle/>
          <a:p>
            <a:pPr rtl="1" algn="r" indent="0" marL="0">
              <a:buNone/>
            </a:pPr>
            <a:r>
              <a:rPr lang="ar-SA" altLang="en-US" sz="1050" b="1" dirty="0">
                <a:solidFill>
                  <a:srgbClr val="1E3967"/>
                </a:solidFill>
                <a:latin typeface="Arial" pitchFamily="34" charset="0"/>
                <a:ea typeface="Arial" pitchFamily="34" charset="-122"/>
                <a:cs typeface="Arial" pitchFamily="34" charset="-120"/>
              </a:rPr>
              <a:t>٥ · وكيل واتساب ★</a:t>
            </a:r>
            <a:endParaRPr lang="ar-SA" sz="1050" dirty="0"/>
          </a:p>
        </p:txBody>
      </p:sp>
      <p:sp>
        <p:nvSpPr>
          <p:cNvPr id="24" name="Text 22"/>
          <p:cNvSpPr txBox="1"/>
          <p:nvPr/>
        </p:nvSpPr>
        <p:spPr>
          <a:xfrm>
            <a:off x="6748272" y="2898648"/>
            <a:ext cx="1719072" cy="329184"/>
          </a:xfrm>
          <a:prstGeom prst="rect">
            <a:avLst/>
          </a:prstGeom>
          <a:noFill/>
          <a:ln/>
        </p:spPr>
        <p:txBody>
          <a:bodyPr wrap="square" lIns="0" tIns="0" rIns="0" bIns="0" rtlCol="0" anchor="t"/>
          <a:lstStyle/>
          <a:p>
            <a:pPr rtl="1" algn="r" indent="0" marL="0">
              <a:lnSpc>
                <a:spcPct val="110000"/>
              </a:lnSpc>
              <a:buNone/>
            </a:pPr>
            <a:r>
              <a:rPr lang="ar-SA" altLang="en-US" sz="850" dirty="0">
                <a:solidFill>
                  <a:srgbClr val="1B2330"/>
                </a:solidFill>
                <a:latin typeface="Arial" pitchFamily="34" charset="0"/>
                <a:ea typeface="Arial" pitchFamily="34" charset="-122"/>
                <a:cs typeface="Arial" pitchFamily="34" charset="-120"/>
              </a:rPr>
              <a:t>يتحقق من الهوية ثم يجيب بصلاحياتها</a:t>
            </a:r>
            <a:endParaRPr lang="ar-SA" sz="850" dirty="0"/>
          </a:p>
        </p:txBody>
      </p:sp>
      <p:sp>
        <p:nvSpPr>
          <p:cNvPr id="25" name="Shape 23"/>
          <p:cNvSpPr/>
          <p:nvPr/>
        </p:nvSpPr>
        <p:spPr>
          <a:xfrm>
            <a:off x="4608576" y="2569464"/>
            <a:ext cx="1938528" cy="713232"/>
          </a:xfrm>
          <a:prstGeom prst="roundRect">
            <a:avLst>
              <a:gd name="adj" fmla="val 12821"/>
            </a:avLst>
          </a:prstGeom>
          <a:solidFill>
            <a:srgbClr val="FFFFFF"/>
          </a:solidFill>
          <a:ln w="12700">
            <a:solidFill>
              <a:srgbClr val="D9DEE7"/>
            </a:solidFill>
            <a:prstDash val="solid"/>
          </a:ln>
        </p:spPr>
      </p:sp>
      <p:sp>
        <p:nvSpPr>
          <p:cNvPr id="26" name="Text 24"/>
          <p:cNvSpPr txBox="1"/>
          <p:nvPr/>
        </p:nvSpPr>
        <p:spPr>
          <a:xfrm>
            <a:off x="4718304" y="2660904"/>
            <a:ext cx="1719072" cy="219456"/>
          </a:xfrm>
          <a:prstGeom prst="rect">
            <a:avLst/>
          </a:prstGeom>
          <a:noFill/>
          <a:ln/>
        </p:spPr>
        <p:txBody>
          <a:bodyPr wrap="square" lIns="0" tIns="0" rIns="0" bIns="0" rtlCol="0" anchor="t"/>
          <a:lstStyle/>
          <a:p>
            <a:pPr rtl="1" algn="r" indent="0" marL="0">
              <a:buNone/>
            </a:pPr>
            <a:r>
              <a:rPr lang="ar-SA" altLang="en-US" sz="1050" b="1" dirty="0">
                <a:solidFill>
                  <a:srgbClr val="1E3967"/>
                </a:solidFill>
                <a:latin typeface="Arial" pitchFamily="34" charset="0"/>
                <a:ea typeface="Arial" pitchFamily="34" charset="-122"/>
                <a:cs typeface="Arial" pitchFamily="34" charset="-120"/>
              </a:rPr>
              <a:t>٦ · عنوان المحادثة</a:t>
            </a:r>
            <a:endParaRPr lang="ar-SA" sz="1050" dirty="0"/>
          </a:p>
        </p:txBody>
      </p:sp>
      <p:sp>
        <p:nvSpPr>
          <p:cNvPr id="27" name="Text 25"/>
          <p:cNvSpPr txBox="1"/>
          <p:nvPr/>
        </p:nvSpPr>
        <p:spPr>
          <a:xfrm>
            <a:off x="4718304" y="2898648"/>
            <a:ext cx="1719072" cy="329184"/>
          </a:xfrm>
          <a:prstGeom prst="rect">
            <a:avLst/>
          </a:prstGeom>
          <a:noFill/>
          <a:ln/>
        </p:spPr>
        <p:txBody>
          <a:bodyPr wrap="square" lIns="0" tIns="0" rIns="0" bIns="0" rtlCol="0" anchor="t"/>
          <a:lstStyle/>
          <a:p>
            <a:pPr rtl="1" algn="r" indent="0" marL="0">
              <a:lnSpc>
                <a:spcPct val="110000"/>
              </a:lnSpc>
              <a:buNone/>
            </a:pPr>
            <a:r>
              <a:rPr lang="ar-SA" altLang="en-US" sz="850" dirty="0">
                <a:solidFill>
                  <a:srgbClr val="1B2330"/>
                </a:solidFill>
                <a:latin typeface="Arial" pitchFamily="34" charset="0"/>
                <a:ea typeface="Arial" pitchFamily="34" charset="-122"/>
                <a:cs typeface="Arial" pitchFamily="34" charset="-120"/>
              </a:rPr>
              <a:t>يصوغ عنوانًا قصيرًا لكل محادثة</a:t>
            </a:r>
            <a:endParaRPr lang="ar-SA" sz="850" dirty="0"/>
          </a:p>
        </p:txBody>
      </p:sp>
      <p:sp>
        <p:nvSpPr>
          <p:cNvPr id="28" name="Shape 26"/>
          <p:cNvSpPr/>
          <p:nvPr/>
        </p:nvSpPr>
        <p:spPr>
          <a:xfrm>
            <a:off x="2578608" y="2569464"/>
            <a:ext cx="1938528" cy="713232"/>
          </a:xfrm>
          <a:prstGeom prst="roundRect">
            <a:avLst>
              <a:gd name="adj" fmla="val 12821"/>
            </a:avLst>
          </a:prstGeom>
          <a:solidFill>
            <a:srgbClr val="FFFFFF"/>
          </a:solidFill>
          <a:ln w="12700">
            <a:solidFill>
              <a:srgbClr val="D9DEE7"/>
            </a:solidFill>
            <a:prstDash val="solid"/>
          </a:ln>
        </p:spPr>
      </p:sp>
      <p:sp>
        <p:nvSpPr>
          <p:cNvPr id="29" name="Text 27"/>
          <p:cNvSpPr txBox="1"/>
          <p:nvPr/>
        </p:nvSpPr>
        <p:spPr>
          <a:xfrm>
            <a:off x="2688336" y="2660904"/>
            <a:ext cx="1719072" cy="219456"/>
          </a:xfrm>
          <a:prstGeom prst="rect">
            <a:avLst/>
          </a:prstGeom>
          <a:noFill/>
          <a:ln/>
        </p:spPr>
        <p:txBody>
          <a:bodyPr wrap="square" lIns="0" tIns="0" rIns="0" bIns="0" rtlCol="0" anchor="t"/>
          <a:lstStyle/>
          <a:p>
            <a:pPr rtl="1" algn="r" indent="0" marL="0">
              <a:buNone/>
            </a:pPr>
            <a:r>
              <a:rPr lang="ar-SA" altLang="en-US" sz="1050" b="1" dirty="0">
                <a:solidFill>
                  <a:srgbClr val="1E3967"/>
                </a:solidFill>
                <a:latin typeface="Arial" pitchFamily="34" charset="0"/>
                <a:ea typeface="Arial" pitchFamily="34" charset="-122"/>
                <a:cs typeface="Arial" pitchFamily="34" charset="-120"/>
              </a:rPr>
              <a:t>٧ · القراءة الضوئية</a:t>
            </a:r>
            <a:endParaRPr lang="ar-SA" sz="1050" dirty="0"/>
          </a:p>
        </p:txBody>
      </p:sp>
      <p:sp>
        <p:nvSpPr>
          <p:cNvPr id="30" name="Text 28"/>
          <p:cNvSpPr txBox="1"/>
          <p:nvPr/>
        </p:nvSpPr>
        <p:spPr>
          <a:xfrm>
            <a:off x="2688336" y="2898648"/>
            <a:ext cx="1719072" cy="329184"/>
          </a:xfrm>
          <a:prstGeom prst="rect">
            <a:avLst/>
          </a:prstGeom>
          <a:noFill/>
          <a:ln/>
        </p:spPr>
        <p:txBody>
          <a:bodyPr wrap="square" lIns="0" tIns="0" rIns="0" bIns="0" rtlCol="0" anchor="t"/>
          <a:lstStyle/>
          <a:p>
            <a:pPr rtl="1" algn="r" indent="0" marL="0">
              <a:lnSpc>
                <a:spcPct val="110000"/>
              </a:lnSpc>
              <a:buNone/>
            </a:pPr>
            <a:r>
              <a:rPr lang="ar-SA" altLang="en-US" sz="850" dirty="0">
                <a:solidFill>
                  <a:srgbClr val="1B2330"/>
                </a:solidFill>
                <a:latin typeface="Arial" pitchFamily="34" charset="0"/>
                <a:ea typeface="Arial" pitchFamily="34" charset="-122"/>
                <a:cs typeface="Arial" pitchFamily="34" charset="-120"/>
              </a:rPr>
              <a:t>ينسخ المسوحات والصور صفحةً صفحة</a:t>
            </a:r>
            <a:endParaRPr lang="ar-SA" sz="850" dirty="0"/>
          </a:p>
        </p:txBody>
      </p:sp>
      <p:sp>
        <p:nvSpPr>
          <p:cNvPr id="31" name="Text 29"/>
          <p:cNvSpPr txBox="1"/>
          <p:nvPr/>
        </p:nvSpPr>
        <p:spPr>
          <a:xfrm>
            <a:off x="548640" y="3429000"/>
            <a:ext cx="8046720" cy="256032"/>
          </a:xfrm>
          <a:prstGeom prst="rect">
            <a:avLst/>
          </a:prstGeom>
          <a:noFill/>
          <a:ln/>
        </p:spPr>
        <p:txBody>
          <a:bodyPr wrap="square" lIns="0" tIns="0" rIns="0" bIns="0" rtlCol="0" anchor="t"/>
          <a:lstStyle/>
          <a:p>
            <a:pPr rtl="1" algn="r" indent="0" marL="0">
              <a:buNone/>
            </a:pPr>
            <a:r>
              <a:rPr lang="ar-SA" altLang="en-US" sz="1100" b="1" dirty="0">
                <a:solidFill>
                  <a:srgbClr val="1E3967"/>
                </a:solidFill>
                <a:latin typeface="Arial" pitchFamily="34" charset="0"/>
                <a:ea typeface="Arial" pitchFamily="34" charset="-122"/>
                <a:cs typeface="Arial" pitchFamily="34" charset="-120"/>
              </a:rPr>
              <a:t>ولا يُستدعى نموذج حيث تكفي الحتمية — أربع ركائز بلا نموذج:</a:t>
            </a:r>
            <a:endParaRPr lang="ar-SA" sz="1100" dirty="0"/>
          </a:p>
        </p:txBody>
      </p:sp>
      <p:sp>
        <p:nvSpPr>
          <p:cNvPr id="32" name="Shape 30"/>
          <p:cNvSpPr/>
          <p:nvPr/>
        </p:nvSpPr>
        <p:spPr>
          <a:xfrm>
            <a:off x="6638544" y="3730752"/>
            <a:ext cx="1938528" cy="932688"/>
          </a:xfrm>
          <a:prstGeom prst="roundRect">
            <a:avLst>
              <a:gd name="adj" fmla="val 9804"/>
            </a:avLst>
          </a:prstGeom>
          <a:solidFill>
            <a:srgbClr val="F7F4EC"/>
          </a:solidFill>
          <a:ln w="12700">
            <a:solidFill>
              <a:srgbClr val="C9A24C"/>
            </a:solidFill>
            <a:prstDash val="solid"/>
          </a:ln>
        </p:spPr>
      </p:sp>
      <p:sp>
        <p:nvSpPr>
          <p:cNvPr id="33" name="Text 31"/>
          <p:cNvSpPr txBox="1"/>
          <p:nvPr/>
        </p:nvSpPr>
        <p:spPr>
          <a:xfrm>
            <a:off x="6748272" y="3803904"/>
            <a:ext cx="1719072" cy="219456"/>
          </a:xfrm>
          <a:prstGeom prst="rect">
            <a:avLst/>
          </a:prstGeom>
          <a:noFill/>
          <a:ln/>
        </p:spPr>
        <p:txBody>
          <a:bodyPr wrap="square" lIns="0" tIns="0" rIns="0" bIns="0" rtlCol="0" anchor="t"/>
          <a:lstStyle/>
          <a:p>
            <a:pPr rtl="1" algn="r" indent="0" marL="0">
              <a:buNone/>
            </a:pPr>
            <a:r>
              <a:rPr lang="ar-SA" altLang="en-US" sz="1000" b="1" dirty="0">
                <a:solidFill>
                  <a:srgbClr val="1E3967"/>
                </a:solidFill>
                <a:latin typeface="Arial" pitchFamily="34" charset="0"/>
                <a:ea typeface="Arial" pitchFamily="34" charset="-122"/>
                <a:cs typeface="Arial" pitchFamily="34" charset="-120"/>
              </a:rPr>
              <a:t>استرجاع هجين</a:t>
            </a:r>
            <a:endParaRPr lang="ar-SA" sz="1000" dirty="0"/>
          </a:p>
        </p:txBody>
      </p:sp>
      <p:sp>
        <p:nvSpPr>
          <p:cNvPr id="34" name="Text 32"/>
          <p:cNvSpPr txBox="1"/>
          <p:nvPr/>
        </p:nvSpPr>
        <p:spPr>
          <a:xfrm>
            <a:off x="6748272" y="4023360"/>
            <a:ext cx="1719072" cy="566928"/>
          </a:xfrm>
          <a:prstGeom prst="rect">
            <a:avLst/>
          </a:prstGeom>
          <a:noFill/>
          <a:ln/>
        </p:spPr>
        <p:txBody>
          <a:bodyPr wrap="square" lIns="0" tIns="0" rIns="0" bIns="0" rtlCol="0" anchor="t"/>
          <a:lstStyle/>
          <a:p>
            <a:pPr rtl="1" algn="r" indent="0" marL="0">
              <a:lnSpc>
                <a:spcPct val="108000"/>
              </a:lnSpc>
              <a:buNone/>
            </a:pPr>
            <a:r>
              <a:rPr lang="ar-SA" altLang="en-US" sz="760" dirty="0">
                <a:solidFill>
                  <a:srgbClr val="1B2330"/>
                </a:solidFill>
                <a:latin typeface="Arial" pitchFamily="34" charset="0"/>
                <a:ea typeface="Arial" pitchFamily="34" charset="-122"/>
                <a:cs typeface="Arial" pitchFamily="34" charset="-120"/>
              </a:rPr>
              <a:t>دلاليّ بالمتجهات + لفظيّ عربي (تطبيع وتجذير داخل القاعدة)، يُدمجان برتبة متبادلة فيُلتقط المعنى والمصطلح الحرفي معًا.</a:t>
            </a:r>
            <a:endParaRPr lang="ar-SA" sz="760" dirty="0"/>
          </a:p>
        </p:txBody>
      </p:sp>
      <p:sp>
        <p:nvSpPr>
          <p:cNvPr id="35" name="Shape 33"/>
          <p:cNvSpPr/>
          <p:nvPr/>
        </p:nvSpPr>
        <p:spPr>
          <a:xfrm>
            <a:off x="4608576" y="3730752"/>
            <a:ext cx="1938528" cy="932688"/>
          </a:xfrm>
          <a:prstGeom prst="roundRect">
            <a:avLst>
              <a:gd name="adj" fmla="val 9804"/>
            </a:avLst>
          </a:prstGeom>
          <a:solidFill>
            <a:srgbClr val="F7F4EC"/>
          </a:solidFill>
          <a:ln w="12700">
            <a:solidFill>
              <a:srgbClr val="C9A24C"/>
            </a:solidFill>
            <a:prstDash val="solid"/>
          </a:ln>
        </p:spPr>
      </p:sp>
      <p:sp>
        <p:nvSpPr>
          <p:cNvPr id="36" name="Text 34"/>
          <p:cNvSpPr txBox="1"/>
          <p:nvPr/>
        </p:nvSpPr>
        <p:spPr>
          <a:xfrm>
            <a:off x="4718304" y="3803904"/>
            <a:ext cx="1719072" cy="219456"/>
          </a:xfrm>
          <a:prstGeom prst="rect">
            <a:avLst/>
          </a:prstGeom>
          <a:noFill/>
          <a:ln/>
        </p:spPr>
        <p:txBody>
          <a:bodyPr wrap="square" lIns="0" tIns="0" rIns="0" bIns="0" rtlCol="0" anchor="t"/>
          <a:lstStyle/>
          <a:p>
            <a:pPr rtl="1" algn="r" indent="0" marL="0">
              <a:buNone/>
            </a:pPr>
            <a:r>
              <a:rPr lang="ar-SA" altLang="en-US" sz="1000" b="1" dirty="0">
                <a:solidFill>
                  <a:srgbClr val="1E3967"/>
                </a:solidFill>
                <a:latin typeface="Arial" pitchFamily="34" charset="0"/>
                <a:ea typeface="Arial" pitchFamily="34" charset="-122"/>
                <a:cs typeface="Arial" pitchFamily="34" charset="-120"/>
              </a:rPr>
              <a:t>إصلاح PDF العربي</a:t>
            </a:r>
            <a:endParaRPr lang="ar-SA" sz="1000" dirty="0"/>
          </a:p>
        </p:txBody>
      </p:sp>
      <p:sp>
        <p:nvSpPr>
          <p:cNvPr id="37" name="Text 35"/>
          <p:cNvSpPr txBox="1"/>
          <p:nvPr/>
        </p:nvSpPr>
        <p:spPr>
          <a:xfrm>
            <a:off x="4718304" y="4023360"/>
            <a:ext cx="1719072" cy="566928"/>
          </a:xfrm>
          <a:prstGeom prst="rect">
            <a:avLst/>
          </a:prstGeom>
          <a:noFill/>
          <a:ln/>
        </p:spPr>
        <p:txBody>
          <a:bodyPr wrap="square" lIns="0" tIns="0" rIns="0" bIns="0" rtlCol="0" anchor="t"/>
          <a:lstStyle/>
          <a:p>
            <a:pPr rtl="1" algn="r" indent="0" marL="0">
              <a:lnSpc>
                <a:spcPct val="108000"/>
              </a:lnSpc>
              <a:buNone/>
            </a:pPr>
            <a:r>
              <a:rPr lang="ar-SA" altLang="en-US" sz="760" dirty="0">
                <a:solidFill>
                  <a:srgbClr val="1B2330"/>
                </a:solidFill>
                <a:latin typeface="Arial" pitchFamily="34" charset="0"/>
                <a:ea typeface="Arial" pitchFamily="34" charset="-122"/>
                <a:cs typeface="Arial" pitchFamily="34" charset="-120"/>
              </a:rPr>
              <a:t>أربع دوال تُصلح الحروف المبعثرة ولام-ألف المعكوسة والأرقام المشوّهة، وتقيس جودة الاستخراج وترفض ما لا يصلح.</a:t>
            </a:r>
            <a:endParaRPr lang="ar-SA" sz="760" dirty="0"/>
          </a:p>
        </p:txBody>
      </p:sp>
      <p:sp>
        <p:nvSpPr>
          <p:cNvPr id="38" name="Shape 36"/>
          <p:cNvSpPr/>
          <p:nvPr/>
        </p:nvSpPr>
        <p:spPr>
          <a:xfrm>
            <a:off x="2578608" y="3730752"/>
            <a:ext cx="1938528" cy="932688"/>
          </a:xfrm>
          <a:prstGeom prst="roundRect">
            <a:avLst>
              <a:gd name="adj" fmla="val 9804"/>
            </a:avLst>
          </a:prstGeom>
          <a:solidFill>
            <a:srgbClr val="F7F4EC"/>
          </a:solidFill>
          <a:ln w="12700">
            <a:solidFill>
              <a:srgbClr val="C9A24C"/>
            </a:solidFill>
            <a:prstDash val="solid"/>
          </a:ln>
        </p:spPr>
      </p:sp>
      <p:sp>
        <p:nvSpPr>
          <p:cNvPr id="39" name="Text 37"/>
          <p:cNvSpPr txBox="1"/>
          <p:nvPr/>
        </p:nvSpPr>
        <p:spPr>
          <a:xfrm>
            <a:off x="2688336" y="3803904"/>
            <a:ext cx="1719072" cy="219456"/>
          </a:xfrm>
          <a:prstGeom prst="rect">
            <a:avLst/>
          </a:prstGeom>
          <a:noFill/>
          <a:ln/>
        </p:spPr>
        <p:txBody>
          <a:bodyPr wrap="square" lIns="0" tIns="0" rIns="0" bIns="0" rtlCol="0" anchor="t"/>
          <a:lstStyle/>
          <a:p>
            <a:pPr rtl="1" algn="r" indent="0" marL="0">
              <a:buNone/>
            </a:pPr>
            <a:r>
              <a:rPr lang="ar-SA" altLang="en-US" sz="1000" b="1" dirty="0">
                <a:solidFill>
                  <a:srgbClr val="1E3967"/>
                </a:solidFill>
                <a:latin typeface="Arial" pitchFamily="34" charset="0"/>
                <a:ea typeface="Arial" pitchFamily="34" charset="-122"/>
                <a:cs typeface="Arial" pitchFamily="34" charset="-120"/>
              </a:rPr>
              <a:t>مدقّق حتميّ للأرقام</a:t>
            </a:r>
            <a:endParaRPr lang="ar-SA" sz="1000" dirty="0"/>
          </a:p>
        </p:txBody>
      </p:sp>
      <p:sp>
        <p:nvSpPr>
          <p:cNvPr id="40" name="Text 38"/>
          <p:cNvSpPr txBox="1"/>
          <p:nvPr/>
        </p:nvSpPr>
        <p:spPr>
          <a:xfrm>
            <a:off x="2688336" y="4023360"/>
            <a:ext cx="1719072" cy="566928"/>
          </a:xfrm>
          <a:prstGeom prst="rect">
            <a:avLst/>
          </a:prstGeom>
          <a:noFill/>
          <a:ln/>
        </p:spPr>
        <p:txBody>
          <a:bodyPr wrap="square" lIns="0" tIns="0" rIns="0" bIns="0" rtlCol="0" anchor="t"/>
          <a:lstStyle/>
          <a:p>
            <a:pPr rtl="1" algn="r" indent="0" marL="0">
              <a:lnSpc>
                <a:spcPct val="108000"/>
              </a:lnSpc>
              <a:buNone/>
            </a:pPr>
            <a:r>
              <a:rPr lang="ar-SA" altLang="en-US" sz="760" dirty="0">
                <a:solidFill>
                  <a:srgbClr val="1B2330"/>
                </a:solidFill>
                <a:latin typeface="Arial" pitchFamily="34" charset="0"/>
                <a:ea typeface="Arial" pitchFamily="34" charset="-122"/>
                <a:cs typeface="Arial" pitchFamily="34" charset="-120"/>
              </a:rPr>
              <a:t>يقارن كل رقم بنصّ مصدره بعد التوليد — بلا نموذج ثانٍ: لا تكلفة ولا زمن، ولا حَكَم قد يهلوس وهو يحكم على الهلوسة.</a:t>
            </a:r>
            <a:endParaRPr lang="ar-SA" sz="760" dirty="0"/>
          </a:p>
        </p:txBody>
      </p:sp>
      <p:sp>
        <p:nvSpPr>
          <p:cNvPr id="41" name="Shape 39"/>
          <p:cNvSpPr/>
          <p:nvPr/>
        </p:nvSpPr>
        <p:spPr>
          <a:xfrm>
            <a:off x="548640" y="3730752"/>
            <a:ext cx="1938528" cy="932688"/>
          </a:xfrm>
          <a:prstGeom prst="roundRect">
            <a:avLst>
              <a:gd name="adj" fmla="val 9804"/>
            </a:avLst>
          </a:prstGeom>
          <a:solidFill>
            <a:srgbClr val="F7F4EC"/>
          </a:solidFill>
          <a:ln w="12700">
            <a:solidFill>
              <a:srgbClr val="C9A24C"/>
            </a:solidFill>
            <a:prstDash val="solid"/>
          </a:ln>
        </p:spPr>
      </p:sp>
      <p:sp>
        <p:nvSpPr>
          <p:cNvPr id="42" name="Text 40"/>
          <p:cNvSpPr txBox="1"/>
          <p:nvPr/>
        </p:nvSpPr>
        <p:spPr>
          <a:xfrm>
            <a:off x="658368" y="3803904"/>
            <a:ext cx="1719072" cy="219456"/>
          </a:xfrm>
          <a:prstGeom prst="rect">
            <a:avLst/>
          </a:prstGeom>
          <a:noFill/>
          <a:ln/>
        </p:spPr>
        <p:txBody>
          <a:bodyPr wrap="square" lIns="0" tIns="0" rIns="0" bIns="0" rtlCol="0" anchor="t"/>
          <a:lstStyle/>
          <a:p>
            <a:pPr rtl="1" algn="r" indent="0" marL="0">
              <a:buNone/>
            </a:pPr>
            <a:r>
              <a:rPr lang="ar-SA" altLang="en-US" sz="1000" b="1" dirty="0">
                <a:solidFill>
                  <a:srgbClr val="1E3967"/>
                </a:solidFill>
                <a:latin typeface="Arial" pitchFamily="34" charset="0"/>
                <a:ea typeface="Arial" pitchFamily="34" charset="-122"/>
                <a:cs typeface="Arial" pitchFamily="34" charset="-120"/>
              </a:rPr>
              <a:t>حصانة ضدّ حقن الأوامر</a:t>
            </a:r>
            <a:endParaRPr lang="ar-SA" sz="1000" dirty="0"/>
          </a:p>
        </p:txBody>
      </p:sp>
      <p:sp>
        <p:nvSpPr>
          <p:cNvPr id="43" name="Text 41"/>
          <p:cNvSpPr txBox="1"/>
          <p:nvPr/>
        </p:nvSpPr>
        <p:spPr>
          <a:xfrm>
            <a:off x="658368" y="4023360"/>
            <a:ext cx="1719072" cy="566928"/>
          </a:xfrm>
          <a:prstGeom prst="rect">
            <a:avLst/>
          </a:prstGeom>
          <a:noFill/>
          <a:ln/>
        </p:spPr>
        <p:txBody>
          <a:bodyPr wrap="square" lIns="0" tIns="0" rIns="0" bIns="0" rtlCol="0" anchor="t"/>
          <a:lstStyle/>
          <a:p>
            <a:pPr rtl="1" algn="r" indent="0" marL="0">
              <a:lnSpc>
                <a:spcPct val="108000"/>
              </a:lnSpc>
              <a:buNone/>
            </a:pPr>
            <a:r>
              <a:rPr lang="ar-SA" altLang="en-US" sz="760" dirty="0">
                <a:solidFill>
                  <a:srgbClr val="1B2330"/>
                </a:solidFill>
                <a:latin typeface="Arial" pitchFamily="34" charset="0"/>
                <a:ea typeface="Arial" pitchFamily="34" charset="-122"/>
                <a:cs typeface="Arial" pitchFamily="34" charset="-120"/>
              </a:rPr>
              <a:t>نصّ المستند بيانات لا تعليمات: تُحيَّد علامات المصادر المزوّرة وعلامات الحدود وعناوين الأقسام.</a:t>
            </a:r>
            <a:endParaRPr lang="ar-SA" sz="76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411480" cy="411480"/>
          </a:xfrm>
          <a:prstGeom prst="roundRect">
            <a:avLst>
              <a:gd name="adj" fmla="val 25000"/>
            </a:avLst>
          </a:prstGeom>
          <a:solidFill>
            <a:srgbClr val="1E3967"/>
          </a:solidFill>
          <a:ln w="12700">
            <a:solidFill>
              <a:srgbClr val="1E3967"/>
            </a:solidFill>
            <a:prstDash val="solid"/>
          </a:ln>
        </p:spPr>
      </p:sp>
      <p:sp>
        <p:nvSpPr>
          <p:cNvPr id="3" name="Shape 1"/>
          <p:cNvSpPr/>
          <p:nvPr/>
        </p:nvSpPr>
        <p:spPr>
          <a:xfrm>
            <a:off x="622706" y="396850"/>
            <a:ext cx="213970" cy="213970"/>
          </a:xfrm>
          <a:prstGeom prst="diamond">
            <a:avLst/>
          </a:prstGeom>
          <a:solidFill>
            <a:srgbClr val="C9A24C"/>
          </a:solidFill>
          <a:ln w="12700">
            <a:solidFill>
              <a:srgbClr val="C9A24C"/>
            </a:solidFill>
            <a:prstDash val="solid"/>
          </a:ln>
        </p:spPr>
      </p:sp>
      <p:sp>
        <p:nvSpPr>
          <p:cNvPr id="4" name="Shape 2"/>
          <p:cNvSpPr/>
          <p:nvPr/>
        </p:nvSpPr>
        <p:spPr>
          <a:xfrm>
            <a:off x="795528" y="586130"/>
            <a:ext cx="106985" cy="106985"/>
          </a:xfrm>
          <a:prstGeom prst="diamond">
            <a:avLst/>
          </a:prstGeom>
          <a:solidFill>
            <a:srgbClr val="FFFFFF"/>
          </a:solidFill>
          <a:ln w="12700">
            <a:solidFill>
              <a:srgbClr val="FFFFFF"/>
            </a:solidFill>
            <a:prstDash val="solid"/>
          </a:ln>
        </p:spPr>
      </p:sp>
      <p:sp>
        <p:nvSpPr>
          <p:cNvPr id="5" name="Text 3"/>
          <p:cNvSpPr txBox="1"/>
          <p:nvPr/>
        </p:nvSpPr>
        <p:spPr>
          <a:xfrm>
            <a:off x="1188720" y="301752"/>
            <a:ext cx="7406640" cy="502920"/>
          </a:xfrm>
          <a:prstGeom prst="rect">
            <a:avLst/>
          </a:prstGeom>
          <a:noFill/>
          <a:ln/>
        </p:spPr>
        <p:txBody>
          <a:bodyPr wrap="square" lIns="0" tIns="0" rIns="0" bIns="0" rtlCol="0" anchor="t"/>
          <a:lstStyle/>
          <a:p>
            <a:pPr rtl="1" algn="r" indent="0" marL="0">
              <a:buNone/>
            </a:pPr>
            <a:r>
              <a:rPr lang="ar-SA" altLang="en-US" sz="2600" b="1" dirty="0">
                <a:solidFill>
                  <a:srgbClr val="1E3967"/>
                </a:solidFill>
                <a:latin typeface="Arial" pitchFamily="34" charset="0"/>
                <a:ea typeface="Arial" pitchFamily="34" charset="-122"/>
                <a:cs typeface="Arial" pitchFamily="34" charset="-120"/>
              </a:rPr>
              <a:t>نموذج العمل والسوق والقيمة</a:t>
            </a:r>
            <a:endParaRPr lang="ar-SA" sz="2600" dirty="0"/>
          </a:p>
        </p:txBody>
      </p:sp>
      <p:sp>
        <p:nvSpPr>
          <p:cNvPr id="6" name="Text 4"/>
          <p:cNvSpPr txBox="1"/>
          <p:nvPr/>
        </p:nvSpPr>
        <p:spPr>
          <a:xfrm>
            <a:off x="1188720" y="804672"/>
            <a:ext cx="7406640" cy="256032"/>
          </a:xfrm>
          <a:prstGeom prst="rect">
            <a:avLst/>
          </a:prstGeom>
          <a:noFill/>
          <a:ln/>
        </p:spPr>
        <p:txBody>
          <a:bodyPr wrap="square" lIns="0" tIns="0" rIns="0" bIns="0" rtlCol="0" anchor="t"/>
          <a:lstStyle/>
          <a:p>
            <a:pPr algn="r" indent="0" marL="0">
              <a:buNone/>
            </a:pPr>
            <a:r>
              <a:rPr lang="en-US" altLang="en-US" sz="1050" dirty="0">
                <a:solidFill>
                  <a:srgbClr val="5B6573"/>
                </a:solidFill>
                <a:latin typeface="Arial" pitchFamily="34" charset="0"/>
                <a:ea typeface="Arial" pitchFamily="34" charset="-122"/>
                <a:cs typeface="Arial" pitchFamily="34" charset="-120"/>
              </a:rPr>
              <a:t>Business model · market · value</a:t>
            </a:r>
            <a:endParaRPr lang="en-US" sz="1050" dirty="0"/>
          </a:p>
        </p:txBody>
      </p:sp>
      <p:sp>
        <p:nvSpPr>
          <p:cNvPr id="7" name="Text 5"/>
          <p:cNvSpPr txBox="1"/>
          <p:nvPr/>
        </p:nvSpPr>
        <p:spPr>
          <a:xfrm>
            <a:off x="548640" y="4754880"/>
            <a:ext cx="2743200" cy="228600"/>
          </a:xfrm>
          <a:prstGeom prst="rect">
            <a:avLst/>
          </a:prstGeom>
          <a:noFill/>
          <a:ln/>
        </p:spPr>
        <p:txBody>
          <a:bodyPr wrap="square" lIns="0" tIns="0" rIns="0" bIns="0" rtlCol="0" anchor="t"/>
          <a:lstStyle/>
          <a:p>
            <a:pPr rtl="1" algn="l" indent="0" marL="0">
              <a:buNone/>
            </a:pPr>
            <a:r>
              <a:rPr lang="ar-SA" altLang="en-US" sz="900" dirty="0">
                <a:solidFill>
                  <a:srgbClr val="5B6573"/>
                </a:solidFill>
                <a:latin typeface="Arial" pitchFamily="34" charset="0"/>
                <a:ea typeface="Arial" pitchFamily="34" charset="-122"/>
                <a:cs typeface="Arial" pitchFamily="34" charset="-120"/>
              </a:rPr>
              <a:t>بديهة · ملف المشروع</a:t>
            </a:r>
            <a:endParaRPr lang="ar-SA" sz="900" dirty="0"/>
          </a:p>
        </p:txBody>
      </p:sp>
      <p:sp>
        <p:nvSpPr>
          <p:cNvPr id="8" name="Shape 6"/>
          <p:cNvSpPr/>
          <p:nvPr/>
        </p:nvSpPr>
        <p:spPr>
          <a:xfrm>
            <a:off x="4663440" y="1234440"/>
            <a:ext cx="3931920" cy="1554480"/>
          </a:xfrm>
          <a:prstGeom prst="roundRect">
            <a:avLst>
              <a:gd name="adj" fmla="val 5882"/>
            </a:avLst>
          </a:prstGeom>
          <a:solidFill>
            <a:srgbClr val="E9EEF6"/>
          </a:solidFill>
          <a:ln w="12700">
            <a:solidFill>
              <a:srgbClr val="E9EEF6"/>
            </a:solidFill>
            <a:prstDash val="solid"/>
          </a:ln>
        </p:spPr>
      </p:sp>
      <p:sp>
        <p:nvSpPr>
          <p:cNvPr id="9" name="Text 7"/>
          <p:cNvSpPr txBox="1"/>
          <p:nvPr/>
        </p:nvSpPr>
        <p:spPr>
          <a:xfrm>
            <a:off x="4828032" y="1362456"/>
            <a:ext cx="3602736" cy="292608"/>
          </a:xfrm>
          <a:prstGeom prst="rect">
            <a:avLst/>
          </a:prstGeom>
          <a:noFill/>
          <a:ln/>
        </p:spPr>
        <p:txBody>
          <a:bodyPr wrap="square" lIns="0" tIns="0" rIns="0" bIns="0" rtlCol="0" anchor="t"/>
          <a:lstStyle/>
          <a:p>
            <a:pPr rtl="1" algn="r" indent="0" marL="0">
              <a:buNone/>
            </a:pPr>
            <a:r>
              <a:rPr lang="ar-SA" altLang="en-US" sz="1250" b="1" dirty="0">
                <a:solidFill>
                  <a:srgbClr val="1E3967"/>
                </a:solidFill>
                <a:latin typeface="Arial" pitchFamily="34" charset="0"/>
                <a:ea typeface="Arial" pitchFamily="34" charset="-122"/>
                <a:cs typeface="Arial" pitchFamily="34" charset="-120"/>
              </a:rPr>
              <a:t>نموذج الإيرادات</a:t>
            </a:r>
            <a:endParaRPr lang="ar-SA" sz="1250" dirty="0"/>
          </a:p>
        </p:txBody>
      </p:sp>
      <p:sp>
        <p:nvSpPr>
          <p:cNvPr id="10" name="Text 8"/>
          <p:cNvSpPr txBox="1"/>
          <p:nvPr/>
        </p:nvSpPr>
        <p:spPr>
          <a:xfrm>
            <a:off x="4828032" y="1691640"/>
            <a:ext cx="3602736" cy="969264"/>
          </a:xfrm>
          <a:prstGeom prst="rect">
            <a:avLst/>
          </a:prstGeom>
          <a:noFill/>
          <a:ln/>
        </p:spPr>
        <p:txBody>
          <a:bodyPr wrap="square" lIns="0" tIns="0" rIns="0" bIns="0" rtlCol="0" anchor="t"/>
          <a:lstStyle/>
          <a:p>
            <a:pPr rtl="1" algn="r" indent="0" marL="0">
              <a:lnSpc>
                <a:spcPct val="114000"/>
              </a:lnSpc>
              <a:buNone/>
            </a:pPr>
            <a:r>
              <a:rPr lang="ar-SA" altLang="en-US" sz="950" dirty="0">
                <a:solidFill>
                  <a:srgbClr val="1B2330"/>
                </a:solidFill>
                <a:latin typeface="Arial" pitchFamily="34" charset="0"/>
                <a:ea typeface="Arial" pitchFamily="34" charset="-122"/>
                <a:cs typeface="Arial" pitchFamily="34" charset="-120"/>
              </a:rPr>
              <a:t>اشتراك شهري أو سنوي حسب الحجم:</a:t>
            </a:r>
            <a:endParaRPr lang="ar-SA" sz="950" dirty="0"/>
          </a:p>
          <a:p>
            <a:pPr rtl="1" algn="r" indent="0" marL="0">
              <a:lnSpc>
                <a:spcPct val="114000"/>
              </a:lnSpc>
              <a:buNone/>
            </a:pPr>
            <a:r>
              <a:rPr lang="ar-SA" altLang="en-US" sz="950" dirty="0">
                <a:solidFill>
                  <a:srgbClr val="1B2330"/>
                </a:solidFill>
                <a:latin typeface="Arial" pitchFamily="34" charset="0"/>
                <a:ea typeface="Arial" pitchFamily="34" charset="-122"/>
                <a:cs typeface="Arial" pitchFamily="34" charset="-120"/>
              </a:rPr>
              <a:t>• الأساسية ٨٩٩ ريال/شهر</a:t>
            </a:r>
            <a:endParaRPr lang="ar-SA" sz="950" dirty="0"/>
          </a:p>
          <a:p>
            <a:pPr rtl="1" algn="r" indent="0" marL="0">
              <a:lnSpc>
                <a:spcPct val="114000"/>
              </a:lnSpc>
              <a:buNone/>
            </a:pPr>
            <a:r>
              <a:rPr lang="ar-SA" altLang="en-US" sz="950" dirty="0">
                <a:solidFill>
                  <a:srgbClr val="1B2330"/>
                </a:solidFill>
                <a:latin typeface="Arial" pitchFamily="34" charset="0"/>
                <a:ea typeface="Arial" pitchFamily="34" charset="-122"/>
                <a:cs typeface="Arial" pitchFamily="34" charset="-120"/>
              </a:rPr>
              <a:t>• النمو ٢٬٤٩٩ ريال/شهر</a:t>
            </a:r>
            <a:endParaRPr lang="ar-SA" sz="950" dirty="0"/>
          </a:p>
          <a:p>
            <a:pPr rtl="1" algn="r" indent="0" marL="0">
              <a:lnSpc>
                <a:spcPct val="114000"/>
              </a:lnSpc>
              <a:buNone/>
            </a:pPr>
            <a:r>
              <a:rPr lang="ar-SA" altLang="en-US" sz="950" dirty="0">
                <a:solidFill>
                  <a:srgbClr val="1B2330"/>
                </a:solidFill>
                <a:latin typeface="Arial" pitchFamily="34" charset="0"/>
                <a:ea typeface="Arial" pitchFamily="34" charset="-122"/>
                <a:cs typeface="Arial" pitchFamily="34" charset="-120"/>
              </a:rPr>
              <a:t>• الأعمال ٥٬٩٩٩ ريال/شهر</a:t>
            </a:r>
            <a:endParaRPr lang="ar-SA" sz="950" dirty="0"/>
          </a:p>
          <a:p>
            <a:pPr rtl="1" algn="r" indent="0" marL="0">
              <a:lnSpc>
                <a:spcPct val="114000"/>
              </a:lnSpc>
              <a:buNone/>
            </a:pPr>
            <a:r>
              <a:rPr lang="ar-SA" altLang="en-US" sz="950" dirty="0">
                <a:solidFill>
                  <a:srgbClr val="1B2330"/>
                </a:solidFill>
                <a:latin typeface="Arial" pitchFamily="34" charset="0"/>
                <a:ea typeface="Arial" pitchFamily="34" charset="-122"/>
                <a:cs typeface="Arial" pitchFamily="34" charset="-120"/>
              </a:rPr>
              <a:t>تجربة ٧ أيام. ومصادر إضافية: تهيئة الأرشيف، حزم قراءة ضوئية، وقناة شركاء.</a:t>
            </a:r>
            <a:endParaRPr lang="ar-SA" sz="950" dirty="0"/>
          </a:p>
        </p:txBody>
      </p:sp>
      <p:sp>
        <p:nvSpPr>
          <p:cNvPr id="11" name="Shape 9"/>
          <p:cNvSpPr/>
          <p:nvPr/>
        </p:nvSpPr>
        <p:spPr>
          <a:xfrm>
            <a:off x="548640" y="1234440"/>
            <a:ext cx="3931920" cy="1554480"/>
          </a:xfrm>
          <a:prstGeom prst="roundRect">
            <a:avLst>
              <a:gd name="adj" fmla="val 5882"/>
            </a:avLst>
          </a:prstGeom>
          <a:solidFill>
            <a:srgbClr val="E9EEF6"/>
          </a:solidFill>
          <a:ln w="12700">
            <a:solidFill>
              <a:srgbClr val="E9EEF6"/>
            </a:solidFill>
            <a:prstDash val="solid"/>
          </a:ln>
        </p:spPr>
      </p:sp>
      <p:sp>
        <p:nvSpPr>
          <p:cNvPr id="12" name="Text 10"/>
          <p:cNvSpPr txBox="1"/>
          <p:nvPr/>
        </p:nvSpPr>
        <p:spPr>
          <a:xfrm>
            <a:off x="713232" y="1362456"/>
            <a:ext cx="3602736" cy="292608"/>
          </a:xfrm>
          <a:prstGeom prst="rect">
            <a:avLst/>
          </a:prstGeom>
          <a:noFill/>
          <a:ln/>
        </p:spPr>
        <p:txBody>
          <a:bodyPr wrap="square" lIns="0" tIns="0" rIns="0" bIns="0" rtlCol="0" anchor="t"/>
          <a:lstStyle/>
          <a:p>
            <a:pPr rtl="1" algn="r" indent="0" marL="0">
              <a:buNone/>
            </a:pPr>
            <a:r>
              <a:rPr lang="ar-SA" altLang="en-US" sz="1250" b="1" dirty="0">
                <a:solidFill>
                  <a:srgbClr val="1E3967"/>
                </a:solidFill>
                <a:latin typeface="Arial" pitchFamily="34" charset="0"/>
                <a:ea typeface="Arial" pitchFamily="34" charset="-122"/>
                <a:cs typeface="Arial" pitchFamily="34" charset="-120"/>
              </a:rPr>
              <a:t>السوق المستهدف</a:t>
            </a:r>
            <a:endParaRPr lang="ar-SA" sz="1250" dirty="0"/>
          </a:p>
        </p:txBody>
      </p:sp>
      <p:sp>
        <p:nvSpPr>
          <p:cNvPr id="13" name="Text 11"/>
          <p:cNvSpPr txBox="1"/>
          <p:nvPr/>
        </p:nvSpPr>
        <p:spPr>
          <a:xfrm>
            <a:off x="713232" y="1691640"/>
            <a:ext cx="3602736" cy="969264"/>
          </a:xfrm>
          <a:prstGeom prst="rect">
            <a:avLst/>
          </a:prstGeom>
          <a:noFill/>
          <a:ln/>
        </p:spPr>
        <p:txBody>
          <a:bodyPr wrap="square" lIns="0" tIns="0" rIns="0" bIns="0" rtlCol="0" anchor="t"/>
          <a:lstStyle/>
          <a:p>
            <a:pPr rtl="1" algn="r" indent="0" marL="0">
              <a:lnSpc>
                <a:spcPct val="114000"/>
              </a:lnSpc>
              <a:buNone/>
            </a:pPr>
            <a:r>
              <a:rPr lang="ar-SA" altLang="en-US" sz="950" dirty="0">
                <a:solidFill>
                  <a:srgbClr val="1B2330"/>
                </a:solidFill>
                <a:latin typeface="Arial" pitchFamily="34" charset="0"/>
                <a:ea typeface="Arial" pitchFamily="34" charset="-122"/>
                <a:cs typeface="Arial" pitchFamily="34" charset="-120"/>
              </a:rPr>
              <a:t>المنشآت الصغيرة والمتوسطة في المملكة (٢٠ إلى ٥٠٠ موظف) ذات اللوائح الكثيفة: التجزئة والخدمات اللوجستية والرعاية الصحية والخدمات المهنية. الدخول عبر إدارات الموارد البشرية والعمليات.</a:t>
            </a:r>
            <a:endParaRPr lang="ar-SA" sz="950" dirty="0"/>
          </a:p>
        </p:txBody>
      </p:sp>
      <p:sp>
        <p:nvSpPr>
          <p:cNvPr id="14" name="Shape 12"/>
          <p:cNvSpPr/>
          <p:nvPr/>
        </p:nvSpPr>
        <p:spPr>
          <a:xfrm>
            <a:off x="4663440" y="2926080"/>
            <a:ext cx="3931920" cy="1554480"/>
          </a:xfrm>
          <a:prstGeom prst="roundRect">
            <a:avLst>
              <a:gd name="adj" fmla="val 5882"/>
            </a:avLst>
          </a:prstGeom>
          <a:solidFill>
            <a:srgbClr val="FFFFFF"/>
          </a:solidFill>
          <a:ln w="12700">
            <a:solidFill>
              <a:srgbClr val="D9DEE7"/>
            </a:solidFill>
            <a:prstDash val="solid"/>
          </a:ln>
        </p:spPr>
      </p:sp>
      <p:sp>
        <p:nvSpPr>
          <p:cNvPr id="15" name="Text 13"/>
          <p:cNvSpPr txBox="1"/>
          <p:nvPr/>
        </p:nvSpPr>
        <p:spPr>
          <a:xfrm>
            <a:off x="4828032" y="3054096"/>
            <a:ext cx="3602736" cy="292608"/>
          </a:xfrm>
          <a:prstGeom prst="rect">
            <a:avLst/>
          </a:prstGeom>
          <a:noFill/>
          <a:ln/>
        </p:spPr>
        <p:txBody>
          <a:bodyPr wrap="square" lIns="0" tIns="0" rIns="0" bIns="0" rtlCol="0" anchor="t"/>
          <a:lstStyle/>
          <a:p>
            <a:pPr rtl="1" algn="r" indent="0" marL="0">
              <a:buNone/>
            </a:pPr>
            <a:r>
              <a:rPr lang="ar-SA" altLang="en-US" sz="1250" b="1" dirty="0">
                <a:solidFill>
                  <a:srgbClr val="1E3967"/>
                </a:solidFill>
                <a:latin typeface="Arial" pitchFamily="34" charset="0"/>
                <a:ea typeface="Arial" pitchFamily="34" charset="-122"/>
                <a:cs typeface="Arial" pitchFamily="34" charset="-120"/>
              </a:rPr>
              <a:t>القيمة المضافة للعميل</a:t>
            </a:r>
            <a:endParaRPr lang="ar-SA" sz="1250" dirty="0"/>
          </a:p>
        </p:txBody>
      </p:sp>
      <p:sp>
        <p:nvSpPr>
          <p:cNvPr id="16" name="Text 14"/>
          <p:cNvSpPr txBox="1"/>
          <p:nvPr/>
        </p:nvSpPr>
        <p:spPr>
          <a:xfrm>
            <a:off x="4828032" y="3383280"/>
            <a:ext cx="3602736" cy="969264"/>
          </a:xfrm>
          <a:prstGeom prst="rect">
            <a:avLst/>
          </a:prstGeom>
          <a:noFill/>
          <a:ln/>
        </p:spPr>
        <p:txBody>
          <a:bodyPr wrap="square" lIns="0" tIns="0" rIns="0" bIns="0" rtlCol="0" anchor="t"/>
          <a:lstStyle/>
          <a:p>
            <a:pPr rtl="1" algn="r" indent="0" marL="0">
              <a:lnSpc>
                <a:spcPct val="114000"/>
              </a:lnSpc>
              <a:buNone/>
            </a:pPr>
            <a:r>
              <a:rPr lang="ar-SA" altLang="en-US" sz="950" dirty="0">
                <a:solidFill>
                  <a:srgbClr val="1B2330"/>
                </a:solidFill>
                <a:latin typeface="Arial" pitchFamily="34" charset="0"/>
                <a:ea typeface="Arial" pitchFamily="34" charset="-122"/>
                <a:cs typeface="Arial" pitchFamily="34" charset="-120"/>
              </a:rPr>
              <a:t>• جواب موثّق في ثوانٍ بدل بحث في عشرات الملفات</a:t>
            </a:r>
            <a:endParaRPr lang="ar-SA" sz="950" dirty="0"/>
          </a:p>
          <a:p>
            <a:pPr rtl="1" algn="r" indent="0" marL="0">
              <a:lnSpc>
                <a:spcPct val="114000"/>
              </a:lnSpc>
              <a:buNone/>
            </a:pPr>
            <a:r>
              <a:rPr lang="ar-SA" altLang="en-US" sz="950" dirty="0">
                <a:solidFill>
                  <a:srgbClr val="1B2330"/>
                </a:solidFill>
                <a:latin typeface="Arial" pitchFamily="34" charset="0"/>
                <a:ea typeface="Arial" pitchFamily="34" charset="-122"/>
                <a:cs typeface="Arial" pitchFamily="34" charset="-120"/>
              </a:rPr>
              <a:t>• توقّف تكرار الأسئلة على الموارد البشرية</a:t>
            </a:r>
            <a:endParaRPr lang="ar-SA" sz="950" dirty="0"/>
          </a:p>
          <a:p>
            <a:pPr rtl="1" algn="r" indent="0" marL="0">
              <a:lnSpc>
                <a:spcPct val="114000"/>
              </a:lnSpc>
              <a:buNone/>
            </a:pPr>
            <a:r>
              <a:rPr lang="ar-SA" altLang="en-US" sz="950" dirty="0">
                <a:solidFill>
                  <a:srgbClr val="1B2330"/>
                </a:solidFill>
                <a:latin typeface="Arial" pitchFamily="34" charset="0"/>
                <a:ea typeface="Arial" pitchFamily="34" charset="-122"/>
                <a:cs typeface="Arial" pitchFamily="34" charset="-120"/>
              </a:rPr>
              <a:t>• رؤية إدارية: ما يُسأل وما لا جواب له</a:t>
            </a:r>
            <a:endParaRPr lang="ar-SA" sz="950" dirty="0"/>
          </a:p>
          <a:p>
            <a:pPr rtl="1" algn="r" indent="0" marL="0">
              <a:lnSpc>
                <a:spcPct val="114000"/>
              </a:lnSpc>
              <a:buNone/>
            </a:pPr>
            <a:r>
              <a:rPr lang="ar-SA" altLang="en-US" sz="950" dirty="0">
                <a:solidFill>
                  <a:srgbClr val="1B2330"/>
                </a:solidFill>
                <a:latin typeface="Arial" pitchFamily="34" charset="0"/>
                <a:ea typeface="Arial" pitchFamily="34" charset="-122"/>
                <a:cs typeface="Arial" pitchFamily="34" charset="-120"/>
              </a:rPr>
              <a:t>• الأرشيف الممسوح ضوئيًا يصير قابلًا للسؤال</a:t>
            </a:r>
            <a:endParaRPr lang="ar-SA" sz="950" dirty="0"/>
          </a:p>
        </p:txBody>
      </p:sp>
      <p:sp>
        <p:nvSpPr>
          <p:cNvPr id="17" name="Shape 15"/>
          <p:cNvSpPr/>
          <p:nvPr/>
        </p:nvSpPr>
        <p:spPr>
          <a:xfrm>
            <a:off x="548640" y="2926080"/>
            <a:ext cx="3931920" cy="1554480"/>
          </a:xfrm>
          <a:prstGeom prst="roundRect">
            <a:avLst>
              <a:gd name="adj" fmla="val 5882"/>
            </a:avLst>
          </a:prstGeom>
          <a:solidFill>
            <a:srgbClr val="FFFFFF"/>
          </a:solidFill>
          <a:ln w="12700">
            <a:solidFill>
              <a:srgbClr val="D9DEE7"/>
            </a:solidFill>
            <a:prstDash val="solid"/>
          </a:ln>
        </p:spPr>
      </p:sp>
      <p:sp>
        <p:nvSpPr>
          <p:cNvPr id="18" name="Text 16"/>
          <p:cNvSpPr txBox="1"/>
          <p:nvPr/>
        </p:nvSpPr>
        <p:spPr>
          <a:xfrm>
            <a:off x="713232" y="3054096"/>
            <a:ext cx="3602736" cy="292608"/>
          </a:xfrm>
          <a:prstGeom prst="rect">
            <a:avLst/>
          </a:prstGeom>
          <a:noFill/>
          <a:ln/>
        </p:spPr>
        <p:txBody>
          <a:bodyPr wrap="square" lIns="0" tIns="0" rIns="0" bIns="0" rtlCol="0" anchor="t"/>
          <a:lstStyle/>
          <a:p>
            <a:pPr rtl="1" algn="r" indent="0" marL="0">
              <a:buNone/>
            </a:pPr>
            <a:r>
              <a:rPr lang="ar-SA" altLang="en-US" sz="1250" b="1" dirty="0">
                <a:solidFill>
                  <a:srgbClr val="1E3967"/>
                </a:solidFill>
                <a:latin typeface="Arial" pitchFamily="34" charset="0"/>
                <a:ea typeface="Arial" pitchFamily="34" charset="-122"/>
                <a:cs typeface="Arial" pitchFamily="34" charset="-120"/>
              </a:rPr>
              <a:t>الخطة التشغيلية</a:t>
            </a:r>
            <a:endParaRPr lang="ar-SA" sz="1250" dirty="0"/>
          </a:p>
        </p:txBody>
      </p:sp>
      <p:sp>
        <p:nvSpPr>
          <p:cNvPr id="19" name="Text 17"/>
          <p:cNvSpPr txBox="1"/>
          <p:nvPr/>
        </p:nvSpPr>
        <p:spPr>
          <a:xfrm>
            <a:off x="713232" y="3383280"/>
            <a:ext cx="3602736" cy="969264"/>
          </a:xfrm>
          <a:prstGeom prst="rect">
            <a:avLst/>
          </a:prstGeom>
          <a:noFill/>
          <a:ln/>
        </p:spPr>
        <p:txBody>
          <a:bodyPr wrap="square" lIns="0" tIns="0" rIns="0" bIns="0" rtlCol="0" anchor="t"/>
          <a:lstStyle/>
          <a:p>
            <a:pPr rtl="1" algn="r" indent="0" marL="0">
              <a:lnSpc>
                <a:spcPct val="114000"/>
              </a:lnSpc>
              <a:buNone/>
            </a:pPr>
            <a:r>
              <a:rPr lang="ar-SA" altLang="en-US" sz="950" dirty="0">
                <a:solidFill>
                  <a:srgbClr val="1B2330"/>
                </a:solidFill>
                <a:latin typeface="Arial" pitchFamily="34" charset="0"/>
                <a:ea typeface="Arial" pitchFamily="34" charset="-122"/>
                <a:cs typeface="Arial" pitchFamily="34" charset="-120"/>
              </a:rPr>
              <a:t>• السنة ١: الإثبات — ٣ تجارب ثم ٥ عملاء يدفعون</a:t>
            </a:r>
            <a:endParaRPr lang="ar-SA" sz="950" dirty="0"/>
          </a:p>
          <a:p>
            <a:pPr rtl="1" algn="r" indent="0" marL="0">
              <a:lnSpc>
                <a:spcPct val="114000"/>
              </a:lnSpc>
              <a:buNone/>
            </a:pPr>
            <a:r>
              <a:rPr lang="ar-SA" altLang="en-US" sz="950" dirty="0">
                <a:solidFill>
                  <a:srgbClr val="1B2330"/>
                </a:solidFill>
                <a:latin typeface="Arial" pitchFamily="34" charset="0"/>
                <a:ea typeface="Arial" pitchFamily="34" charset="-122"/>
                <a:cs typeface="Arial" pitchFamily="34" charset="-120"/>
              </a:rPr>
              <a:t>• السنة ٢: التكرار — مسؤول بيع وقناة شركاء</a:t>
            </a:r>
            <a:endParaRPr lang="ar-SA" sz="950" dirty="0"/>
          </a:p>
          <a:p>
            <a:pPr rtl="1" algn="r" indent="0" marL="0">
              <a:lnSpc>
                <a:spcPct val="114000"/>
              </a:lnSpc>
              <a:buNone/>
            </a:pPr>
            <a:r>
              <a:rPr lang="ar-SA" altLang="en-US" sz="950" dirty="0">
                <a:solidFill>
                  <a:srgbClr val="1B2330"/>
                </a:solidFill>
                <a:latin typeface="Arial" pitchFamily="34" charset="0"/>
                <a:ea typeface="Arial" pitchFamily="34" charset="-122"/>
                <a:cs typeface="Arial" pitchFamily="34" charset="-120"/>
              </a:rPr>
              <a:t>• السنة ٣: التعميق — تكاملات وشهادة أمنية</a:t>
            </a:r>
            <a:endParaRPr lang="ar-SA" sz="950" dirty="0"/>
          </a:p>
          <a:p>
            <a:pPr rtl="1" algn="r" indent="0" marL="0">
              <a:lnSpc>
                <a:spcPct val="114000"/>
              </a:lnSpc>
              <a:buNone/>
            </a:pPr>
            <a:r>
              <a:rPr lang="ar-SA" altLang="en-US" sz="950" dirty="0">
                <a:solidFill>
                  <a:srgbClr val="1B2330"/>
                </a:solidFill>
                <a:latin typeface="Arial" pitchFamily="34" charset="0"/>
                <a:ea typeface="Arial" pitchFamily="34" charset="-122"/>
                <a:cs typeface="Arial" pitchFamily="34" charset="-120"/>
              </a:rPr>
              <a:t>• السنتان ٤ و٥: التوسع الجغرافي</a:t>
            </a:r>
            <a:endParaRPr lang="ar-SA"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411480" cy="411480"/>
          </a:xfrm>
          <a:prstGeom prst="roundRect">
            <a:avLst>
              <a:gd name="adj" fmla="val 25000"/>
            </a:avLst>
          </a:prstGeom>
          <a:solidFill>
            <a:srgbClr val="1E3967"/>
          </a:solidFill>
          <a:ln w="12700">
            <a:solidFill>
              <a:srgbClr val="1E3967"/>
            </a:solidFill>
            <a:prstDash val="solid"/>
          </a:ln>
        </p:spPr>
      </p:sp>
      <p:sp>
        <p:nvSpPr>
          <p:cNvPr id="3" name="Shape 1"/>
          <p:cNvSpPr/>
          <p:nvPr/>
        </p:nvSpPr>
        <p:spPr>
          <a:xfrm>
            <a:off x="622706" y="396850"/>
            <a:ext cx="213970" cy="213970"/>
          </a:xfrm>
          <a:prstGeom prst="diamond">
            <a:avLst/>
          </a:prstGeom>
          <a:solidFill>
            <a:srgbClr val="C9A24C"/>
          </a:solidFill>
          <a:ln w="12700">
            <a:solidFill>
              <a:srgbClr val="C9A24C"/>
            </a:solidFill>
            <a:prstDash val="solid"/>
          </a:ln>
        </p:spPr>
      </p:sp>
      <p:sp>
        <p:nvSpPr>
          <p:cNvPr id="4" name="Shape 2"/>
          <p:cNvSpPr/>
          <p:nvPr/>
        </p:nvSpPr>
        <p:spPr>
          <a:xfrm>
            <a:off x="795528" y="586130"/>
            <a:ext cx="106985" cy="106985"/>
          </a:xfrm>
          <a:prstGeom prst="diamond">
            <a:avLst/>
          </a:prstGeom>
          <a:solidFill>
            <a:srgbClr val="FFFFFF"/>
          </a:solidFill>
          <a:ln w="12700">
            <a:solidFill>
              <a:srgbClr val="FFFFFF"/>
            </a:solidFill>
            <a:prstDash val="solid"/>
          </a:ln>
        </p:spPr>
      </p:sp>
      <p:sp>
        <p:nvSpPr>
          <p:cNvPr id="5" name="Text 3"/>
          <p:cNvSpPr txBox="1"/>
          <p:nvPr/>
        </p:nvSpPr>
        <p:spPr>
          <a:xfrm>
            <a:off x="1188720" y="301752"/>
            <a:ext cx="7406640" cy="502920"/>
          </a:xfrm>
          <a:prstGeom prst="rect">
            <a:avLst/>
          </a:prstGeom>
          <a:noFill/>
          <a:ln/>
        </p:spPr>
        <p:txBody>
          <a:bodyPr wrap="square" lIns="0" tIns="0" rIns="0" bIns="0" rtlCol="0" anchor="t"/>
          <a:lstStyle/>
          <a:p>
            <a:pPr rtl="1" algn="r" indent="0" marL="0">
              <a:buNone/>
            </a:pPr>
            <a:r>
              <a:rPr lang="ar-SA" altLang="en-US" sz="2600" b="1" dirty="0">
                <a:solidFill>
                  <a:srgbClr val="1E3967"/>
                </a:solidFill>
                <a:latin typeface="Arial" pitchFamily="34" charset="0"/>
                <a:ea typeface="Arial" pitchFamily="34" charset="-122"/>
                <a:cs typeface="Arial" pitchFamily="34" charset="-120"/>
              </a:rPr>
              <a:t>المالية والتوظيف لخمس سنوات</a:t>
            </a:r>
            <a:endParaRPr lang="ar-SA" sz="2600" dirty="0"/>
          </a:p>
        </p:txBody>
      </p:sp>
      <p:sp>
        <p:nvSpPr>
          <p:cNvPr id="6" name="Text 4"/>
          <p:cNvSpPr txBox="1"/>
          <p:nvPr/>
        </p:nvSpPr>
        <p:spPr>
          <a:xfrm>
            <a:off x="1188720" y="804672"/>
            <a:ext cx="7406640" cy="256032"/>
          </a:xfrm>
          <a:prstGeom prst="rect">
            <a:avLst/>
          </a:prstGeom>
          <a:noFill/>
          <a:ln/>
        </p:spPr>
        <p:txBody>
          <a:bodyPr wrap="square" lIns="0" tIns="0" rIns="0" bIns="0" rtlCol="0" anchor="t"/>
          <a:lstStyle/>
          <a:p>
            <a:pPr algn="r" indent="0" marL="0">
              <a:buNone/>
            </a:pPr>
            <a:r>
              <a:rPr lang="en-US" altLang="en-US" sz="1050" dirty="0">
                <a:solidFill>
                  <a:srgbClr val="5B6573"/>
                </a:solidFill>
                <a:latin typeface="Arial" pitchFamily="34" charset="0"/>
                <a:ea typeface="Arial" pitchFamily="34" charset="-122"/>
                <a:cs typeface="Arial" pitchFamily="34" charset="-120"/>
              </a:rPr>
              <a:t>Five-year financial &amp; hiring plan</a:t>
            </a:r>
            <a:endParaRPr lang="en-US" sz="1050" dirty="0"/>
          </a:p>
        </p:txBody>
      </p:sp>
      <p:sp>
        <p:nvSpPr>
          <p:cNvPr id="7" name="Text 5"/>
          <p:cNvSpPr txBox="1"/>
          <p:nvPr/>
        </p:nvSpPr>
        <p:spPr>
          <a:xfrm>
            <a:off x="548640" y="4754880"/>
            <a:ext cx="2743200" cy="228600"/>
          </a:xfrm>
          <a:prstGeom prst="rect">
            <a:avLst/>
          </a:prstGeom>
          <a:noFill/>
          <a:ln/>
        </p:spPr>
        <p:txBody>
          <a:bodyPr wrap="square" lIns="0" tIns="0" rIns="0" bIns="0" rtlCol="0" anchor="t"/>
          <a:lstStyle/>
          <a:p>
            <a:pPr rtl="1" algn="l" indent="0" marL="0">
              <a:buNone/>
            </a:pPr>
            <a:r>
              <a:rPr lang="ar-SA" altLang="en-US" sz="900" dirty="0">
                <a:solidFill>
                  <a:srgbClr val="5B6573"/>
                </a:solidFill>
                <a:latin typeface="Arial" pitchFamily="34" charset="0"/>
                <a:ea typeface="Arial" pitchFamily="34" charset="-122"/>
                <a:cs typeface="Arial" pitchFamily="34" charset="-120"/>
              </a:rPr>
              <a:t>بديهة · ملف المشروع</a:t>
            </a:r>
            <a:endParaRPr lang="ar-SA" sz="900" dirty="0"/>
          </a:p>
        </p:txBody>
      </p:sp>
      <p:sp>
        <p:nvSpPr>
          <p:cNvPr id="8" name="Text 6"/>
          <p:cNvSpPr txBox="1"/>
          <p:nvPr/>
        </p:nvSpPr>
        <p:spPr>
          <a:xfrm>
            <a:off x="2926080" y="1207008"/>
            <a:ext cx="5669280" cy="365760"/>
          </a:xfrm>
          <a:prstGeom prst="rect">
            <a:avLst/>
          </a:prstGeom>
          <a:noFill/>
          <a:ln/>
        </p:spPr>
        <p:txBody>
          <a:bodyPr wrap="square" lIns="0" tIns="0" rIns="0" bIns="0" rtlCol="0" anchor="t"/>
          <a:lstStyle/>
          <a:p>
            <a:pPr rtl="1" algn="r" indent="0" marL="0">
              <a:buNone/>
            </a:pPr>
            <a:r>
              <a:rPr lang="ar-SA" altLang="en-US" sz="950" dirty="0">
                <a:solidFill>
                  <a:srgbClr val="5B6573"/>
                </a:solidFill>
                <a:latin typeface="Arial" pitchFamily="34" charset="0"/>
                <a:ea typeface="Arial" pitchFamily="34" charset="-122"/>
                <a:cs typeface="Arial" pitchFamily="34" charset="-120"/>
              </a:rPr>
              <a:t>الإيراد السنوي المتوقع (مليون ريال). الحدّ الأدنى من السيناريو المتحفّظ والأعلى من الأساسي؛ السنتان ٤ و٥ امتداد بالوتيرة نفسها.</a:t>
            </a:r>
            <a:endParaRPr lang="ar-SA" sz="950" dirty="0"/>
          </a:p>
        </p:txBody>
      </p:sp>
      <p:graphicFrame>
        <p:nvGraphicFramePr>
          <p:cNvPr id="9" name="Chart 0" descr=""/>
          <p:cNvGraphicFramePr/>
          <p:nvPr/>
        </p:nvGraphicFramePr>
        <p:xfrm>
          <a:off x="2926080" y="1600200"/>
          <a:ext cx="5669280" cy="29718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548640" y="1207008"/>
            <a:ext cx="2194560" cy="3364992"/>
          </a:xfrm>
          <a:prstGeom prst="roundRect">
            <a:avLst>
              <a:gd name="adj" fmla="val 4167"/>
            </a:avLst>
          </a:prstGeom>
          <a:solidFill>
            <a:srgbClr val="E9EEF6"/>
          </a:solidFill>
          <a:ln w="12700">
            <a:solidFill>
              <a:srgbClr val="E9EEF6"/>
            </a:solidFill>
            <a:prstDash val="solid"/>
          </a:ln>
        </p:spPr>
      </p:sp>
      <p:sp>
        <p:nvSpPr>
          <p:cNvPr id="11" name="Text 8"/>
          <p:cNvSpPr txBox="1"/>
          <p:nvPr/>
        </p:nvSpPr>
        <p:spPr>
          <a:xfrm>
            <a:off x="685800" y="1335024"/>
            <a:ext cx="1920240" cy="274320"/>
          </a:xfrm>
          <a:prstGeom prst="rect">
            <a:avLst/>
          </a:prstGeom>
          <a:noFill/>
          <a:ln/>
        </p:spPr>
        <p:txBody>
          <a:bodyPr wrap="square" lIns="0" tIns="0" rIns="0" bIns="0" rtlCol="0" anchor="t"/>
          <a:lstStyle/>
          <a:p>
            <a:pPr rtl="1" algn="r" indent="0" marL="0">
              <a:buNone/>
            </a:pPr>
            <a:r>
              <a:rPr lang="ar-SA" altLang="en-US" sz="1200" b="1" dirty="0">
                <a:solidFill>
                  <a:srgbClr val="1E3967"/>
                </a:solidFill>
                <a:latin typeface="Arial" pitchFamily="34" charset="0"/>
                <a:ea typeface="Arial" pitchFamily="34" charset="-122"/>
                <a:cs typeface="Arial" pitchFamily="34" charset="-120"/>
              </a:rPr>
              <a:t>الفريق نهاية كل سنة</a:t>
            </a:r>
            <a:endParaRPr lang="ar-SA" sz="1200" dirty="0"/>
          </a:p>
        </p:txBody>
      </p:sp>
      <p:sp>
        <p:nvSpPr>
          <p:cNvPr id="12" name="Text 9"/>
          <p:cNvSpPr txBox="1"/>
          <p:nvPr/>
        </p:nvSpPr>
        <p:spPr>
          <a:xfrm>
            <a:off x="2057400" y="1783080"/>
            <a:ext cx="548640" cy="411480"/>
          </a:xfrm>
          <a:prstGeom prst="rect">
            <a:avLst/>
          </a:prstGeom>
          <a:noFill/>
          <a:ln/>
        </p:spPr>
        <p:txBody>
          <a:bodyPr wrap="square" lIns="0" tIns="0" rIns="0" bIns="0" rtlCol="0" anchor="ctr"/>
          <a:lstStyle/>
          <a:p>
            <a:pPr rtl="1" algn="ctr" indent="0" marL="0">
              <a:buNone/>
            </a:pPr>
            <a:r>
              <a:rPr lang="ar-SA" altLang="en-US" sz="1900" b="1" dirty="0">
                <a:solidFill>
                  <a:srgbClr val="1E3967"/>
                </a:solidFill>
                <a:latin typeface="Arial" pitchFamily="34" charset="0"/>
                <a:ea typeface="Arial" pitchFamily="34" charset="-122"/>
                <a:cs typeface="Arial" pitchFamily="34" charset="-120"/>
              </a:rPr>
              <a:t>١</a:t>
            </a:r>
            <a:endParaRPr lang="ar-SA" sz="1900" dirty="0"/>
          </a:p>
        </p:txBody>
      </p:sp>
      <p:sp>
        <p:nvSpPr>
          <p:cNvPr id="13" name="Text 10"/>
          <p:cNvSpPr txBox="1"/>
          <p:nvPr/>
        </p:nvSpPr>
        <p:spPr>
          <a:xfrm>
            <a:off x="685800" y="1801368"/>
            <a:ext cx="1325880" cy="182880"/>
          </a:xfrm>
          <a:prstGeom prst="rect">
            <a:avLst/>
          </a:prstGeom>
          <a:noFill/>
          <a:ln/>
        </p:spPr>
        <p:txBody>
          <a:bodyPr wrap="square" lIns="0" tIns="0" rIns="0" bIns="0" rtlCol="0" anchor="t"/>
          <a:lstStyle/>
          <a:p>
            <a:pPr rtl="1" algn="r" indent="0" marL="0">
              <a:buNone/>
            </a:pPr>
            <a:r>
              <a:rPr lang="ar-SA" altLang="en-US" sz="800" dirty="0">
                <a:solidFill>
                  <a:srgbClr val="5B6573"/>
                </a:solidFill>
                <a:latin typeface="Arial" pitchFamily="34" charset="0"/>
                <a:ea typeface="Arial" pitchFamily="34" charset="-122"/>
                <a:cs typeface="Arial" pitchFamily="34" charset="-120"/>
              </a:rPr>
              <a:t>السنة ١</a:t>
            </a:r>
            <a:endParaRPr lang="ar-SA" sz="800" dirty="0"/>
          </a:p>
        </p:txBody>
      </p:sp>
      <p:sp>
        <p:nvSpPr>
          <p:cNvPr id="14" name="Text 11"/>
          <p:cNvSpPr txBox="1"/>
          <p:nvPr/>
        </p:nvSpPr>
        <p:spPr>
          <a:xfrm>
            <a:off x="685800" y="1965960"/>
            <a:ext cx="1325880" cy="228600"/>
          </a:xfrm>
          <a:prstGeom prst="rect">
            <a:avLst/>
          </a:prstGeom>
          <a:noFill/>
          <a:ln/>
        </p:spPr>
        <p:txBody>
          <a:bodyPr wrap="square" lIns="0" tIns="0" rIns="0" bIns="0" rtlCol="0" anchor="t"/>
          <a:lstStyle/>
          <a:p>
            <a:pPr rtl="1" algn="r" indent="0" marL="0">
              <a:buNone/>
            </a:pPr>
            <a:r>
              <a:rPr lang="ar-SA" altLang="en-US" sz="950" dirty="0">
                <a:solidFill>
                  <a:srgbClr val="1B2330"/>
                </a:solidFill>
                <a:latin typeface="Arial" pitchFamily="34" charset="0"/>
                <a:ea typeface="Arial" pitchFamily="34" charset="-122"/>
                <a:cs typeface="Arial" pitchFamily="34" charset="-120"/>
              </a:rPr>
              <a:t>المؤسِّسة</a:t>
            </a:r>
            <a:endParaRPr lang="ar-SA" sz="950" dirty="0"/>
          </a:p>
        </p:txBody>
      </p:sp>
      <p:sp>
        <p:nvSpPr>
          <p:cNvPr id="15" name="Text 12"/>
          <p:cNvSpPr txBox="1"/>
          <p:nvPr/>
        </p:nvSpPr>
        <p:spPr>
          <a:xfrm>
            <a:off x="2057400" y="2313432"/>
            <a:ext cx="548640" cy="411480"/>
          </a:xfrm>
          <a:prstGeom prst="rect">
            <a:avLst/>
          </a:prstGeom>
          <a:noFill/>
          <a:ln/>
        </p:spPr>
        <p:txBody>
          <a:bodyPr wrap="square" lIns="0" tIns="0" rIns="0" bIns="0" rtlCol="0" anchor="ctr"/>
          <a:lstStyle/>
          <a:p>
            <a:pPr rtl="1" algn="ctr" indent="0" marL="0">
              <a:buNone/>
            </a:pPr>
            <a:r>
              <a:rPr lang="ar-SA" altLang="en-US" sz="1900" b="1" dirty="0">
                <a:solidFill>
                  <a:srgbClr val="1E3967"/>
                </a:solidFill>
                <a:latin typeface="Arial" pitchFamily="34" charset="0"/>
                <a:ea typeface="Arial" pitchFamily="34" charset="-122"/>
                <a:cs typeface="Arial" pitchFamily="34" charset="-120"/>
              </a:rPr>
              <a:t>٢</a:t>
            </a:r>
            <a:endParaRPr lang="ar-SA" sz="1900" dirty="0"/>
          </a:p>
        </p:txBody>
      </p:sp>
      <p:sp>
        <p:nvSpPr>
          <p:cNvPr id="16" name="Text 13"/>
          <p:cNvSpPr txBox="1"/>
          <p:nvPr/>
        </p:nvSpPr>
        <p:spPr>
          <a:xfrm>
            <a:off x="685800" y="2331720"/>
            <a:ext cx="1325880" cy="182880"/>
          </a:xfrm>
          <a:prstGeom prst="rect">
            <a:avLst/>
          </a:prstGeom>
          <a:noFill/>
          <a:ln/>
        </p:spPr>
        <p:txBody>
          <a:bodyPr wrap="square" lIns="0" tIns="0" rIns="0" bIns="0" rtlCol="0" anchor="t"/>
          <a:lstStyle/>
          <a:p>
            <a:pPr rtl="1" algn="r" indent="0" marL="0">
              <a:buNone/>
            </a:pPr>
            <a:r>
              <a:rPr lang="ar-SA" altLang="en-US" sz="800" dirty="0">
                <a:solidFill>
                  <a:srgbClr val="5B6573"/>
                </a:solidFill>
                <a:latin typeface="Arial" pitchFamily="34" charset="0"/>
                <a:ea typeface="Arial" pitchFamily="34" charset="-122"/>
                <a:cs typeface="Arial" pitchFamily="34" charset="-120"/>
              </a:rPr>
              <a:t>السنة ٢</a:t>
            </a:r>
            <a:endParaRPr lang="ar-SA" sz="800" dirty="0"/>
          </a:p>
        </p:txBody>
      </p:sp>
      <p:sp>
        <p:nvSpPr>
          <p:cNvPr id="17" name="Text 14"/>
          <p:cNvSpPr txBox="1"/>
          <p:nvPr/>
        </p:nvSpPr>
        <p:spPr>
          <a:xfrm>
            <a:off x="685800" y="2496312"/>
            <a:ext cx="1325880" cy="228600"/>
          </a:xfrm>
          <a:prstGeom prst="rect">
            <a:avLst/>
          </a:prstGeom>
          <a:noFill/>
          <a:ln/>
        </p:spPr>
        <p:txBody>
          <a:bodyPr wrap="square" lIns="0" tIns="0" rIns="0" bIns="0" rtlCol="0" anchor="t"/>
          <a:lstStyle/>
          <a:p>
            <a:pPr rtl="1" algn="r" indent="0" marL="0">
              <a:buNone/>
            </a:pPr>
            <a:r>
              <a:rPr lang="ar-SA" altLang="en-US" sz="950" dirty="0">
                <a:solidFill>
                  <a:srgbClr val="1B2330"/>
                </a:solidFill>
                <a:latin typeface="Arial" pitchFamily="34" charset="0"/>
                <a:ea typeface="Arial" pitchFamily="34" charset="-122"/>
                <a:cs typeface="Arial" pitchFamily="34" charset="-120"/>
              </a:rPr>
              <a:t>+ مسؤول بيع</a:t>
            </a:r>
            <a:endParaRPr lang="ar-SA" sz="950" dirty="0"/>
          </a:p>
        </p:txBody>
      </p:sp>
      <p:sp>
        <p:nvSpPr>
          <p:cNvPr id="18" name="Text 15"/>
          <p:cNvSpPr txBox="1"/>
          <p:nvPr/>
        </p:nvSpPr>
        <p:spPr>
          <a:xfrm>
            <a:off x="2057400" y="2843784"/>
            <a:ext cx="548640" cy="411480"/>
          </a:xfrm>
          <a:prstGeom prst="rect">
            <a:avLst/>
          </a:prstGeom>
          <a:noFill/>
          <a:ln/>
        </p:spPr>
        <p:txBody>
          <a:bodyPr wrap="square" lIns="0" tIns="0" rIns="0" bIns="0" rtlCol="0" anchor="ctr"/>
          <a:lstStyle/>
          <a:p>
            <a:pPr rtl="1" algn="ctr" indent="0" marL="0">
              <a:buNone/>
            </a:pPr>
            <a:r>
              <a:rPr lang="ar-SA" altLang="en-US" sz="1900" b="1" dirty="0">
                <a:solidFill>
                  <a:srgbClr val="1E3967"/>
                </a:solidFill>
                <a:latin typeface="Arial" pitchFamily="34" charset="0"/>
                <a:ea typeface="Arial" pitchFamily="34" charset="-122"/>
                <a:cs typeface="Arial" pitchFamily="34" charset="-120"/>
              </a:rPr>
              <a:t>٣–٤</a:t>
            </a:r>
            <a:endParaRPr lang="ar-SA" sz="1900" dirty="0"/>
          </a:p>
        </p:txBody>
      </p:sp>
      <p:sp>
        <p:nvSpPr>
          <p:cNvPr id="19" name="Text 16"/>
          <p:cNvSpPr txBox="1"/>
          <p:nvPr/>
        </p:nvSpPr>
        <p:spPr>
          <a:xfrm>
            <a:off x="685800" y="2862072"/>
            <a:ext cx="1325880" cy="182880"/>
          </a:xfrm>
          <a:prstGeom prst="rect">
            <a:avLst/>
          </a:prstGeom>
          <a:noFill/>
          <a:ln/>
        </p:spPr>
        <p:txBody>
          <a:bodyPr wrap="square" lIns="0" tIns="0" rIns="0" bIns="0" rtlCol="0" anchor="t"/>
          <a:lstStyle/>
          <a:p>
            <a:pPr rtl="1" algn="r" indent="0" marL="0">
              <a:buNone/>
            </a:pPr>
            <a:r>
              <a:rPr lang="ar-SA" altLang="en-US" sz="800" dirty="0">
                <a:solidFill>
                  <a:srgbClr val="5B6573"/>
                </a:solidFill>
                <a:latin typeface="Arial" pitchFamily="34" charset="0"/>
                <a:ea typeface="Arial" pitchFamily="34" charset="-122"/>
                <a:cs typeface="Arial" pitchFamily="34" charset="-120"/>
              </a:rPr>
              <a:t>السنة ٣</a:t>
            </a:r>
            <a:endParaRPr lang="ar-SA" sz="800" dirty="0"/>
          </a:p>
        </p:txBody>
      </p:sp>
      <p:sp>
        <p:nvSpPr>
          <p:cNvPr id="20" name="Text 17"/>
          <p:cNvSpPr txBox="1"/>
          <p:nvPr/>
        </p:nvSpPr>
        <p:spPr>
          <a:xfrm>
            <a:off x="685800" y="3026664"/>
            <a:ext cx="1325880" cy="228600"/>
          </a:xfrm>
          <a:prstGeom prst="rect">
            <a:avLst/>
          </a:prstGeom>
          <a:noFill/>
          <a:ln/>
        </p:spPr>
        <p:txBody>
          <a:bodyPr wrap="square" lIns="0" tIns="0" rIns="0" bIns="0" rtlCol="0" anchor="t"/>
          <a:lstStyle/>
          <a:p>
            <a:pPr rtl="1" algn="r" indent="0" marL="0">
              <a:buNone/>
            </a:pPr>
            <a:r>
              <a:rPr lang="ar-SA" altLang="en-US" sz="950" dirty="0">
                <a:solidFill>
                  <a:srgbClr val="1B2330"/>
                </a:solidFill>
                <a:latin typeface="Arial" pitchFamily="34" charset="0"/>
                <a:ea typeface="Arial" pitchFamily="34" charset="-122"/>
                <a:cs typeface="Arial" pitchFamily="34" charset="-120"/>
              </a:rPr>
              <a:t>+ نجاح عملاء، مهندس</a:t>
            </a:r>
            <a:endParaRPr lang="ar-SA" sz="950" dirty="0"/>
          </a:p>
        </p:txBody>
      </p:sp>
      <p:sp>
        <p:nvSpPr>
          <p:cNvPr id="21" name="Text 18"/>
          <p:cNvSpPr txBox="1"/>
          <p:nvPr/>
        </p:nvSpPr>
        <p:spPr>
          <a:xfrm>
            <a:off x="2057400" y="3374136"/>
            <a:ext cx="548640" cy="411480"/>
          </a:xfrm>
          <a:prstGeom prst="rect">
            <a:avLst/>
          </a:prstGeom>
          <a:noFill/>
          <a:ln/>
        </p:spPr>
        <p:txBody>
          <a:bodyPr wrap="square" lIns="0" tIns="0" rIns="0" bIns="0" rtlCol="0" anchor="ctr"/>
          <a:lstStyle/>
          <a:p>
            <a:pPr rtl="1" algn="ctr" indent="0" marL="0">
              <a:buNone/>
            </a:pPr>
            <a:r>
              <a:rPr lang="ar-SA" altLang="en-US" sz="1900" b="1" dirty="0">
                <a:solidFill>
                  <a:srgbClr val="1E3967"/>
                </a:solidFill>
                <a:latin typeface="Arial" pitchFamily="34" charset="0"/>
                <a:ea typeface="Arial" pitchFamily="34" charset="-122"/>
                <a:cs typeface="Arial" pitchFamily="34" charset="-120"/>
              </a:rPr>
              <a:t>٥</a:t>
            </a:r>
            <a:endParaRPr lang="ar-SA" sz="1900" dirty="0"/>
          </a:p>
        </p:txBody>
      </p:sp>
      <p:sp>
        <p:nvSpPr>
          <p:cNvPr id="22" name="Text 19"/>
          <p:cNvSpPr txBox="1"/>
          <p:nvPr/>
        </p:nvSpPr>
        <p:spPr>
          <a:xfrm>
            <a:off x="685800" y="3392424"/>
            <a:ext cx="1325880" cy="182880"/>
          </a:xfrm>
          <a:prstGeom prst="rect">
            <a:avLst/>
          </a:prstGeom>
          <a:noFill/>
          <a:ln/>
        </p:spPr>
        <p:txBody>
          <a:bodyPr wrap="square" lIns="0" tIns="0" rIns="0" bIns="0" rtlCol="0" anchor="t"/>
          <a:lstStyle/>
          <a:p>
            <a:pPr rtl="1" algn="r" indent="0" marL="0">
              <a:buNone/>
            </a:pPr>
            <a:r>
              <a:rPr lang="ar-SA" altLang="en-US" sz="800" dirty="0">
                <a:solidFill>
                  <a:srgbClr val="5B6573"/>
                </a:solidFill>
                <a:latin typeface="Arial" pitchFamily="34" charset="0"/>
                <a:ea typeface="Arial" pitchFamily="34" charset="-122"/>
                <a:cs typeface="Arial" pitchFamily="34" charset="-120"/>
              </a:rPr>
              <a:t>السنة ٤</a:t>
            </a:r>
            <a:endParaRPr lang="ar-SA" sz="800" dirty="0"/>
          </a:p>
        </p:txBody>
      </p:sp>
      <p:sp>
        <p:nvSpPr>
          <p:cNvPr id="23" name="Text 20"/>
          <p:cNvSpPr txBox="1"/>
          <p:nvPr/>
        </p:nvSpPr>
        <p:spPr>
          <a:xfrm>
            <a:off x="685800" y="3557016"/>
            <a:ext cx="1325880" cy="228600"/>
          </a:xfrm>
          <a:prstGeom prst="rect">
            <a:avLst/>
          </a:prstGeom>
          <a:noFill/>
          <a:ln/>
        </p:spPr>
        <p:txBody>
          <a:bodyPr wrap="square" lIns="0" tIns="0" rIns="0" bIns="0" rtlCol="0" anchor="t"/>
          <a:lstStyle/>
          <a:p>
            <a:pPr rtl="1" algn="r" indent="0" marL="0">
              <a:buNone/>
            </a:pPr>
            <a:r>
              <a:rPr lang="ar-SA" altLang="en-US" sz="950" dirty="0">
                <a:solidFill>
                  <a:srgbClr val="1B2330"/>
                </a:solidFill>
                <a:latin typeface="Arial" pitchFamily="34" charset="0"/>
                <a:ea typeface="Arial" pitchFamily="34" charset="-122"/>
                <a:cs typeface="Arial" pitchFamily="34" charset="-120"/>
              </a:rPr>
              <a:t>+ مبيعات ثانٍ</a:t>
            </a:r>
            <a:endParaRPr lang="ar-SA" sz="950" dirty="0"/>
          </a:p>
        </p:txBody>
      </p:sp>
      <p:sp>
        <p:nvSpPr>
          <p:cNvPr id="24" name="Text 21"/>
          <p:cNvSpPr txBox="1"/>
          <p:nvPr/>
        </p:nvSpPr>
        <p:spPr>
          <a:xfrm>
            <a:off x="2057400" y="3904488"/>
            <a:ext cx="548640" cy="411480"/>
          </a:xfrm>
          <a:prstGeom prst="rect">
            <a:avLst/>
          </a:prstGeom>
          <a:noFill/>
          <a:ln/>
        </p:spPr>
        <p:txBody>
          <a:bodyPr wrap="square" lIns="0" tIns="0" rIns="0" bIns="0" rtlCol="0" anchor="ctr"/>
          <a:lstStyle/>
          <a:p>
            <a:pPr rtl="1" algn="ctr" indent="0" marL="0">
              <a:buNone/>
            </a:pPr>
            <a:r>
              <a:rPr lang="ar-SA" altLang="en-US" sz="1900" b="1" dirty="0">
                <a:solidFill>
                  <a:srgbClr val="1E3967"/>
                </a:solidFill>
                <a:latin typeface="Arial" pitchFamily="34" charset="0"/>
                <a:ea typeface="Arial" pitchFamily="34" charset="-122"/>
                <a:cs typeface="Arial" pitchFamily="34" charset="-120"/>
              </a:rPr>
              <a:t>٦–٧</a:t>
            </a:r>
            <a:endParaRPr lang="ar-SA" sz="1900" dirty="0"/>
          </a:p>
        </p:txBody>
      </p:sp>
      <p:sp>
        <p:nvSpPr>
          <p:cNvPr id="25" name="Text 22"/>
          <p:cNvSpPr txBox="1"/>
          <p:nvPr/>
        </p:nvSpPr>
        <p:spPr>
          <a:xfrm>
            <a:off x="685800" y="3922776"/>
            <a:ext cx="1325880" cy="182880"/>
          </a:xfrm>
          <a:prstGeom prst="rect">
            <a:avLst/>
          </a:prstGeom>
          <a:noFill/>
          <a:ln/>
        </p:spPr>
        <p:txBody>
          <a:bodyPr wrap="square" lIns="0" tIns="0" rIns="0" bIns="0" rtlCol="0" anchor="t"/>
          <a:lstStyle/>
          <a:p>
            <a:pPr rtl="1" algn="r" indent="0" marL="0">
              <a:buNone/>
            </a:pPr>
            <a:r>
              <a:rPr lang="ar-SA" altLang="en-US" sz="800" dirty="0">
                <a:solidFill>
                  <a:srgbClr val="5B6573"/>
                </a:solidFill>
                <a:latin typeface="Arial" pitchFamily="34" charset="0"/>
                <a:ea typeface="Arial" pitchFamily="34" charset="-122"/>
                <a:cs typeface="Arial" pitchFamily="34" charset="-120"/>
              </a:rPr>
              <a:t>السنة ٥</a:t>
            </a:r>
            <a:endParaRPr lang="ar-SA" sz="800" dirty="0"/>
          </a:p>
        </p:txBody>
      </p:sp>
      <p:sp>
        <p:nvSpPr>
          <p:cNvPr id="26" name="Text 23"/>
          <p:cNvSpPr txBox="1"/>
          <p:nvPr/>
        </p:nvSpPr>
        <p:spPr>
          <a:xfrm>
            <a:off x="685800" y="4087368"/>
            <a:ext cx="1325880" cy="228600"/>
          </a:xfrm>
          <a:prstGeom prst="rect">
            <a:avLst/>
          </a:prstGeom>
          <a:noFill/>
          <a:ln/>
        </p:spPr>
        <p:txBody>
          <a:bodyPr wrap="square" lIns="0" tIns="0" rIns="0" bIns="0" rtlCol="0" anchor="t"/>
          <a:lstStyle/>
          <a:p>
            <a:pPr rtl="1" algn="r" indent="0" marL="0">
              <a:buNone/>
            </a:pPr>
            <a:r>
              <a:rPr lang="ar-SA" altLang="en-US" sz="950" dirty="0">
                <a:solidFill>
                  <a:srgbClr val="1B2330"/>
                </a:solidFill>
                <a:latin typeface="Arial" pitchFamily="34" charset="0"/>
                <a:ea typeface="Arial" pitchFamily="34" charset="-122"/>
                <a:cs typeface="Arial" pitchFamily="34" charset="-120"/>
              </a:rPr>
              <a:t>+ مهندس، دعم</a:t>
            </a:r>
            <a:endParaRPr lang="ar-SA"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411480" cy="411480"/>
          </a:xfrm>
          <a:prstGeom prst="roundRect">
            <a:avLst>
              <a:gd name="adj" fmla="val 25000"/>
            </a:avLst>
          </a:prstGeom>
          <a:solidFill>
            <a:srgbClr val="1E3967"/>
          </a:solidFill>
          <a:ln w="12700">
            <a:solidFill>
              <a:srgbClr val="1E3967"/>
            </a:solidFill>
            <a:prstDash val="solid"/>
          </a:ln>
        </p:spPr>
      </p:sp>
      <p:sp>
        <p:nvSpPr>
          <p:cNvPr id="3" name="Shape 1"/>
          <p:cNvSpPr/>
          <p:nvPr/>
        </p:nvSpPr>
        <p:spPr>
          <a:xfrm>
            <a:off x="622706" y="396850"/>
            <a:ext cx="213970" cy="213970"/>
          </a:xfrm>
          <a:prstGeom prst="diamond">
            <a:avLst/>
          </a:prstGeom>
          <a:solidFill>
            <a:srgbClr val="C9A24C"/>
          </a:solidFill>
          <a:ln w="12700">
            <a:solidFill>
              <a:srgbClr val="C9A24C"/>
            </a:solidFill>
            <a:prstDash val="solid"/>
          </a:ln>
        </p:spPr>
      </p:sp>
      <p:sp>
        <p:nvSpPr>
          <p:cNvPr id="4" name="Shape 2"/>
          <p:cNvSpPr/>
          <p:nvPr/>
        </p:nvSpPr>
        <p:spPr>
          <a:xfrm>
            <a:off x="795528" y="586130"/>
            <a:ext cx="106985" cy="106985"/>
          </a:xfrm>
          <a:prstGeom prst="diamond">
            <a:avLst/>
          </a:prstGeom>
          <a:solidFill>
            <a:srgbClr val="FFFFFF"/>
          </a:solidFill>
          <a:ln w="12700">
            <a:solidFill>
              <a:srgbClr val="FFFFFF"/>
            </a:solidFill>
            <a:prstDash val="solid"/>
          </a:ln>
        </p:spPr>
      </p:sp>
      <p:sp>
        <p:nvSpPr>
          <p:cNvPr id="5" name="Text 3"/>
          <p:cNvSpPr txBox="1"/>
          <p:nvPr/>
        </p:nvSpPr>
        <p:spPr>
          <a:xfrm>
            <a:off x="1188720" y="301752"/>
            <a:ext cx="7406640" cy="502920"/>
          </a:xfrm>
          <a:prstGeom prst="rect">
            <a:avLst/>
          </a:prstGeom>
          <a:noFill/>
          <a:ln/>
        </p:spPr>
        <p:txBody>
          <a:bodyPr wrap="square" lIns="0" tIns="0" rIns="0" bIns="0" rtlCol="0" anchor="t"/>
          <a:lstStyle/>
          <a:p>
            <a:pPr rtl="1" algn="r" indent="0" marL="0">
              <a:buNone/>
            </a:pPr>
            <a:r>
              <a:rPr lang="ar-SA" altLang="en-US" sz="2600" b="1" dirty="0">
                <a:solidFill>
                  <a:srgbClr val="1E3967"/>
                </a:solidFill>
                <a:latin typeface="Arial" pitchFamily="34" charset="0"/>
                <a:ea typeface="Arial" pitchFamily="34" charset="-122"/>
                <a:cs typeface="Arial" pitchFamily="34" charset="-120"/>
              </a:rPr>
              <a:t>الخطوة القادمة وخطة التوسع</a:t>
            </a:r>
            <a:endParaRPr lang="ar-SA" sz="2600" dirty="0"/>
          </a:p>
        </p:txBody>
      </p:sp>
      <p:sp>
        <p:nvSpPr>
          <p:cNvPr id="6" name="Text 4"/>
          <p:cNvSpPr txBox="1"/>
          <p:nvPr/>
        </p:nvSpPr>
        <p:spPr>
          <a:xfrm>
            <a:off x="1188720" y="804672"/>
            <a:ext cx="7406640" cy="256032"/>
          </a:xfrm>
          <a:prstGeom prst="rect">
            <a:avLst/>
          </a:prstGeom>
          <a:noFill/>
          <a:ln/>
        </p:spPr>
        <p:txBody>
          <a:bodyPr wrap="square" lIns="0" tIns="0" rIns="0" bIns="0" rtlCol="0" anchor="t"/>
          <a:lstStyle/>
          <a:p>
            <a:pPr algn="r" indent="0" marL="0">
              <a:buNone/>
            </a:pPr>
            <a:r>
              <a:rPr lang="en-US" altLang="en-US" sz="1050" dirty="0">
                <a:solidFill>
                  <a:srgbClr val="5B6573"/>
                </a:solidFill>
                <a:latin typeface="Arial" pitchFamily="34" charset="0"/>
                <a:ea typeface="Arial" pitchFamily="34" charset="-122"/>
                <a:cs typeface="Arial" pitchFamily="34" charset="-120"/>
              </a:rPr>
              <a:t>Next feature &amp; expansion plan</a:t>
            </a:r>
            <a:endParaRPr lang="en-US" sz="1050" dirty="0"/>
          </a:p>
        </p:txBody>
      </p:sp>
      <p:sp>
        <p:nvSpPr>
          <p:cNvPr id="7" name="Text 5"/>
          <p:cNvSpPr txBox="1"/>
          <p:nvPr/>
        </p:nvSpPr>
        <p:spPr>
          <a:xfrm>
            <a:off x="548640" y="4754880"/>
            <a:ext cx="2743200" cy="228600"/>
          </a:xfrm>
          <a:prstGeom prst="rect">
            <a:avLst/>
          </a:prstGeom>
          <a:noFill/>
          <a:ln/>
        </p:spPr>
        <p:txBody>
          <a:bodyPr wrap="square" lIns="0" tIns="0" rIns="0" bIns="0" rtlCol="0" anchor="t"/>
          <a:lstStyle/>
          <a:p>
            <a:pPr rtl="1" algn="l" indent="0" marL="0">
              <a:buNone/>
            </a:pPr>
            <a:r>
              <a:rPr lang="ar-SA" altLang="en-US" sz="900" dirty="0">
                <a:solidFill>
                  <a:srgbClr val="5B6573"/>
                </a:solidFill>
                <a:latin typeface="Arial" pitchFamily="34" charset="0"/>
                <a:ea typeface="Arial" pitchFamily="34" charset="-122"/>
                <a:cs typeface="Arial" pitchFamily="34" charset="-120"/>
              </a:rPr>
              <a:t>بديهة · ملف المشروع</a:t>
            </a:r>
            <a:endParaRPr lang="ar-SA" sz="900" dirty="0"/>
          </a:p>
        </p:txBody>
      </p:sp>
      <p:sp>
        <p:nvSpPr>
          <p:cNvPr id="8" name="Shape 6"/>
          <p:cNvSpPr/>
          <p:nvPr/>
        </p:nvSpPr>
        <p:spPr>
          <a:xfrm>
            <a:off x="548640" y="1143000"/>
            <a:ext cx="8046720" cy="1572768"/>
          </a:xfrm>
          <a:prstGeom prst="roundRect">
            <a:avLst>
              <a:gd name="adj" fmla="val 5814"/>
            </a:avLst>
          </a:prstGeom>
          <a:solidFill>
            <a:srgbClr val="F7F4EC"/>
          </a:solidFill>
          <a:ln w="12700">
            <a:solidFill>
              <a:srgbClr val="C9A24C"/>
            </a:solidFill>
            <a:prstDash val="solid"/>
          </a:ln>
        </p:spPr>
      </p:sp>
      <p:sp>
        <p:nvSpPr>
          <p:cNvPr id="9" name="Text 7"/>
          <p:cNvSpPr txBox="1"/>
          <p:nvPr/>
        </p:nvSpPr>
        <p:spPr>
          <a:xfrm>
            <a:off x="731520" y="1252728"/>
            <a:ext cx="7680960" cy="274320"/>
          </a:xfrm>
          <a:prstGeom prst="rect">
            <a:avLst/>
          </a:prstGeom>
          <a:noFill/>
          <a:ln/>
        </p:spPr>
        <p:txBody>
          <a:bodyPr wrap="square" lIns="0" tIns="0" rIns="0" bIns="0" rtlCol="0" anchor="t"/>
          <a:lstStyle/>
          <a:p>
            <a:pPr rtl="1" algn="r" indent="0" marL="0">
              <a:buNone/>
            </a:pPr>
            <a:r>
              <a:rPr lang="ar-SA" altLang="en-US" sz="1200" b="1" dirty="0">
                <a:solidFill>
                  <a:srgbClr val="1E3967"/>
                </a:solidFill>
                <a:latin typeface="Arial" pitchFamily="34" charset="0"/>
                <a:ea typeface="Arial" pitchFamily="34" charset="-122"/>
                <a:cs typeface="Arial" pitchFamily="34" charset="-120"/>
              </a:rPr>
              <a:t>الميزة القادمة: استوديو السياسات — مواصفة معتمدة، لم تُنشر بعد، تُبنى بعد العميل الثالث</a:t>
            </a:r>
            <a:endParaRPr lang="ar-SA" sz="1200" dirty="0"/>
          </a:p>
        </p:txBody>
      </p:sp>
      <p:sp>
        <p:nvSpPr>
          <p:cNvPr id="10" name="Text 8"/>
          <p:cNvSpPr txBox="1"/>
          <p:nvPr/>
        </p:nvSpPr>
        <p:spPr>
          <a:xfrm>
            <a:off x="731520" y="1572768"/>
            <a:ext cx="7680960" cy="566928"/>
          </a:xfrm>
          <a:prstGeom prst="rect">
            <a:avLst/>
          </a:prstGeom>
          <a:noFill/>
          <a:ln/>
        </p:spPr>
        <p:txBody>
          <a:bodyPr wrap="square" lIns="0" tIns="0" rIns="0" bIns="0" rtlCol="0" anchor="t"/>
          <a:lstStyle/>
          <a:p>
            <a:pPr rtl="1" algn="r" indent="0" marL="0">
              <a:lnSpc>
                <a:spcPct val="114000"/>
              </a:lnSpc>
              <a:buNone/>
            </a:pPr>
            <a:r>
              <a:rPr lang="ar-SA" altLang="en-US" sz="980" dirty="0">
                <a:solidFill>
                  <a:srgbClr val="1B2330"/>
                </a:solidFill>
                <a:latin typeface="Arial" pitchFamily="34" charset="0"/>
                <a:ea typeface="Arial" pitchFamily="34" charset="-122"/>
                <a:cs typeface="Arial" pitchFamily="34" charset="-120"/>
              </a:rPr>
              <a:t>مساعد يساعد الشركة على كتابة سياساتها لا الإجابة منها فقط: يسأل المدير ثلاثة إلى خمسة أسئلة توضيحية، ثم يكتب مسودة مستندة إلى وثائق الشركة وإلى مكتبة مرجعية رسمية (نظام العمل ولوائحه) مع الاستشهاد بمواد النظام؛ يحرّرها المدير ويعتمدها فتدخل قاعدة المعرفة وتُغلق الفجوة.</a:t>
            </a:r>
            <a:endParaRPr lang="ar-SA" sz="980" dirty="0"/>
          </a:p>
        </p:txBody>
      </p:sp>
      <p:sp>
        <p:nvSpPr>
          <p:cNvPr id="11" name="Text 9"/>
          <p:cNvSpPr txBox="1"/>
          <p:nvPr/>
        </p:nvSpPr>
        <p:spPr>
          <a:xfrm>
            <a:off x="731520" y="2212848"/>
            <a:ext cx="7680960" cy="384048"/>
          </a:xfrm>
          <a:prstGeom prst="rect">
            <a:avLst/>
          </a:prstGeom>
          <a:noFill/>
          <a:ln/>
        </p:spPr>
        <p:txBody>
          <a:bodyPr wrap="square" lIns="0" tIns="0" rIns="0" bIns="0" rtlCol="0" anchor="t"/>
          <a:lstStyle/>
          <a:p>
            <a:pPr rtl="1" algn="r" indent="0" marL="0">
              <a:lnSpc>
                <a:spcPct val="114000"/>
              </a:lnSpc>
              <a:buNone/>
            </a:pPr>
            <a:r>
              <a:rPr lang="ar-SA" altLang="en-US" sz="980" b="1" dirty="0">
                <a:solidFill>
                  <a:srgbClr val="1E3967"/>
                </a:solidFill>
                <a:latin typeface="Arial" pitchFamily="34" charset="0"/>
                <a:ea typeface="Arial" pitchFamily="34" charset="-122"/>
                <a:cs typeface="Arial" pitchFamily="34" charset="-120"/>
              </a:rPr>
              <a:t>أثرها الاستراتيجي: تقلب الاستبعاد سوقًا — الشركة بلا لوائح مستبعَدة اليوم، وبها تصير العميل المثالي. و٧٠٪ من أجزائها مبنيّ فعلًا في المنصة.</a:t>
            </a:r>
            <a:endParaRPr lang="ar-SA" sz="980" dirty="0"/>
          </a:p>
        </p:txBody>
      </p:sp>
      <p:sp>
        <p:nvSpPr>
          <p:cNvPr id="12" name="Shape 10"/>
          <p:cNvSpPr/>
          <p:nvPr/>
        </p:nvSpPr>
        <p:spPr>
          <a:xfrm>
            <a:off x="1097280" y="3383280"/>
            <a:ext cx="6949440" cy="0"/>
          </a:xfrm>
          <a:prstGeom prst="line">
            <a:avLst/>
          </a:prstGeom>
          <a:noFill/>
          <a:ln w="25400">
            <a:solidFill>
              <a:srgbClr val="C9A24C"/>
            </a:solidFill>
            <a:prstDash val="solid"/>
          </a:ln>
        </p:spPr>
      </p:sp>
      <p:sp>
        <p:nvSpPr>
          <p:cNvPr id="13" name="Shape 11"/>
          <p:cNvSpPr/>
          <p:nvPr/>
        </p:nvSpPr>
        <p:spPr>
          <a:xfrm>
            <a:off x="7132320" y="3200400"/>
            <a:ext cx="365760" cy="365760"/>
          </a:xfrm>
          <a:prstGeom prst="ellipse">
            <a:avLst/>
          </a:prstGeom>
          <a:solidFill>
            <a:srgbClr val="C9A24C"/>
          </a:solidFill>
          <a:ln w="25400">
            <a:solidFill>
              <a:srgbClr val="C9A24C"/>
            </a:solidFill>
            <a:prstDash val="solid"/>
          </a:ln>
        </p:spPr>
      </p:sp>
      <p:sp>
        <p:nvSpPr>
          <p:cNvPr id="14" name="Text 12"/>
          <p:cNvSpPr txBox="1"/>
          <p:nvPr/>
        </p:nvSpPr>
        <p:spPr>
          <a:xfrm>
            <a:off x="6035040" y="2880360"/>
            <a:ext cx="2560320" cy="256032"/>
          </a:xfrm>
          <a:prstGeom prst="rect">
            <a:avLst/>
          </a:prstGeom>
          <a:noFill/>
          <a:ln/>
        </p:spPr>
        <p:txBody>
          <a:bodyPr wrap="square" lIns="0" tIns="0" rIns="0" bIns="0" rtlCol="0" anchor="t"/>
          <a:lstStyle/>
          <a:p>
            <a:pPr rtl="1" algn="ctr" indent="0" marL="0">
              <a:buNone/>
            </a:pPr>
            <a:r>
              <a:rPr lang="ar-SA" altLang="en-US" sz="950" dirty="0">
                <a:solidFill>
                  <a:srgbClr val="5B6573"/>
                </a:solidFill>
                <a:latin typeface="Arial" pitchFamily="34" charset="0"/>
                <a:ea typeface="Arial" pitchFamily="34" charset="-122"/>
                <a:cs typeface="Arial" pitchFamily="34" charset="-120"/>
              </a:rPr>
              <a:t>السنوات ١ إلى ٣</a:t>
            </a:r>
            <a:endParaRPr lang="ar-SA" sz="950" dirty="0"/>
          </a:p>
        </p:txBody>
      </p:sp>
      <p:sp>
        <p:nvSpPr>
          <p:cNvPr id="15" name="Text 13"/>
          <p:cNvSpPr txBox="1"/>
          <p:nvPr/>
        </p:nvSpPr>
        <p:spPr>
          <a:xfrm>
            <a:off x="6035040" y="3703320"/>
            <a:ext cx="2560320" cy="310896"/>
          </a:xfrm>
          <a:prstGeom prst="rect">
            <a:avLst/>
          </a:prstGeom>
          <a:noFill/>
          <a:ln/>
        </p:spPr>
        <p:txBody>
          <a:bodyPr wrap="square" lIns="0" tIns="0" rIns="0" bIns="0" rtlCol="0" anchor="t"/>
          <a:lstStyle/>
          <a:p>
            <a:pPr rtl="1" algn="ctr" indent="0" marL="0">
              <a:buNone/>
            </a:pPr>
            <a:r>
              <a:rPr lang="ar-SA" altLang="en-US" sz="1400" b="1" dirty="0">
                <a:solidFill>
                  <a:srgbClr val="1E3967"/>
                </a:solidFill>
                <a:latin typeface="Arial" pitchFamily="34" charset="0"/>
                <a:ea typeface="Arial" pitchFamily="34" charset="-122"/>
                <a:cs typeface="Arial" pitchFamily="34" charset="-120"/>
              </a:rPr>
              <a:t>داخل المملكة</a:t>
            </a:r>
            <a:endParaRPr lang="ar-SA" sz="1400" dirty="0"/>
          </a:p>
        </p:txBody>
      </p:sp>
      <p:sp>
        <p:nvSpPr>
          <p:cNvPr id="16" name="Text 14"/>
          <p:cNvSpPr txBox="1"/>
          <p:nvPr/>
        </p:nvSpPr>
        <p:spPr>
          <a:xfrm>
            <a:off x="6126480" y="4041648"/>
            <a:ext cx="2377440" cy="822960"/>
          </a:xfrm>
          <a:prstGeom prst="rect">
            <a:avLst/>
          </a:prstGeom>
          <a:noFill/>
          <a:ln/>
        </p:spPr>
        <p:txBody>
          <a:bodyPr wrap="square" lIns="0" tIns="0" rIns="0" bIns="0" rtlCol="0" anchor="t"/>
          <a:lstStyle/>
          <a:p>
            <a:pPr rtl="1" algn="r" indent="0" marL="0">
              <a:lnSpc>
                <a:spcPct val="112000"/>
              </a:lnSpc>
              <a:buNone/>
            </a:pPr>
            <a:r>
              <a:rPr lang="ar-SA" altLang="en-US" sz="900" dirty="0">
                <a:solidFill>
                  <a:srgbClr val="1B2330"/>
                </a:solidFill>
                <a:latin typeface="Arial" pitchFamily="34" charset="0"/>
                <a:ea typeface="Arial" pitchFamily="34" charset="-122"/>
                <a:cs typeface="Arial" pitchFamily="34" charset="-120"/>
              </a:rPr>
              <a:t>الرياض ثم جدة والدمام. بيع مباشر وقناة شركاء، وبناء المراجع والشهادة الأمنية. المنشأة والفريق والاستضافة والعملاء داخل المملكة.</a:t>
            </a:r>
            <a:endParaRPr lang="ar-SA" sz="900" dirty="0"/>
          </a:p>
        </p:txBody>
      </p:sp>
      <p:sp>
        <p:nvSpPr>
          <p:cNvPr id="17" name="Shape 15"/>
          <p:cNvSpPr/>
          <p:nvPr/>
        </p:nvSpPr>
        <p:spPr>
          <a:xfrm>
            <a:off x="4389120" y="3200400"/>
            <a:ext cx="365760" cy="365760"/>
          </a:xfrm>
          <a:prstGeom prst="ellipse">
            <a:avLst/>
          </a:prstGeom>
          <a:solidFill>
            <a:srgbClr val="FFFFFF"/>
          </a:solidFill>
          <a:ln w="25400">
            <a:solidFill>
              <a:srgbClr val="C9A24C"/>
            </a:solidFill>
            <a:prstDash val="solid"/>
          </a:ln>
        </p:spPr>
      </p:sp>
      <p:sp>
        <p:nvSpPr>
          <p:cNvPr id="18" name="Text 16"/>
          <p:cNvSpPr txBox="1"/>
          <p:nvPr/>
        </p:nvSpPr>
        <p:spPr>
          <a:xfrm>
            <a:off x="3291840" y="2880360"/>
            <a:ext cx="2560320" cy="256032"/>
          </a:xfrm>
          <a:prstGeom prst="rect">
            <a:avLst/>
          </a:prstGeom>
          <a:noFill/>
          <a:ln/>
        </p:spPr>
        <p:txBody>
          <a:bodyPr wrap="square" lIns="0" tIns="0" rIns="0" bIns="0" rtlCol="0" anchor="t"/>
          <a:lstStyle/>
          <a:p>
            <a:pPr rtl="1" algn="ctr" indent="0" marL="0">
              <a:buNone/>
            </a:pPr>
            <a:r>
              <a:rPr lang="ar-SA" altLang="en-US" sz="950" dirty="0">
                <a:solidFill>
                  <a:srgbClr val="5B6573"/>
                </a:solidFill>
                <a:latin typeface="Arial" pitchFamily="34" charset="0"/>
                <a:ea typeface="Arial" pitchFamily="34" charset="-122"/>
                <a:cs typeface="Arial" pitchFamily="34" charset="-120"/>
              </a:rPr>
              <a:t>السنتان ٤ و٥</a:t>
            </a:r>
            <a:endParaRPr lang="ar-SA" sz="950" dirty="0"/>
          </a:p>
        </p:txBody>
      </p:sp>
      <p:sp>
        <p:nvSpPr>
          <p:cNvPr id="19" name="Text 17"/>
          <p:cNvSpPr txBox="1"/>
          <p:nvPr/>
        </p:nvSpPr>
        <p:spPr>
          <a:xfrm>
            <a:off x="3291840" y="3703320"/>
            <a:ext cx="2560320" cy="310896"/>
          </a:xfrm>
          <a:prstGeom prst="rect">
            <a:avLst/>
          </a:prstGeom>
          <a:noFill/>
          <a:ln/>
        </p:spPr>
        <p:txBody>
          <a:bodyPr wrap="square" lIns="0" tIns="0" rIns="0" bIns="0" rtlCol="0" anchor="t"/>
          <a:lstStyle/>
          <a:p>
            <a:pPr rtl="1" algn="ctr" indent="0" marL="0">
              <a:buNone/>
            </a:pPr>
            <a:r>
              <a:rPr lang="ar-SA" altLang="en-US" sz="1400" b="1" dirty="0">
                <a:solidFill>
                  <a:srgbClr val="1E3967"/>
                </a:solidFill>
                <a:latin typeface="Arial" pitchFamily="34" charset="0"/>
                <a:ea typeface="Arial" pitchFamily="34" charset="-122"/>
                <a:cs typeface="Arial" pitchFamily="34" charset="-120"/>
              </a:rPr>
              <a:t>دول الخليج</a:t>
            </a:r>
            <a:endParaRPr lang="ar-SA" sz="1400" dirty="0"/>
          </a:p>
        </p:txBody>
      </p:sp>
      <p:sp>
        <p:nvSpPr>
          <p:cNvPr id="20" name="Text 18"/>
          <p:cNvSpPr txBox="1"/>
          <p:nvPr/>
        </p:nvSpPr>
        <p:spPr>
          <a:xfrm>
            <a:off x="3383280" y="4041648"/>
            <a:ext cx="2377440" cy="822960"/>
          </a:xfrm>
          <a:prstGeom prst="rect">
            <a:avLst/>
          </a:prstGeom>
          <a:noFill/>
          <a:ln/>
        </p:spPr>
        <p:txBody>
          <a:bodyPr wrap="square" lIns="0" tIns="0" rIns="0" bIns="0" rtlCol="0" anchor="t"/>
          <a:lstStyle/>
          <a:p>
            <a:pPr rtl="1" algn="r" indent="0" marL="0">
              <a:lnSpc>
                <a:spcPct val="112000"/>
              </a:lnSpc>
              <a:buNone/>
            </a:pPr>
            <a:r>
              <a:rPr lang="ar-SA" altLang="en-US" sz="900" dirty="0">
                <a:solidFill>
                  <a:srgbClr val="1B2330"/>
                </a:solidFill>
                <a:latin typeface="Arial" pitchFamily="34" charset="0"/>
                <a:ea typeface="Arial" pitchFamily="34" charset="-122"/>
                <a:cs typeface="Arial" pitchFamily="34" charset="-120"/>
              </a:rPr>
              <a:t>الإمارات وقطر والكويت عبر شركاء محليين، بالمنتج نفسه واللغة نفسها، مع خيار استضافة إقليمية.</a:t>
            </a:r>
            <a:endParaRPr lang="ar-SA" sz="900" dirty="0"/>
          </a:p>
        </p:txBody>
      </p:sp>
      <p:sp>
        <p:nvSpPr>
          <p:cNvPr id="21" name="Shape 19"/>
          <p:cNvSpPr/>
          <p:nvPr/>
        </p:nvSpPr>
        <p:spPr>
          <a:xfrm>
            <a:off x="1645920" y="3200400"/>
            <a:ext cx="365760" cy="365760"/>
          </a:xfrm>
          <a:prstGeom prst="ellipse">
            <a:avLst/>
          </a:prstGeom>
          <a:solidFill>
            <a:srgbClr val="FFFFFF"/>
          </a:solidFill>
          <a:ln w="25400">
            <a:solidFill>
              <a:srgbClr val="C9A24C"/>
            </a:solidFill>
            <a:prstDash val="solid"/>
          </a:ln>
        </p:spPr>
      </p:sp>
      <p:sp>
        <p:nvSpPr>
          <p:cNvPr id="22" name="Text 20"/>
          <p:cNvSpPr txBox="1"/>
          <p:nvPr/>
        </p:nvSpPr>
        <p:spPr>
          <a:xfrm>
            <a:off x="548640" y="2880360"/>
            <a:ext cx="2560320" cy="256032"/>
          </a:xfrm>
          <a:prstGeom prst="rect">
            <a:avLst/>
          </a:prstGeom>
          <a:noFill/>
          <a:ln/>
        </p:spPr>
        <p:txBody>
          <a:bodyPr wrap="square" lIns="0" tIns="0" rIns="0" bIns="0" rtlCol="0" anchor="t"/>
          <a:lstStyle/>
          <a:p>
            <a:pPr rtl="1" algn="ctr" indent="0" marL="0">
              <a:buNone/>
            </a:pPr>
            <a:r>
              <a:rPr lang="ar-SA" altLang="en-US" sz="950" dirty="0">
                <a:solidFill>
                  <a:srgbClr val="5B6573"/>
                </a:solidFill>
                <a:latin typeface="Arial" pitchFamily="34" charset="0"/>
                <a:ea typeface="Arial" pitchFamily="34" charset="-122"/>
                <a:cs typeface="Arial" pitchFamily="34" charset="-120"/>
              </a:rPr>
              <a:t>بعد السنة ٥</a:t>
            </a:r>
            <a:endParaRPr lang="ar-SA" sz="950" dirty="0"/>
          </a:p>
        </p:txBody>
      </p:sp>
      <p:sp>
        <p:nvSpPr>
          <p:cNvPr id="23" name="Text 21"/>
          <p:cNvSpPr txBox="1"/>
          <p:nvPr/>
        </p:nvSpPr>
        <p:spPr>
          <a:xfrm>
            <a:off x="548640" y="3703320"/>
            <a:ext cx="2560320" cy="310896"/>
          </a:xfrm>
          <a:prstGeom prst="rect">
            <a:avLst/>
          </a:prstGeom>
          <a:noFill/>
          <a:ln/>
        </p:spPr>
        <p:txBody>
          <a:bodyPr wrap="square" lIns="0" tIns="0" rIns="0" bIns="0" rtlCol="0" anchor="t"/>
          <a:lstStyle/>
          <a:p>
            <a:pPr rtl="1" algn="ctr" indent="0" marL="0">
              <a:buNone/>
            </a:pPr>
            <a:r>
              <a:rPr lang="ar-SA" altLang="en-US" sz="1400" b="1" dirty="0">
                <a:solidFill>
                  <a:srgbClr val="1E3967"/>
                </a:solidFill>
                <a:latin typeface="Arial" pitchFamily="34" charset="0"/>
                <a:ea typeface="Arial" pitchFamily="34" charset="-122"/>
                <a:cs typeface="Arial" pitchFamily="34" charset="-120"/>
              </a:rPr>
              <a:t>الأسواق الناطقة بالعربية</a:t>
            </a:r>
            <a:endParaRPr lang="ar-SA" sz="1400" dirty="0"/>
          </a:p>
        </p:txBody>
      </p:sp>
      <p:sp>
        <p:nvSpPr>
          <p:cNvPr id="24" name="Text 22"/>
          <p:cNvSpPr txBox="1"/>
          <p:nvPr/>
        </p:nvSpPr>
        <p:spPr>
          <a:xfrm>
            <a:off x="640080" y="4041648"/>
            <a:ext cx="2377440" cy="822960"/>
          </a:xfrm>
          <a:prstGeom prst="rect">
            <a:avLst/>
          </a:prstGeom>
          <a:noFill/>
          <a:ln/>
        </p:spPr>
        <p:txBody>
          <a:bodyPr wrap="square" lIns="0" tIns="0" rIns="0" bIns="0" rtlCol="0" anchor="t"/>
          <a:lstStyle/>
          <a:p>
            <a:pPr rtl="1" algn="r" indent="0" marL="0">
              <a:lnSpc>
                <a:spcPct val="112000"/>
              </a:lnSpc>
              <a:buNone/>
            </a:pPr>
            <a:r>
              <a:rPr lang="ar-SA" altLang="en-US" sz="900" dirty="0">
                <a:solidFill>
                  <a:srgbClr val="1B2330"/>
                </a:solidFill>
                <a:latin typeface="Arial" pitchFamily="34" charset="0"/>
                <a:ea typeface="Arial" pitchFamily="34" charset="-122"/>
                <a:cs typeface="Arial" pitchFamily="34" charset="-120"/>
              </a:rPr>
              <a:t>مصر والأردن والمغرب العربي، حيث لا يوجد بديل عربي أولًا وبمعايير أمان مبنية للمؤسسات.</a:t>
            </a:r>
            <a:endParaRPr lang="ar-SA"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2026-09-07T13:01:27Z</dcterms:created>
  <dcterms:modified xsi:type="dcterms:W3CDTF">2026-09-07T13:01:27Z</dcterms:modified>
</cp:coreProperties>
</file>