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c:v>
                </c:pt>
              </c:strCache>
            </c:strRef>
          </c:tx>
          <c:spPr>
            <a:solidFill>
              <a:srgbClr val="C9A24C"/>
            </a:solidFill>
            <a:effectLst/>
          </c:spPr>
          <c:invertIfNegative val="0"/>
          <c:dLbls>
            <c:numFmt formatCode="0.00" sourceLinked="0"/>
            <c:txPr>
              <a:bodyPr/>
              <a:lstStyle/>
              <a:p>
                <a:pPr>
                  <a:defRPr b="0" i="0" strike="noStrike" sz="800" u="none">
                    <a:solidFill>
                      <a:srgbClr val="1B2330"/>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السنة ١</c:v>
                  </c:pt>
                  <c:pt idx="1">
                    <c:v>السنة ٢</c:v>
                  </c:pt>
                  <c:pt idx="2">
                    <c:v>السنة ٣</c:v>
                  </c:pt>
                  <c:pt idx="3">
                    <c:v>السنة ٤</c:v>
                  </c:pt>
                  <c:pt idx="4">
                    <c:v>السنة ٥</c:v>
                  </c:pt>
                </c:lvl>
              </c:multiLvlStrCache>
            </c:multiLvlStrRef>
          </c:cat>
          <c:val>
            <c:numRef>
              <c:f>Sheet1!$B$2:$B$6</c:f>
              <c:numCache>
                <c:formatCode>General</c:formatCode>
                <c:ptCount val="5"/>
                <c:pt idx="0">
                  <c:v>0.08</c:v>
                </c:pt>
                <c:pt idx="1">
                  <c:v>0.35</c:v>
                </c:pt>
                <c:pt idx="2">
                  <c:v>0.8</c:v>
                </c:pt>
                <c:pt idx="3">
                  <c:v>1.3</c:v>
                </c:pt>
                <c:pt idx="4">
                  <c:v>1.9</c:v>
                </c:pt>
              </c:numCache>
            </c:numRef>
          </c:val>
        </c:ser>
        <c:ser>
          <c:idx val="1"/>
          <c:order val="1"/>
          <c:tx>
            <c:strRef>
              <c:f>Sheet1!$C$1</c:f>
              <c:strCache>
                <c:ptCount val="1"/>
                <c:pt idx="0">
                  <c:v>الحد الأعلى</c:v>
                </c:pt>
              </c:strCache>
            </c:strRef>
          </c:tx>
          <c:spPr>
            <a:solidFill>
              <a:srgbClr val="1E3967"/>
            </a:solidFill>
            <a:effectLst/>
          </c:spPr>
          <c:invertIfNegative val="0"/>
          <c:dLbls>
            <c:numFmt formatCode="0.00" sourceLinked="0"/>
            <c:txPr>
              <a:bodyPr/>
              <a:lstStyle/>
              <a:p>
                <a:pPr>
                  <a:defRPr b="0" i="0" strike="noStrike" sz="800" u="none">
                    <a:solidFill>
                      <a:srgbClr val="1B2330"/>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السنة ١</c:v>
                  </c:pt>
                  <c:pt idx="1">
                    <c:v>السنة ٢</c:v>
                  </c:pt>
                  <c:pt idx="2">
                    <c:v>السنة ٣</c:v>
                  </c:pt>
                  <c:pt idx="3">
                    <c:v>السنة ٤</c:v>
                  </c:pt>
                  <c:pt idx="4">
                    <c:v>السنة ٥</c:v>
                  </c:pt>
                </c:lvl>
              </c:multiLvlStrCache>
            </c:multiLvlStrRef>
          </c:cat>
          <c:val>
            <c:numRef>
              <c:f>Sheet1!$C$2:$C$6</c:f>
              <c:numCache>
                <c:formatCode>General</c:formatCode>
                <c:ptCount val="5"/>
                <c:pt idx="0">
                  <c:v>0.23</c:v>
                </c:pt>
                <c:pt idx="1">
                  <c:v>0.8</c:v>
                </c:pt>
                <c:pt idx="2">
                  <c:v>1.69</c:v>
                </c:pt>
                <c:pt idx="3">
                  <c:v>2.5</c:v>
                </c:pt>
                <c:pt idx="4">
                  <c:v>3.5</c:v>
                </c:pt>
              </c:numCache>
            </c:numRef>
          </c:val>
        </c:ser>
        <c:dLbls>
          <c:numFmt formatCode="0.00" sourceLinked="0"/>
          <c:txPr>
            <a:bodyPr/>
            <a:lstStyle/>
            <a:p>
              <a:pPr>
                <a:defRPr b="0" i="0" strike="noStrike" sz="800" u="none">
                  <a:solidFill>
                    <a:srgbClr val="1B23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330"/>
                </a:solidFill>
                <a:latin typeface="Arial"/>
              </a:defRPr>
            </a:pPr>
            <a:endParaRPr lang="en-US"/>
          </a:p>
        </c:txPr>
        <c:crossAx val="2094734552"/>
        <c:crosses val="autoZero"/>
        <c:auto val="1"/>
        <c:lblAlgn val="ctr"/>
        <c:noMultiLvlLbl val="1"/>
      </c:catAx>
      <c:valAx>
        <c:axId val="2094734552"/>
        <c:scaling>
          <c:orientation val="minMax"/>
          <c:max val="4"/>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B65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B233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967"/>
        </a:solidFill>
      </p:bgPr>
    </p:bg>
    <p:spTree>
      <p:nvGrpSpPr>
        <p:cNvPr id="1" name=""/>
        <p:cNvGrpSpPr/>
        <p:nvPr/>
      </p:nvGrpSpPr>
      <p:grpSpPr>
        <a:xfrm>
          <a:off x="0" y="0"/>
          <a:ext cx="0" cy="0"/>
          <a:chOff x="0" y="0"/>
          <a:chExt cx="0" cy="0"/>
        </a:xfrm>
      </p:grpSpPr>
      <p:sp>
        <p:nvSpPr>
          <p:cNvPr id="2" name="Shape 0"/>
          <p:cNvSpPr/>
          <p:nvPr/>
        </p:nvSpPr>
        <p:spPr>
          <a:xfrm>
            <a:off x="3931920" y="777240"/>
            <a:ext cx="1280160" cy="128016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4162349" y="930859"/>
            <a:ext cx="665683" cy="665683"/>
          </a:xfrm>
          <a:prstGeom prst="diamond">
            <a:avLst/>
          </a:prstGeom>
          <a:solidFill>
            <a:srgbClr val="C9A24C"/>
          </a:solidFill>
          <a:ln w="12700">
            <a:solidFill>
              <a:srgbClr val="C9A24C"/>
            </a:solidFill>
            <a:prstDash val="solid"/>
          </a:ln>
        </p:spPr>
      </p:sp>
      <p:sp>
        <p:nvSpPr>
          <p:cNvPr id="4" name="Shape 2"/>
          <p:cNvSpPr/>
          <p:nvPr/>
        </p:nvSpPr>
        <p:spPr>
          <a:xfrm>
            <a:off x="4700016" y="1519733"/>
            <a:ext cx="332842" cy="332842"/>
          </a:xfrm>
          <a:prstGeom prst="diamond">
            <a:avLst/>
          </a:prstGeom>
          <a:solidFill>
            <a:srgbClr val="FFFFFF"/>
          </a:solidFill>
          <a:ln w="12700">
            <a:solidFill>
              <a:srgbClr val="FFFFFF"/>
            </a:solidFill>
            <a:prstDash val="solid"/>
          </a:ln>
        </p:spPr>
      </p:sp>
      <p:sp>
        <p:nvSpPr>
          <p:cNvPr id="5" name="Text 3"/>
          <p:cNvSpPr txBox="1"/>
          <p:nvPr/>
        </p:nvSpPr>
        <p:spPr>
          <a:xfrm>
            <a:off x="914400" y="2194560"/>
            <a:ext cx="7315200" cy="731520"/>
          </a:xfrm>
          <a:prstGeom prst="rect">
            <a:avLst/>
          </a:prstGeom>
          <a:noFill/>
          <a:ln/>
        </p:spPr>
        <p:txBody>
          <a:bodyPr wrap="square" lIns="0" tIns="0" rIns="0" bIns="0" rtlCol="0" anchor="t"/>
          <a:lstStyle/>
          <a:p>
            <a:pPr rtl="1" algn="ctr" indent="0" marL="0">
              <a:buNone/>
            </a:pPr>
            <a:r>
              <a:rPr lang="ar-SA" altLang="en-US" sz="4400" b="1" dirty="0">
                <a:solidFill>
                  <a:srgbClr val="FFFFFF"/>
                </a:solidFill>
                <a:latin typeface="Arial" pitchFamily="34" charset="0"/>
                <a:ea typeface="Arial" pitchFamily="34" charset="-122"/>
                <a:cs typeface="Arial" pitchFamily="34" charset="-120"/>
              </a:rPr>
              <a:t>بديهة</a:t>
            </a:r>
            <a:endParaRPr lang="ar-SA" sz="4400" dirty="0"/>
          </a:p>
        </p:txBody>
      </p:sp>
      <p:sp>
        <p:nvSpPr>
          <p:cNvPr id="6" name="Text 4"/>
          <p:cNvSpPr txBox="1"/>
          <p:nvPr/>
        </p:nvSpPr>
        <p:spPr>
          <a:xfrm>
            <a:off x="914400" y="2880360"/>
            <a:ext cx="7315200" cy="365760"/>
          </a:xfrm>
          <a:prstGeom prst="rect">
            <a:avLst/>
          </a:prstGeom>
          <a:noFill/>
          <a:ln/>
        </p:spPr>
        <p:txBody>
          <a:bodyPr wrap="square" lIns="0" tIns="0" rIns="0" bIns="0" rtlCol="0" anchor="t"/>
          <a:lstStyle/>
          <a:p>
            <a:pPr algn="ctr" indent="0" marL="0">
              <a:buNone/>
            </a:pPr>
            <a:r>
              <a:rPr lang="en-US" altLang="en-US" sz="1800" dirty="0">
                <a:solidFill>
                  <a:srgbClr val="C9A24C"/>
                </a:solidFill>
                <a:latin typeface="Arial" pitchFamily="34" charset="0"/>
                <a:ea typeface="Arial" pitchFamily="34" charset="-122"/>
                <a:cs typeface="Arial" pitchFamily="34" charset="-120"/>
              </a:rPr>
              <a:t>Badiha</a:t>
            </a:r>
            <a:endParaRPr lang="en-US" sz="1800" dirty="0"/>
          </a:p>
        </p:txBody>
      </p:sp>
      <p:sp>
        <p:nvSpPr>
          <p:cNvPr id="7" name="Text 5"/>
          <p:cNvSpPr txBox="1"/>
          <p:nvPr/>
        </p:nvSpPr>
        <p:spPr>
          <a:xfrm>
            <a:off x="731520" y="3337560"/>
            <a:ext cx="7680960" cy="365760"/>
          </a:xfrm>
          <a:prstGeom prst="rect">
            <a:avLst/>
          </a:prstGeom>
          <a:noFill/>
          <a:ln/>
        </p:spPr>
        <p:txBody>
          <a:bodyPr wrap="square" lIns="0" tIns="0" rIns="0" bIns="0" rtlCol="0" anchor="t"/>
          <a:lstStyle/>
          <a:p>
            <a:pPr rtl="1" algn="ctr" indent="0" marL="0">
              <a:buNone/>
            </a:pPr>
            <a:r>
              <a:rPr lang="ar-SA" altLang="en-US" sz="1400" dirty="0">
                <a:solidFill>
                  <a:srgbClr val="FFFFFF"/>
                </a:solidFill>
                <a:latin typeface="Arial" pitchFamily="34" charset="0"/>
                <a:ea typeface="Arial" pitchFamily="34" charset="-122"/>
                <a:cs typeface="Arial" pitchFamily="34" charset="-120"/>
              </a:rPr>
              <a:t>منصة معرفة مؤسسية تجيب موظفي الشركة من مستنداتها هي، بالعربية، مع ذكر المصدر</a:t>
            </a:r>
            <a:endParaRPr lang="ar-SA" sz="1400" dirty="0"/>
          </a:p>
        </p:txBody>
      </p:sp>
      <p:sp>
        <p:nvSpPr>
          <p:cNvPr id="8" name="Text 6"/>
          <p:cNvSpPr txBox="1"/>
          <p:nvPr/>
        </p:nvSpPr>
        <p:spPr>
          <a:xfrm>
            <a:off x="731520" y="3703320"/>
            <a:ext cx="7680960" cy="274320"/>
          </a:xfrm>
          <a:prstGeom prst="rect">
            <a:avLst/>
          </a:prstGeom>
          <a:noFill/>
          <a:ln/>
        </p:spPr>
        <p:txBody>
          <a:bodyPr wrap="square" lIns="0" tIns="0" rIns="0" bIns="0" rtlCol="0" anchor="t"/>
          <a:lstStyle/>
          <a:p>
            <a:pPr algn="ctr" indent="0" marL="0">
              <a:buNone/>
            </a:pPr>
            <a:r>
              <a:rPr lang="en-US" altLang="en-US" sz="1050" dirty="0">
                <a:solidFill>
                  <a:srgbClr val="B8C2D6"/>
                </a:solidFill>
                <a:latin typeface="Arial" pitchFamily="34" charset="0"/>
                <a:ea typeface="Arial" pitchFamily="34" charset="-122"/>
                <a:cs typeface="Arial" pitchFamily="34" charset="-120"/>
              </a:rPr>
              <a:t>Arabic-first enterprise knowledge platform · answers grounded in the company's own documents</a:t>
            </a:r>
            <a:endParaRPr lang="en-US" sz="1050" dirty="0"/>
          </a:p>
        </p:txBody>
      </p:sp>
      <p:sp>
        <p:nvSpPr>
          <p:cNvPr id="9" name="Text 7"/>
          <p:cNvSpPr txBox="1"/>
          <p:nvPr/>
        </p:nvSpPr>
        <p:spPr>
          <a:xfrm>
            <a:off x="914400" y="4389120"/>
            <a:ext cx="7315200" cy="274320"/>
          </a:xfrm>
          <a:prstGeom prst="rect">
            <a:avLst/>
          </a:prstGeom>
          <a:noFill/>
          <a:ln/>
        </p:spPr>
        <p:txBody>
          <a:bodyPr wrap="square" lIns="0" tIns="0" rIns="0" bIns="0" rtlCol="0" anchor="t"/>
          <a:lstStyle/>
          <a:p>
            <a:pPr rtl="1" algn="ctr" indent="0" marL="0">
              <a:buNone/>
            </a:pPr>
            <a:r>
              <a:rPr lang="ar-SA" altLang="en-US" sz="1100" dirty="0">
                <a:solidFill>
                  <a:srgbClr val="B8C2D6"/>
                </a:solidFill>
                <a:latin typeface="Arial" pitchFamily="34" charset="0"/>
                <a:ea typeface="Arial" pitchFamily="34" charset="-122"/>
                <a:cs typeface="Arial" pitchFamily="34" charset="-120"/>
              </a:rPr>
              <a:t>ملف المشروع لطلب رخصة ريادة الأعمال · المؤسِّسة: منال العارقي</a:t>
            </a:r>
            <a:endParaRPr lang="ar-SA"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المقدمة: السياق والتحدي</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Introduction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4663440" y="1280160"/>
            <a:ext cx="3931920" cy="3291840"/>
          </a:xfrm>
          <a:prstGeom prst="roundRect">
            <a:avLst>
              <a:gd name="adj" fmla="val 2778"/>
            </a:avLst>
          </a:prstGeom>
          <a:solidFill>
            <a:srgbClr val="E9EEF6"/>
          </a:solidFill>
          <a:ln w="12700">
            <a:solidFill>
              <a:srgbClr val="E9EEF6"/>
            </a:solidFill>
            <a:prstDash val="solid"/>
          </a:ln>
        </p:spPr>
      </p:sp>
      <p:sp>
        <p:nvSpPr>
          <p:cNvPr id="9" name="Text 7"/>
          <p:cNvSpPr txBox="1"/>
          <p:nvPr/>
        </p:nvSpPr>
        <p:spPr>
          <a:xfrm>
            <a:off x="4828032" y="1408176"/>
            <a:ext cx="3602736" cy="292608"/>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السياق الوطني</a:t>
            </a:r>
            <a:endParaRPr lang="ar-SA" sz="1300" dirty="0"/>
          </a:p>
        </p:txBody>
      </p:sp>
      <p:sp>
        <p:nvSpPr>
          <p:cNvPr id="10" name="Text 8"/>
          <p:cNvSpPr txBox="1"/>
          <p:nvPr/>
        </p:nvSpPr>
        <p:spPr>
          <a:xfrm>
            <a:off x="4828032" y="1737360"/>
            <a:ext cx="3602736" cy="2706624"/>
          </a:xfrm>
          <a:prstGeom prst="rect">
            <a:avLst/>
          </a:prstGeom>
          <a:noFill/>
          <a:ln/>
        </p:spPr>
        <p:txBody>
          <a:bodyPr wrap="square" lIns="0" tIns="0" rIns="0" bIns="0" rtlCol="0" anchor="t"/>
          <a:lstStyle/>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تضع رؤية ٢٠٣٠ التحول الرقمي والاقتصاد القائم على البيانات في صلب أهدافها، وتقود الهيئة السعودية للبيانات والذكاء الاصطناعي (سدايا) استراتيجية وطنية لتوطين حلول الذكاء الاصطناعي.</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وفي المقابل، معظم معرفة الشركات السعودية محبوسة في ملفات PDF وWord وأرشيفات ممسوحة ضوئيًا، مكتوبة بالعربية، لا تقرؤها الأدوات العالمية كما ينبغي.</a:t>
            </a:r>
            <a:endParaRPr lang="ar-SA" sz="1000" dirty="0"/>
          </a:p>
        </p:txBody>
      </p:sp>
      <p:sp>
        <p:nvSpPr>
          <p:cNvPr id="11" name="Shape 9"/>
          <p:cNvSpPr/>
          <p:nvPr/>
        </p:nvSpPr>
        <p:spPr>
          <a:xfrm>
            <a:off x="548640" y="1280160"/>
            <a:ext cx="3931920" cy="3291840"/>
          </a:xfrm>
          <a:prstGeom prst="roundRect">
            <a:avLst>
              <a:gd name="adj" fmla="val 2778"/>
            </a:avLst>
          </a:prstGeom>
          <a:solidFill>
            <a:srgbClr val="FFFFFF"/>
          </a:solidFill>
          <a:ln w="12700">
            <a:solidFill>
              <a:srgbClr val="D9DEE7"/>
            </a:solidFill>
            <a:prstDash val="solid"/>
          </a:ln>
        </p:spPr>
      </p:sp>
      <p:sp>
        <p:nvSpPr>
          <p:cNvPr id="12" name="Text 10"/>
          <p:cNvSpPr txBox="1"/>
          <p:nvPr/>
        </p:nvSpPr>
        <p:spPr>
          <a:xfrm>
            <a:off x="713232" y="1408176"/>
            <a:ext cx="3602736" cy="292608"/>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التحدي الذي تحلّه بديهة</a:t>
            </a:r>
            <a:endParaRPr lang="ar-SA" sz="1300" dirty="0"/>
          </a:p>
        </p:txBody>
      </p:sp>
      <p:sp>
        <p:nvSpPr>
          <p:cNvPr id="13" name="Text 11"/>
          <p:cNvSpPr txBox="1"/>
          <p:nvPr/>
        </p:nvSpPr>
        <p:spPr>
          <a:xfrm>
            <a:off x="713232" y="1737360"/>
            <a:ext cx="3602736" cy="2706624"/>
          </a:xfrm>
          <a:prstGeom prst="rect">
            <a:avLst/>
          </a:prstGeom>
          <a:noFill/>
          <a:ln/>
        </p:spPr>
        <p:txBody>
          <a:bodyPr wrap="square" lIns="0" tIns="0" rIns="0" bIns="0" rtlCol="0" anchor="t"/>
          <a:lstStyle/>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الموظف يسأل زميله بدل أن يجد الجواب في اللائحة، فتتكرّر الأسئلة نفسها كل يوم.</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الأدوات العامة تخطئ في قراءة ملفات PDF العربية، وتخترع تفاصيل لا وجود لها في السياسة.</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لا أحد يعرف أي الأسئلة بلا جواب موثّق، فتبقى فجوات التوثيق مخفية.</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الأرشيف الممسوح ضوئيًا، وهو جزء كبير من مستندات الشركات، خارج أي بحث.</a:t>
            </a:r>
            <a:endParaRPr lang="ar-SA"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من تربط المنصة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Who the platform connects</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3108960" y="1737360"/>
            <a:ext cx="1463040" cy="1143000"/>
          </a:xfrm>
          <a:prstGeom prst="line">
            <a:avLst/>
          </a:prstGeom>
          <a:noFill/>
          <a:ln w="19050">
            <a:solidFill>
              <a:srgbClr val="C9A24C"/>
            </a:solidFill>
            <a:prstDash val="dash"/>
          </a:ln>
        </p:spPr>
      </p:sp>
      <p:sp>
        <p:nvSpPr>
          <p:cNvPr id="9" name="Shape 7"/>
          <p:cNvSpPr/>
          <p:nvPr/>
        </p:nvSpPr>
        <p:spPr>
          <a:xfrm flipV="1">
            <a:off x="4572000" y="1737360"/>
            <a:ext cx="1463040" cy="1143000"/>
          </a:xfrm>
          <a:prstGeom prst="line">
            <a:avLst/>
          </a:prstGeom>
          <a:noFill/>
          <a:ln w="19050">
            <a:solidFill>
              <a:srgbClr val="C9A24C"/>
            </a:solidFill>
            <a:prstDash val="dash"/>
          </a:ln>
        </p:spPr>
      </p:sp>
      <p:sp>
        <p:nvSpPr>
          <p:cNvPr id="10" name="Shape 8"/>
          <p:cNvSpPr/>
          <p:nvPr/>
        </p:nvSpPr>
        <p:spPr>
          <a:xfrm flipV="1">
            <a:off x="3108960" y="2880360"/>
            <a:ext cx="1463040" cy="1143000"/>
          </a:xfrm>
          <a:prstGeom prst="line">
            <a:avLst/>
          </a:prstGeom>
          <a:noFill/>
          <a:ln w="19050">
            <a:solidFill>
              <a:srgbClr val="C9A24C"/>
            </a:solidFill>
            <a:prstDash val="dash"/>
          </a:ln>
        </p:spPr>
      </p:sp>
      <p:sp>
        <p:nvSpPr>
          <p:cNvPr id="11" name="Shape 9"/>
          <p:cNvSpPr/>
          <p:nvPr/>
        </p:nvSpPr>
        <p:spPr>
          <a:xfrm>
            <a:off x="4572000" y="2880360"/>
            <a:ext cx="1463040" cy="1143000"/>
          </a:xfrm>
          <a:prstGeom prst="line">
            <a:avLst/>
          </a:prstGeom>
          <a:noFill/>
          <a:ln w="19050">
            <a:solidFill>
              <a:srgbClr val="C9A24C"/>
            </a:solidFill>
            <a:prstDash val="dash"/>
          </a:ln>
        </p:spPr>
      </p:sp>
      <p:sp>
        <p:nvSpPr>
          <p:cNvPr id="12" name="Shape 10"/>
          <p:cNvSpPr/>
          <p:nvPr/>
        </p:nvSpPr>
        <p:spPr>
          <a:xfrm>
            <a:off x="3840480" y="2148840"/>
            <a:ext cx="1463040" cy="1463040"/>
          </a:xfrm>
          <a:prstGeom prst="ellipse">
            <a:avLst/>
          </a:prstGeom>
          <a:solidFill>
            <a:srgbClr val="1E3967"/>
          </a:solidFill>
          <a:ln w="12700">
            <a:solidFill>
              <a:srgbClr val="1E3967"/>
            </a:solidFill>
            <a:prstDash val="solid"/>
          </a:ln>
        </p:spPr>
      </p:sp>
      <p:sp>
        <p:nvSpPr>
          <p:cNvPr id="13" name="Text 11"/>
          <p:cNvSpPr txBox="1"/>
          <p:nvPr/>
        </p:nvSpPr>
        <p:spPr>
          <a:xfrm>
            <a:off x="3840480" y="2651760"/>
            <a:ext cx="1463040" cy="457200"/>
          </a:xfrm>
          <a:prstGeom prst="rect">
            <a:avLst/>
          </a:prstGeom>
          <a:noFill/>
          <a:ln/>
        </p:spPr>
        <p:txBody>
          <a:bodyPr wrap="square" lIns="0" tIns="0" rIns="0" bIns="0" rtlCol="0" anchor="t"/>
          <a:lstStyle/>
          <a:p>
            <a:pPr rtl="1" algn="ctr" indent="0" marL="0">
              <a:buNone/>
            </a:pPr>
            <a:r>
              <a:rPr lang="ar-SA" altLang="en-US" sz="1800" b="1" dirty="0">
                <a:solidFill>
                  <a:srgbClr val="FFFFFF"/>
                </a:solidFill>
                <a:latin typeface="Arial" pitchFamily="34" charset="0"/>
                <a:ea typeface="Arial" pitchFamily="34" charset="-122"/>
                <a:cs typeface="Arial" pitchFamily="34" charset="-120"/>
              </a:rPr>
              <a:t>بديهة</a:t>
            </a:r>
            <a:endParaRPr lang="ar-SA" sz="1800" dirty="0"/>
          </a:p>
        </p:txBody>
      </p:sp>
      <p:sp>
        <p:nvSpPr>
          <p:cNvPr id="14" name="Shape 12"/>
          <p:cNvSpPr/>
          <p:nvPr/>
        </p:nvSpPr>
        <p:spPr>
          <a:xfrm>
            <a:off x="640080" y="1188720"/>
            <a:ext cx="2468880" cy="1097280"/>
          </a:xfrm>
          <a:prstGeom prst="roundRect">
            <a:avLst>
              <a:gd name="adj" fmla="val 8333"/>
            </a:avLst>
          </a:prstGeom>
          <a:solidFill>
            <a:srgbClr val="E9EEF6"/>
          </a:solidFill>
          <a:ln w="12700">
            <a:solidFill>
              <a:srgbClr val="E9EEF6"/>
            </a:solidFill>
            <a:prstDash val="solid"/>
          </a:ln>
        </p:spPr>
      </p:sp>
      <p:sp>
        <p:nvSpPr>
          <p:cNvPr id="15" name="Text 13"/>
          <p:cNvSpPr txBox="1"/>
          <p:nvPr/>
        </p:nvSpPr>
        <p:spPr>
          <a:xfrm>
            <a:off x="804672" y="1316736"/>
            <a:ext cx="213969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إدارة الشركة</a:t>
            </a:r>
            <a:endParaRPr lang="ar-SA" sz="1250" dirty="0"/>
          </a:p>
        </p:txBody>
      </p:sp>
      <p:sp>
        <p:nvSpPr>
          <p:cNvPr id="16" name="Text 14"/>
          <p:cNvSpPr txBox="1"/>
          <p:nvPr/>
        </p:nvSpPr>
        <p:spPr>
          <a:xfrm>
            <a:off x="804672" y="1645920"/>
            <a:ext cx="2139696" cy="5120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ترفع اللوائح والإجراءات، وتحدّد من يرى ماذا، وتقرأ التحليلات</a:t>
            </a:r>
            <a:endParaRPr lang="ar-SA" sz="950" dirty="0"/>
          </a:p>
        </p:txBody>
      </p:sp>
      <p:sp>
        <p:nvSpPr>
          <p:cNvPr id="17" name="Shape 15"/>
          <p:cNvSpPr/>
          <p:nvPr/>
        </p:nvSpPr>
        <p:spPr>
          <a:xfrm>
            <a:off x="6035040" y="1188720"/>
            <a:ext cx="2468880" cy="1097280"/>
          </a:xfrm>
          <a:prstGeom prst="roundRect">
            <a:avLst>
              <a:gd name="adj" fmla="val 8333"/>
            </a:avLst>
          </a:prstGeom>
          <a:solidFill>
            <a:srgbClr val="E9EEF6"/>
          </a:solidFill>
          <a:ln w="12700">
            <a:solidFill>
              <a:srgbClr val="E9EEF6"/>
            </a:solidFill>
            <a:prstDash val="solid"/>
          </a:ln>
        </p:spPr>
      </p:sp>
      <p:sp>
        <p:nvSpPr>
          <p:cNvPr id="18" name="Text 16"/>
          <p:cNvSpPr txBox="1"/>
          <p:nvPr/>
        </p:nvSpPr>
        <p:spPr>
          <a:xfrm>
            <a:off x="6199632" y="1316736"/>
            <a:ext cx="213969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الموظفون</a:t>
            </a:r>
            <a:endParaRPr lang="ar-SA" sz="1250" dirty="0"/>
          </a:p>
        </p:txBody>
      </p:sp>
      <p:sp>
        <p:nvSpPr>
          <p:cNvPr id="19" name="Text 17"/>
          <p:cNvSpPr txBox="1"/>
          <p:nvPr/>
        </p:nvSpPr>
        <p:spPr>
          <a:xfrm>
            <a:off x="6199632" y="1645920"/>
            <a:ext cx="2139696" cy="5120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يسألون بلغتهم عبر الويب أو واتساب، ويحصلون على جواب بمصدره</a:t>
            </a:r>
            <a:endParaRPr lang="ar-SA" sz="950" dirty="0"/>
          </a:p>
        </p:txBody>
      </p:sp>
      <p:sp>
        <p:nvSpPr>
          <p:cNvPr id="20" name="Shape 18"/>
          <p:cNvSpPr/>
          <p:nvPr/>
        </p:nvSpPr>
        <p:spPr>
          <a:xfrm>
            <a:off x="640080" y="3474720"/>
            <a:ext cx="2468880" cy="1097280"/>
          </a:xfrm>
          <a:prstGeom prst="roundRect">
            <a:avLst>
              <a:gd name="adj" fmla="val 8333"/>
            </a:avLst>
          </a:prstGeom>
          <a:solidFill>
            <a:srgbClr val="E9EEF6"/>
          </a:solidFill>
          <a:ln w="12700">
            <a:solidFill>
              <a:srgbClr val="E9EEF6"/>
            </a:solidFill>
            <a:prstDash val="solid"/>
          </a:ln>
        </p:spPr>
      </p:sp>
      <p:sp>
        <p:nvSpPr>
          <p:cNvPr id="21" name="Text 19"/>
          <p:cNvSpPr txBox="1"/>
          <p:nvPr/>
        </p:nvSpPr>
        <p:spPr>
          <a:xfrm>
            <a:off x="804672" y="3602736"/>
            <a:ext cx="213969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مستندات الشركة</a:t>
            </a:r>
            <a:endParaRPr lang="ar-SA" sz="1250" dirty="0"/>
          </a:p>
        </p:txBody>
      </p:sp>
      <p:sp>
        <p:nvSpPr>
          <p:cNvPr id="22" name="Text 20"/>
          <p:cNvSpPr txBox="1"/>
          <p:nvPr/>
        </p:nvSpPr>
        <p:spPr>
          <a:xfrm>
            <a:off x="804672" y="3931920"/>
            <a:ext cx="2139696" cy="5120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PDF وWord وExcel ونصوص ومسوحات ضوئية وصور — تُقرأ وتُفهرس</a:t>
            </a:r>
            <a:endParaRPr lang="ar-SA" sz="950" dirty="0"/>
          </a:p>
        </p:txBody>
      </p:sp>
      <p:sp>
        <p:nvSpPr>
          <p:cNvPr id="23" name="Shape 21"/>
          <p:cNvSpPr/>
          <p:nvPr/>
        </p:nvSpPr>
        <p:spPr>
          <a:xfrm>
            <a:off x="6035040" y="3474720"/>
            <a:ext cx="2468880" cy="1097280"/>
          </a:xfrm>
          <a:prstGeom prst="roundRect">
            <a:avLst>
              <a:gd name="adj" fmla="val 8333"/>
            </a:avLst>
          </a:prstGeom>
          <a:solidFill>
            <a:srgbClr val="E9EEF6"/>
          </a:solidFill>
          <a:ln w="12700">
            <a:solidFill>
              <a:srgbClr val="E9EEF6"/>
            </a:solidFill>
            <a:prstDash val="solid"/>
          </a:ln>
        </p:spPr>
      </p:sp>
      <p:sp>
        <p:nvSpPr>
          <p:cNvPr id="24" name="Text 22"/>
          <p:cNvSpPr txBox="1"/>
          <p:nvPr/>
        </p:nvSpPr>
        <p:spPr>
          <a:xfrm>
            <a:off x="6199632" y="3602736"/>
            <a:ext cx="213969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نماذج الذكاء الاصطناعي</a:t>
            </a:r>
            <a:endParaRPr lang="ar-SA" sz="1250" dirty="0"/>
          </a:p>
        </p:txBody>
      </p:sp>
      <p:sp>
        <p:nvSpPr>
          <p:cNvPr id="25" name="Text 23"/>
          <p:cNvSpPr txBox="1"/>
          <p:nvPr/>
        </p:nvSpPr>
        <p:spPr>
          <a:xfrm>
            <a:off x="6199632" y="3931920"/>
            <a:ext cx="2139696" cy="5120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مقيَّدة بمستندات الشركة وحدها، ويمرّ كل جواب بمدقّق مستقل</a:t>
            </a:r>
            <a:endParaRPr lang="ar-SA"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نبذة عن المشروع</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About the project</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4023360" y="1234440"/>
            <a:ext cx="4572000" cy="3383280"/>
          </a:xfrm>
          <a:prstGeom prst="rect">
            <a:avLst/>
          </a:prstGeom>
          <a:noFill/>
          <a:ln/>
        </p:spPr>
        <p:txBody>
          <a:bodyPr wrap="square" lIns="0" tIns="0" rIns="0" bIns="0" rtlCol="0" anchor="t"/>
          <a:lstStyle/>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بديهة منصة سعودية تعمل في الإنتاج اليوم. ترفع الشركة لوائحها وسياساتها وأدلة إجراءاتها، فيسأل موظفوها بالعربية ويحصلون على إجابات مبنية على تلك المستندات وحدها، مع اسم المستند ورقم الصفحة تحت كل إجابة.</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وحين لا يجد النظام جوابًا يقول ذلك صراحةً بدل أن يخترع، ويسجّل السؤال في تقرير فجوات المعرفة الذي يوجّه الإدارة إلى ما ينقص توثيقه.</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المنصة متعددة المستأجرين: كل شركة معزولة عن الأخرى داخل قاعدة البيانات، والصلاحيات على مستوى المستند الواحد (الشركة، القسم، الدور).</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النشاط التجاري الرئيسي: تطوير وتشغيل منصة سحابية (SaaS) تُباع باشتراك شهري أو سنوي لمنشآت القطاع الخاص في المملكة. رموز التصنيف الوطني: 620113 (رئيسي)، 620102، 620111، 582001.</a:t>
            </a:r>
            <a:endParaRPr lang="ar-SA" sz="1150" dirty="0"/>
          </a:p>
        </p:txBody>
      </p:sp>
      <p:sp>
        <p:nvSpPr>
          <p:cNvPr id="9" name="Shape 7"/>
          <p:cNvSpPr/>
          <p:nvPr/>
        </p:nvSpPr>
        <p:spPr>
          <a:xfrm>
            <a:off x="548640" y="1234440"/>
            <a:ext cx="3200400" cy="3200400"/>
          </a:xfrm>
          <a:prstGeom prst="roundRect">
            <a:avLst>
              <a:gd name="adj" fmla="val 2857"/>
            </a:avLst>
          </a:prstGeom>
          <a:solidFill>
            <a:srgbClr val="FFFFFF"/>
          </a:solidFill>
          <a:ln w="12700">
            <a:solidFill>
              <a:srgbClr val="D9DEE7"/>
            </a:solidFill>
            <a:prstDash val="solid"/>
          </a:ln>
        </p:spPr>
      </p:sp>
      <p:sp>
        <p:nvSpPr>
          <p:cNvPr id="10" name="Shape 8"/>
          <p:cNvSpPr/>
          <p:nvPr/>
        </p:nvSpPr>
        <p:spPr>
          <a:xfrm>
            <a:off x="914400" y="1508760"/>
            <a:ext cx="2468880" cy="457200"/>
          </a:xfrm>
          <a:prstGeom prst="roundRect">
            <a:avLst>
              <a:gd name="adj" fmla="val 20000"/>
            </a:avLst>
          </a:prstGeom>
          <a:solidFill>
            <a:srgbClr val="E9EEF6"/>
          </a:solidFill>
          <a:ln w="12700">
            <a:solidFill>
              <a:srgbClr val="E9EEF6"/>
            </a:solidFill>
            <a:prstDash val="solid"/>
          </a:ln>
        </p:spPr>
      </p:sp>
      <p:sp>
        <p:nvSpPr>
          <p:cNvPr id="11" name="Text 9"/>
          <p:cNvSpPr txBox="1"/>
          <p:nvPr/>
        </p:nvSpPr>
        <p:spPr>
          <a:xfrm>
            <a:off x="1005840" y="1600200"/>
            <a:ext cx="2286000" cy="274320"/>
          </a:xfrm>
          <a:prstGeom prst="rect">
            <a:avLst/>
          </a:prstGeom>
          <a:noFill/>
          <a:ln/>
        </p:spPr>
        <p:txBody>
          <a:bodyPr wrap="square" lIns="0" tIns="0" rIns="0" bIns="0" rtlCol="0" anchor="t"/>
          <a:lstStyle/>
          <a:p>
            <a:pPr rtl="1" algn="r" indent="0" marL="0">
              <a:buNone/>
            </a:pPr>
            <a:r>
              <a:rPr lang="ar-SA" altLang="en-US" sz="1000" dirty="0">
                <a:solidFill>
                  <a:srgbClr val="1B2330"/>
                </a:solidFill>
                <a:latin typeface="Arial" pitchFamily="34" charset="0"/>
                <a:ea typeface="Arial" pitchFamily="34" charset="-122"/>
                <a:cs typeface="Arial" pitchFamily="34" charset="-120"/>
              </a:rPr>
              <a:t>كم مدة الإجازة السنوية؟</a:t>
            </a:r>
            <a:endParaRPr lang="ar-SA" sz="1000" dirty="0"/>
          </a:p>
        </p:txBody>
      </p:sp>
      <p:sp>
        <p:nvSpPr>
          <p:cNvPr id="12" name="Shape 10"/>
          <p:cNvSpPr/>
          <p:nvPr/>
        </p:nvSpPr>
        <p:spPr>
          <a:xfrm>
            <a:off x="731520" y="2148840"/>
            <a:ext cx="2834640" cy="1371600"/>
          </a:xfrm>
          <a:prstGeom prst="roundRect">
            <a:avLst>
              <a:gd name="adj" fmla="val 6667"/>
            </a:avLst>
          </a:prstGeom>
          <a:solidFill>
            <a:srgbClr val="FFFFFF"/>
          </a:solidFill>
          <a:ln w="12700">
            <a:solidFill>
              <a:srgbClr val="D9DEE7"/>
            </a:solidFill>
            <a:prstDash val="solid"/>
          </a:ln>
        </p:spPr>
      </p:sp>
      <p:sp>
        <p:nvSpPr>
          <p:cNvPr id="13" name="Text 11"/>
          <p:cNvSpPr txBox="1"/>
          <p:nvPr/>
        </p:nvSpPr>
        <p:spPr>
          <a:xfrm>
            <a:off x="868680" y="2240280"/>
            <a:ext cx="2560320" cy="64008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٣٠ يومًا بعد إتمام خمس سنوات من الخدمة، و٢١ يومًا قبل ذلك.</a:t>
            </a:r>
            <a:endParaRPr lang="ar-SA" sz="1000" dirty="0"/>
          </a:p>
        </p:txBody>
      </p:sp>
      <p:sp>
        <p:nvSpPr>
          <p:cNvPr id="14" name="Shape 12"/>
          <p:cNvSpPr/>
          <p:nvPr/>
        </p:nvSpPr>
        <p:spPr>
          <a:xfrm>
            <a:off x="1737360" y="3017520"/>
            <a:ext cx="1691640" cy="292608"/>
          </a:xfrm>
          <a:prstGeom prst="roundRect">
            <a:avLst>
              <a:gd name="adj" fmla="val 50000"/>
            </a:avLst>
          </a:prstGeom>
          <a:solidFill>
            <a:srgbClr val="E9EEF6"/>
          </a:solidFill>
          <a:ln w="12700">
            <a:solidFill>
              <a:srgbClr val="E9EEF6"/>
            </a:solidFill>
            <a:prstDash val="solid"/>
          </a:ln>
        </p:spPr>
      </p:sp>
      <p:sp>
        <p:nvSpPr>
          <p:cNvPr id="15" name="Text 13"/>
          <p:cNvSpPr txBox="1"/>
          <p:nvPr/>
        </p:nvSpPr>
        <p:spPr>
          <a:xfrm>
            <a:off x="1783080" y="3063240"/>
            <a:ext cx="1600200" cy="228600"/>
          </a:xfrm>
          <a:prstGeom prst="rect">
            <a:avLst/>
          </a:prstGeom>
          <a:noFill/>
          <a:ln/>
        </p:spPr>
        <p:txBody>
          <a:bodyPr wrap="square" lIns="0" tIns="0" rIns="0" bIns="0" rtlCol="0" anchor="t"/>
          <a:lstStyle/>
          <a:p>
            <a:pPr rtl="1" algn="ctr" indent="0" marL="0">
              <a:buNone/>
            </a:pPr>
            <a:r>
              <a:rPr lang="ar-SA" altLang="en-US" sz="800" dirty="0">
                <a:solidFill>
                  <a:srgbClr val="1E3967"/>
                </a:solidFill>
                <a:latin typeface="Arial" pitchFamily="34" charset="0"/>
                <a:ea typeface="Arial" pitchFamily="34" charset="-122"/>
                <a:cs typeface="Arial" pitchFamily="34" charset="-120"/>
              </a:rPr>
              <a:t>لائحة الموارد البشرية · ص ١٢</a:t>
            </a:r>
            <a:endParaRPr lang="ar-SA" sz="800" dirty="0"/>
          </a:p>
        </p:txBody>
      </p:sp>
      <p:sp>
        <p:nvSpPr>
          <p:cNvPr id="16" name="Text 14"/>
          <p:cNvSpPr txBox="1"/>
          <p:nvPr/>
        </p:nvSpPr>
        <p:spPr>
          <a:xfrm>
            <a:off x="868680" y="3063240"/>
            <a:ext cx="822960" cy="228600"/>
          </a:xfrm>
          <a:prstGeom prst="rect">
            <a:avLst/>
          </a:prstGeom>
          <a:noFill/>
          <a:ln/>
        </p:spPr>
        <p:txBody>
          <a:bodyPr wrap="square" lIns="0" tIns="0" rIns="0" bIns="0" rtlCol="0" anchor="t"/>
          <a:lstStyle/>
          <a:p>
            <a:pPr rtl="1" algn="l" indent="0" marL="0">
              <a:buNone/>
            </a:pPr>
            <a:r>
              <a:rPr lang="ar-SA" altLang="en-US" sz="800" b="1" dirty="0">
                <a:solidFill>
                  <a:srgbClr val="1E7F4F"/>
                </a:solidFill>
                <a:latin typeface="Arial" pitchFamily="34" charset="0"/>
                <a:ea typeface="Arial" pitchFamily="34" charset="-122"/>
                <a:cs typeface="Arial" pitchFamily="34" charset="-120"/>
              </a:rPr>
              <a:t>ثقة عالية ✓</a:t>
            </a:r>
            <a:endParaRPr lang="ar-SA" sz="800" dirty="0"/>
          </a:p>
        </p:txBody>
      </p:sp>
      <p:sp>
        <p:nvSpPr>
          <p:cNvPr id="17" name="Shape 15"/>
          <p:cNvSpPr/>
          <p:nvPr/>
        </p:nvSpPr>
        <p:spPr>
          <a:xfrm>
            <a:off x="731520" y="3749040"/>
            <a:ext cx="2834640" cy="411480"/>
          </a:xfrm>
          <a:prstGeom prst="roundRect">
            <a:avLst>
              <a:gd name="adj" fmla="val 22222"/>
            </a:avLst>
          </a:prstGeom>
          <a:solidFill>
            <a:srgbClr val="FFFFFF"/>
          </a:solidFill>
          <a:ln w="12700">
            <a:solidFill>
              <a:srgbClr val="D9DEE7"/>
            </a:solidFill>
            <a:prstDash val="solid"/>
          </a:ln>
        </p:spPr>
      </p:sp>
      <p:sp>
        <p:nvSpPr>
          <p:cNvPr id="18" name="Text 16"/>
          <p:cNvSpPr txBox="1"/>
          <p:nvPr/>
        </p:nvSpPr>
        <p:spPr>
          <a:xfrm>
            <a:off x="868680" y="3840480"/>
            <a:ext cx="2560320" cy="228600"/>
          </a:xfrm>
          <a:prstGeom prst="rect">
            <a:avLst/>
          </a:prstGeom>
          <a:noFill/>
          <a:ln/>
        </p:spPr>
        <p:txBody>
          <a:bodyPr wrap="square" lIns="0" tIns="0" rIns="0" bIns="0" rtlCol="0" anchor="t"/>
          <a:lstStyle/>
          <a:p>
            <a:pPr rtl="1" algn="r" indent="0" marL="0">
              <a:buNone/>
            </a:pPr>
            <a:r>
              <a:rPr lang="ar-SA" altLang="en-US" sz="900" dirty="0">
                <a:solidFill>
                  <a:srgbClr val="5B6573"/>
                </a:solidFill>
                <a:latin typeface="Arial" pitchFamily="34" charset="0"/>
                <a:ea typeface="Arial" pitchFamily="34" charset="-122"/>
                <a:cs typeface="Arial" pitchFamily="34" charset="-120"/>
              </a:rPr>
              <a:t>اسأل عن سياسة أو إجراء…</a:t>
            </a:r>
            <a:endParaRPr lang="ar-SA"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المميزات المنفَّذة في المنصة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Shipped product features</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1188720" y="1024128"/>
            <a:ext cx="7406640" cy="256032"/>
          </a:xfrm>
          <a:prstGeom prst="rect">
            <a:avLst/>
          </a:prstGeom>
          <a:noFill/>
          <a:ln/>
        </p:spPr>
        <p:txBody>
          <a:bodyPr wrap="square" lIns="0" tIns="0" rIns="0" bIns="0" rtlCol="0" anchor="t"/>
          <a:lstStyle/>
          <a:p>
            <a:pPr rtl="1" algn="r" indent="0" marL="0">
              <a:buNone/>
            </a:pPr>
            <a:r>
              <a:rPr lang="ar-SA" altLang="en-US" sz="1000" dirty="0">
                <a:solidFill>
                  <a:srgbClr val="5B6573"/>
                </a:solidFill>
                <a:latin typeface="Arial" pitchFamily="34" charset="0"/>
                <a:ea typeface="Arial" pitchFamily="34" charset="-122"/>
                <a:cs typeface="Arial" pitchFamily="34" charset="-120"/>
              </a:rPr>
              <a:t>عشرون ميزة تعمل في الإنتاج اليوم، موزّعة على خمسة محاور. لا ميزة هنا قيد التطوير أو موعودة.</a:t>
            </a:r>
            <a:endParaRPr lang="ar-SA" sz="1000" dirty="0"/>
          </a:p>
        </p:txBody>
      </p:sp>
      <p:sp>
        <p:nvSpPr>
          <p:cNvPr id="9" name="Shape 7"/>
          <p:cNvSpPr/>
          <p:nvPr/>
        </p:nvSpPr>
        <p:spPr>
          <a:xfrm>
            <a:off x="7196328" y="1371600"/>
            <a:ext cx="1581912" cy="2697480"/>
          </a:xfrm>
          <a:prstGeom prst="roundRect">
            <a:avLst>
              <a:gd name="adj" fmla="val 5780"/>
            </a:avLst>
          </a:prstGeom>
          <a:solidFill>
            <a:srgbClr val="E9EEF6"/>
          </a:solidFill>
          <a:ln w="12700">
            <a:solidFill>
              <a:srgbClr val="E9EEF6"/>
            </a:solidFill>
            <a:prstDash val="solid"/>
          </a:ln>
        </p:spPr>
      </p:sp>
      <p:sp>
        <p:nvSpPr>
          <p:cNvPr id="10" name="Text 8"/>
          <p:cNvSpPr txBox="1"/>
          <p:nvPr/>
        </p:nvSpPr>
        <p:spPr>
          <a:xfrm>
            <a:off x="7324344"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المساعد الذكي</a:t>
            </a:r>
            <a:endParaRPr lang="ar-SA" sz="1200" dirty="0"/>
          </a:p>
        </p:txBody>
      </p:sp>
      <p:sp>
        <p:nvSpPr>
          <p:cNvPr id="11" name="Text 9"/>
          <p:cNvSpPr txBox="1"/>
          <p:nvPr/>
        </p:nvSpPr>
        <p:spPr>
          <a:xfrm>
            <a:off x="7324344"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محادثة طبيعية بلا معرفة اسم المستند</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مصادر مع كل إجابة: المستند والصفحة</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عربي وإنجليزي في السؤال والجواب</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سجل محادثات قابل للاستئناف والتقييم</a:t>
            </a:r>
            <a:endParaRPr lang="ar-SA" sz="880" dirty="0"/>
          </a:p>
        </p:txBody>
      </p:sp>
      <p:sp>
        <p:nvSpPr>
          <p:cNvPr id="12" name="Shape 10"/>
          <p:cNvSpPr/>
          <p:nvPr/>
        </p:nvSpPr>
        <p:spPr>
          <a:xfrm>
            <a:off x="5522976" y="1371600"/>
            <a:ext cx="1581912" cy="2697480"/>
          </a:xfrm>
          <a:prstGeom prst="roundRect">
            <a:avLst>
              <a:gd name="adj" fmla="val 5780"/>
            </a:avLst>
          </a:prstGeom>
          <a:solidFill>
            <a:srgbClr val="FFFFFF"/>
          </a:solidFill>
          <a:ln w="12700">
            <a:solidFill>
              <a:srgbClr val="D9DEE7"/>
            </a:solidFill>
            <a:prstDash val="solid"/>
          </a:ln>
        </p:spPr>
      </p:sp>
      <p:sp>
        <p:nvSpPr>
          <p:cNvPr id="13" name="Text 11"/>
          <p:cNvSpPr txBox="1"/>
          <p:nvPr/>
        </p:nvSpPr>
        <p:spPr>
          <a:xfrm>
            <a:off x="5650992"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الثقة في الإجابة</a:t>
            </a:r>
            <a:endParaRPr lang="ar-SA" sz="1200" dirty="0"/>
          </a:p>
        </p:txBody>
      </p:sp>
      <p:sp>
        <p:nvSpPr>
          <p:cNvPr id="14" name="Text 12"/>
          <p:cNvSpPr txBox="1"/>
          <p:nvPr/>
        </p:nvSpPr>
        <p:spPr>
          <a:xfrm>
            <a:off x="5650992"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التحقق من كل رقم ومدة ومبلغ</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درجة ثقة ظاهرة: عالية · متوسطة · منخفضة</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عرض المصادر المستعملة فعلًا لا كل ما بُحث</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يقول «لم أجد» بدل أن يخترع</a:t>
            </a:r>
            <a:endParaRPr lang="ar-SA" sz="880" dirty="0"/>
          </a:p>
        </p:txBody>
      </p:sp>
      <p:sp>
        <p:nvSpPr>
          <p:cNvPr id="15" name="Shape 13"/>
          <p:cNvSpPr/>
          <p:nvPr/>
        </p:nvSpPr>
        <p:spPr>
          <a:xfrm>
            <a:off x="3849624" y="1371600"/>
            <a:ext cx="1581912" cy="2697480"/>
          </a:xfrm>
          <a:prstGeom prst="roundRect">
            <a:avLst>
              <a:gd name="adj" fmla="val 5780"/>
            </a:avLst>
          </a:prstGeom>
          <a:solidFill>
            <a:srgbClr val="E9EEF6"/>
          </a:solidFill>
          <a:ln w="12700">
            <a:solidFill>
              <a:srgbClr val="E9EEF6"/>
            </a:solidFill>
            <a:prstDash val="solid"/>
          </a:ln>
        </p:spPr>
      </p:sp>
      <p:sp>
        <p:nvSpPr>
          <p:cNvPr id="16" name="Text 14"/>
          <p:cNvSpPr txBox="1"/>
          <p:nvPr/>
        </p:nvSpPr>
        <p:spPr>
          <a:xfrm>
            <a:off x="3977640"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إدارة المعرفة</a:t>
            </a:r>
            <a:endParaRPr lang="ar-SA" sz="1200" dirty="0"/>
          </a:p>
        </p:txBody>
      </p:sp>
      <p:sp>
        <p:nvSpPr>
          <p:cNvPr id="17" name="Text 15"/>
          <p:cNvSpPr txBox="1"/>
          <p:nvPr/>
        </p:nvSpPr>
        <p:spPr>
          <a:xfrm>
            <a:off x="3977640"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رفع ومعالجة PDF وWord وExcel وCSV ونصوص</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تصنيفات معرفة جاهزة أو مخصّصة</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بحث دلالي بالمعنى لا بتطابق الكلمات</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إصدارات المستندات وأرشفة القديم</a:t>
            </a:r>
            <a:endParaRPr lang="ar-SA" sz="880" dirty="0"/>
          </a:p>
        </p:txBody>
      </p:sp>
      <p:sp>
        <p:nvSpPr>
          <p:cNvPr id="18" name="Shape 16"/>
          <p:cNvSpPr/>
          <p:nvPr/>
        </p:nvSpPr>
        <p:spPr>
          <a:xfrm>
            <a:off x="2176272" y="1371600"/>
            <a:ext cx="1581912" cy="2697480"/>
          </a:xfrm>
          <a:prstGeom prst="roundRect">
            <a:avLst>
              <a:gd name="adj" fmla="val 5780"/>
            </a:avLst>
          </a:prstGeom>
          <a:solidFill>
            <a:srgbClr val="FFFFFF"/>
          </a:solidFill>
          <a:ln w="12700">
            <a:solidFill>
              <a:srgbClr val="D9DEE7"/>
            </a:solidFill>
            <a:prstDash val="solid"/>
          </a:ln>
        </p:spPr>
      </p:sp>
      <p:sp>
        <p:nvSpPr>
          <p:cNvPr id="19" name="Text 17"/>
          <p:cNvSpPr txBox="1"/>
          <p:nvPr/>
        </p:nvSpPr>
        <p:spPr>
          <a:xfrm>
            <a:off x="2304288"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التحكم والصلاحيات</a:t>
            </a:r>
            <a:endParaRPr lang="ar-SA" sz="1200" dirty="0"/>
          </a:p>
        </p:txBody>
      </p:sp>
      <p:sp>
        <p:nvSpPr>
          <p:cNvPr id="20" name="Text 18"/>
          <p:cNvSpPr txBox="1"/>
          <p:nvPr/>
        </p:nvSpPr>
        <p:spPr>
          <a:xfrm>
            <a:off x="2304288"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ثلاثة مستويات وصول لكل مستند</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أربعة أدوار مطبَّقة على الخادم</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أقسام تربط الصلاحيات بالتحليلات</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سجل تدقيق لكل عملية حسّاسة</a:t>
            </a:r>
            <a:endParaRPr lang="ar-SA" sz="880" dirty="0"/>
          </a:p>
        </p:txBody>
      </p:sp>
      <p:sp>
        <p:nvSpPr>
          <p:cNvPr id="21" name="Shape 19"/>
          <p:cNvSpPr/>
          <p:nvPr/>
        </p:nvSpPr>
        <p:spPr>
          <a:xfrm>
            <a:off x="502920" y="1371600"/>
            <a:ext cx="1581912" cy="2697480"/>
          </a:xfrm>
          <a:prstGeom prst="roundRect">
            <a:avLst>
              <a:gd name="adj" fmla="val 5780"/>
            </a:avLst>
          </a:prstGeom>
          <a:solidFill>
            <a:srgbClr val="E9EEF6"/>
          </a:solidFill>
          <a:ln w="12700">
            <a:solidFill>
              <a:srgbClr val="E9EEF6"/>
            </a:solidFill>
            <a:prstDash val="solid"/>
          </a:ln>
        </p:spPr>
      </p:sp>
      <p:sp>
        <p:nvSpPr>
          <p:cNvPr id="22" name="Text 20"/>
          <p:cNvSpPr txBox="1"/>
          <p:nvPr/>
        </p:nvSpPr>
        <p:spPr>
          <a:xfrm>
            <a:off x="630936"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الرؤية والتحليلات</a:t>
            </a:r>
            <a:endParaRPr lang="ar-SA" sz="1200" dirty="0"/>
          </a:p>
        </p:txBody>
      </p:sp>
      <p:sp>
        <p:nvSpPr>
          <p:cNvPr id="23" name="Text 21"/>
          <p:cNvSpPr txBox="1"/>
          <p:nvPr/>
        </p:nvSpPr>
        <p:spPr>
          <a:xfrm>
            <a:off x="630936"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فجوات المعرفة بعدّاد تكرار</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إجابات معتمدة تدخل القاعدة فورًا</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تنبيهات داخل المنصة للطرفين</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تحليلات الاستخدام وجودة الإجابات</a:t>
            </a:r>
            <a:endParaRPr lang="ar-SA" sz="880" dirty="0"/>
          </a:p>
        </p:txBody>
      </p:sp>
      <p:sp>
        <p:nvSpPr>
          <p:cNvPr id="24" name="Shape 22"/>
          <p:cNvSpPr/>
          <p:nvPr/>
        </p:nvSpPr>
        <p:spPr>
          <a:xfrm>
            <a:off x="502920" y="4224528"/>
            <a:ext cx="8229600" cy="457200"/>
          </a:xfrm>
          <a:prstGeom prst="roundRect">
            <a:avLst>
              <a:gd name="adj" fmla="val 20000"/>
            </a:avLst>
          </a:prstGeom>
          <a:solidFill>
            <a:srgbClr val="F7F4EC"/>
          </a:solidFill>
          <a:ln w="12700">
            <a:solidFill>
              <a:srgbClr val="C9A24C"/>
            </a:solidFill>
            <a:prstDash val="solid"/>
          </a:ln>
        </p:spPr>
      </p:sp>
      <p:sp>
        <p:nvSpPr>
          <p:cNvPr id="25" name="Text 23"/>
          <p:cNvSpPr txBox="1"/>
          <p:nvPr/>
        </p:nvSpPr>
        <p:spPr>
          <a:xfrm>
            <a:off x="685800" y="4343400"/>
            <a:ext cx="7863840" cy="274320"/>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وأربع قنوات للوصول: الويب، وواتساب، ومركز مساعدة بثلاثة عشر مقالًا، ودعم فني بالتذاكر داخل المنصة.</a:t>
            </a:r>
            <a:endParaRPr lang="ar-SA"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الذكاء الاصطناعي داخل المنصة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Applied AI: seven roles, two agents</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548640" y="1170432"/>
            <a:ext cx="8046720" cy="749808"/>
          </a:xfrm>
          <a:prstGeom prst="roundRect">
            <a:avLst>
              <a:gd name="adj" fmla="val 12195"/>
            </a:avLst>
          </a:prstGeom>
          <a:solidFill>
            <a:srgbClr val="1E3967"/>
          </a:solidFill>
          <a:ln w="12700">
            <a:solidFill>
              <a:srgbClr val="1E3967"/>
            </a:solidFill>
            <a:prstDash val="solid"/>
          </a:ln>
        </p:spPr>
      </p:sp>
      <p:sp>
        <p:nvSpPr>
          <p:cNvPr id="9" name="Text 7"/>
          <p:cNvSpPr txBox="1"/>
          <p:nvPr/>
        </p:nvSpPr>
        <p:spPr>
          <a:xfrm>
            <a:off x="731520" y="1261872"/>
            <a:ext cx="7680960" cy="274320"/>
          </a:xfrm>
          <a:prstGeom prst="rect">
            <a:avLst/>
          </a:prstGeom>
          <a:noFill/>
          <a:ln/>
        </p:spPr>
        <p:txBody>
          <a:bodyPr wrap="square" lIns="0" tIns="0" rIns="0" bIns="0" rtlCol="0" anchor="t"/>
          <a:lstStyle/>
          <a:p>
            <a:pPr rtl="1" algn="r" indent="0" marL="0">
              <a:buNone/>
            </a:pPr>
            <a:r>
              <a:rPr lang="ar-SA" altLang="en-US" sz="1300" b="1" dirty="0">
                <a:solidFill>
                  <a:srgbClr val="C9A24C"/>
                </a:solidFill>
                <a:latin typeface="Arial" pitchFamily="34" charset="0"/>
                <a:ea typeface="Arial" pitchFamily="34" charset="-122"/>
                <a:cs typeface="Arial" pitchFamily="34" charset="-120"/>
              </a:rPr>
              <a:t>سبعة أدوار ذكاء اصطناعي مستقلّة، منها وكيلان يتّخذان خطوات بأنفسهما</a:t>
            </a:r>
            <a:endParaRPr lang="ar-SA" sz="1300" dirty="0"/>
          </a:p>
        </p:txBody>
      </p:sp>
      <p:sp>
        <p:nvSpPr>
          <p:cNvPr id="10" name="Text 8"/>
          <p:cNvSpPr txBox="1"/>
          <p:nvPr/>
        </p:nvSpPr>
        <p:spPr>
          <a:xfrm>
            <a:off x="731520" y="1554480"/>
            <a:ext cx="7680960" cy="274320"/>
          </a:xfrm>
          <a:prstGeom prst="rect">
            <a:avLst/>
          </a:prstGeom>
          <a:noFill/>
          <a:ln/>
        </p:spPr>
        <p:txBody>
          <a:bodyPr wrap="square" lIns="0" tIns="0" rIns="0" bIns="0" rtlCol="0" anchor="t"/>
          <a:lstStyle/>
          <a:p>
            <a:pPr rtl="1" algn="r" indent="0" marL="0">
              <a:buNone/>
            </a:pPr>
            <a:r>
              <a:rPr lang="ar-SA" altLang="en-US" sz="1050" dirty="0">
                <a:solidFill>
                  <a:srgbClr val="FFFFFF"/>
                </a:solidFill>
                <a:latin typeface="Arial" pitchFamily="34" charset="0"/>
                <a:ea typeface="Arial" pitchFamily="34" charset="-122"/>
                <a:cs typeface="Arial" pitchFamily="34" charset="-120"/>
              </a:rPr>
              <a:t>ولكل دور موجّه ونموذج وحصة مستقلة، وتكلفته تُقاس وتُسجَّل لكل شركة على حدة — فالربحية معلومة لا مقدَّرة.</a:t>
            </a:r>
            <a:endParaRPr lang="ar-SA" sz="1050" dirty="0"/>
          </a:p>
        </p:txBody>
      </p:sp>
      <p:sp>
        <p:nvSpPr>
          <p:cNvPr id="11" name="Shape 9"/>
          <p:cNvSpPr/>
          <p:nvPr/>
        </p:nvSpPr>
        <p:spPr>
          <a:xfrm>
            <a:off x="6035040" y="2057400"/>
            <a:ext cx="2560320" cy="804672"/>
          </a:xfrm>
          <a:prstGeom prst="roundRect">
            <a:avLst>
              <a:gd name="adj" fmla="val 11364"/>
            </a:avLst>
          </a:prstGeom>
          <a:solidFill>
            <a:srgbClr val="E9EEF6"/>
          </a:solidFill>
          <a:ln w="12700">
            <a:solidFill>
              <a:srgbClr val="E9EEF6"/>
            </a:solidFill>
            <a:prstDash val="solid"/>
          </a:ln>
        </p:spPr>
      </p:sp>
      <p:sp>
        <p:nvSpPr>
          <p:cNvPr id="12" name="Text 10"/>
          <p:cNvSpPr txBox="1"/>
          <p:nvPr/>
        </p:nvSpPr>
        <p:spPr>
          <a:xfrm>
            <a:off x="6199632" y="2185416"/>
            <a:ext cx="22311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١ · المساعد الرئيسي</a:t>
            </a:r>
            <a:endParaRPr lang="ar-SA" sz="1150" dirty="0"/>
          </a:p>
        </p:txBody>
      </p:sp>
      <p:sp>
        <p:nvSpPr>
          <p:cNvPr id="13" name="Text 11"/>
          <p:cNvSpPr txBox="1"/>
          <p:nvPr/>
        </p:nvSpPr>
        <p:spPr>
          <a:xfrm>
            <a:off x="6199632" y="2514600"/>
            <a:ext cx="2231136" cy="219456"/>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1B2330"/>
                </a:solidFill>
                <a:latin typeface="Arial" pitchFamily="34" charset="0"/>
                <a:ea typeface="Arial" pitchFamily="34" charset="-122"/>
                <a:cs typeface="Arial" pitchFamily="34" charset="-120"/>
              </a:rPr>
              <a:t>يجيب من مستندات الشركة بعد استرجاع هجين، ملتزمًا بصلاحيات السائل.</a:t>
            </a:r>
            <a:endParaRPr lang="ar-SA" sz="880" dirty="0"/>
          </a:p>
        </p:txBody>
      </p:sp>
      <p:sp>
        <p:nvSpPr>
          <p:cNvPr id="14" name="Shape 12"/>
          <p:cNvSpPr/>
          <p:nvPr/>
        </p:nvSpPr>
        <p:spPr>
          <a:xfrm>
            <a:off x="3291840" y="2057400"/>
            <a:ext cx="2560320" cy="804672"/>
          </a:xfrm>
          <a:prstGeom prst="roundRect">
            <a:avLst>
              <a:gd name="adj" fmla="val 11364"/>
            </a:avLst>
          </a:prstGeom>
          <a:solidFill>
            <a:srgbClr val="FFFFFF"/>
          </a:solidFill>
          <a:ln w="12700">
            <a:solidFill>
              <a:srgbClr val="D9DEE7"/>
            </a:solidFill>
            <a:prstDash val="solid"/>
          </a:ln>
        </p:spPr>
      </p:sp>
      <p:sp>
        <p:nvSpPr>
          <p:cNvPr id="15" name="Text 13"/>
          <p:cNvSpPr txBox="1"/>
          <p:nvPr/>
        </p:nvSpPr>
        <p:spPr>
          <a:xfrm>
            <a:off x="3456432" y="2185416"/>
            <a:ext cx="22311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٢ · إعادة الصياغة الإنقاذية</a:t>
            </a:r>
            <a:endParaRPr lang="ar-SA" sz="1150" dirty="0"/>
          </a:p>
        </p:txBody>
      </p:sp>
      <p:sp>
        <p:nvSpPr>
          <p:cNvPr id="16" name="Text 14"/>
          <p:cNvSpPr txBox="1"/>
          <p:nvPr/>
        </p:nvSpPr>
        <p:spPr>
          <a:xfrm>
            <a:off x="3456432" y="2514600"/>
            <a:ext cx="2231136" cy="219456"/>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1B2330"/>
                </a:solidFill>
                <a:latin typeface="Arial" pitchFamily="34" charset="0"/>
                <a:ea typeface="Arial" pitchFamily="34" charset="-122"/>
                <a:cs typeface="Arial" pitchFamily="34" charset="-120"/>
              </a:rPr>
              <a:t>إن رجع البحث خاويًا، يُعاد صوغ السؤال بلغة الوثائق ويُبحث ثانيةً. ولا يُستدعى إلا عند الحاجة.</a:t>
            </a:r>
            <a:endParaRPr lang="ar-SA" sz="880" dirty="0"/>
          </a:p>
        </p:txBody>
      </p:sp>
      <p:sp>
        <p:nvSpPr>
          <p:cNvPr id="17" name="Shape 15"/>
          <p:cNvSpPr/>
          <p:nvPr/>
        </p:nvSpPr>
        <p:spPr>
          <a:xfrm>
            <a:off x="548640" y="2057400"/>
            <a:ext cx="2560320" cy="804672"/>
          </a:xfrm>
          <a:prstGeom prst="roundRect">
            <a:avLst>
              <a:gd name="adj" fmla="val 11364"/>
            </a:avLst>
          </a:prstGeom>
          <a:solidFill>
            <a:srgbClr val="E9EEF6"/>
          </a:solidFill>
          <a:ln w="12700">
            <a:solidFill>
              <a:srgbClr val="E9EEF6"/>
            </a:solidFill>
            <a:prstDash val="solid"/>
          </a:ln>
        </p:spPr>
      </p:sp>
      <p:sp>
        <p:nvSpPr>
          <p:cNvPr id="18" name="Text 16"/>
          <p:cNvSpPr txBox="1"/>
          <p:nvPr/>
        </p:nvSpPr>
        <p:spPr>
          <a:xfrm>
            <a:off x="713232" y="2185416"/>
            <a:ext cx="22311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٣ · وكيل مسودة الفجوة</a:t>
            </a:r>
            <a:endParaRPr lang="ar-SA" sz="1150" dirty="0"/>
          </a:p>
        </p:txBody>
      </p:sp>
      <p:sp>
        <p:nvSpPr>
          <p:cNvPr id="19" name="Text 17"/>
          <p:cNvSpPr txBox="1"/>
          <p:nvPr/>
        </p:nvSpPr>
        <p:spPr>
          <a:xfrm>
            <a:off x="713232" y="2514600"/>
            <a:ext cx="2231136" cy="219456"/>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1B2330"/>
                </a:solidFill>
                <a:latin typeface="Arial" pitchFamily="34" charset="0"/>
                <a:ea typeface="Arial" pitchFamily="34" charset="-122"/>
                <a:cs typeface="Arial" pitchFamily="34" charset="-120"/>
              </a:rPr>
              <a:t>وكيل: يبحث في المستندات ثم يصوغ مسودة جواب للفجوة، يراجعها المدير ويعتمدها.</a:t>
            </a:r>
            <a:endParaRPr lang="ar-SA" sz="880" dirty="0"/>
          </a:p>
        </p:txBody>
      </p:sp>
      <p:sp>
        <p:nvSpPr>
          <p:cNvPr id="20" name="Shape 18"/>
          <p:cNvSpPr/>
          <p:nvPr/>
        </p:nvSpPr>
        <p:spPr>
          <a:xfrm>
            <a:off x="6035040" y="2926080"/>
            <a:ext cx="2560320" cy="804672"/>
          </a:xfrm>
          <a:prstGeom prst="roundRect">
            <a:avLst>
              <a:gd name="adj" fmla="val 11364"/>
            </a:avLst>
          </a:prstGeom>
          <a:solidFill>
            <a:srgbClr val="FFFFFF"/>
          </a:solidFill>
          <a:ln w="12700">
            <a:solidFill>
              <a:srgbClr val="D9DEE7"/>
            </a:solidFill>
            <a:prstDash val="solid"/>
          </a:ln>
        </p:spPr>
      </p:sp>
      <p:sp>
        <p:nvSpPr>
          <p:cNvPr id="21" name="Text 19"/>
          <p:cNvSpPr txBox="1"/>
          <p:nvPr/>
        </p:nvSpPr>
        <p:spPr>
          <a:xfrm>
            <a:off x="6199632" y="3054096"/>
            <a:ext cx="22311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٤ · مساعد زائر الموقع</a:t>
            </a:r>
            <a:endParaRPr lang="ar-SA" sz="1150" dirty="0"/>
          </a:p>
        </p:txBody>
      </p:sp>
      <p:sp>
        <p:nvSpPr>
          <p:cNvPr id="22" name="Text 20"/>
          <p:cNvSpPr txBox="1"/>
          <p:nvPr/>
        </p:nvSpPr>
        <p:spPr>
          <a:xfrm>
            <a:off x="6199632" y="3383280"/>
            <a:ext cx="2231136" cy="219456"/>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1B2330"/>
                </a:solidFill>
                <a:latin typeface="Arial" pitchFamily="34" charset="0"/>
                <a:ea typeface="Arial" pitchFamily="34" charset="-122"/>
                <a:cs typeface="Arial" pitchFamily="34" charset="-120"/>
              </a:rPr>
              <a:t>يجيب زوّار الموقع عن المنصة وباقاتها، بمعزل تامّ عن بيانات أي شركة.</a:t>
            </a:r>
            <a:endParaRPr lang="ar-SA" sz="880" dirty="0"/>
          </a:p>
        </p:txBody>
      </p:sp>
      <p:sp>
        <p:nvSpPr>
          <p:cNvPr id="23" name="Shape 21"/>
          <p:cNvSpPr/>
          <p:nvPr/>
        </p:nvSpPr>
        <p:spPr>
          <a:xfrm>
            <a:off x="3291840" y="2926080"/>
            <a:ext cx="2560320" cy="804672"/>
          </a:xfrm>
          <a:prstGeom prst="roundRect">
            <a:avLst>
              <a:gd name="adj" fmla="val 11364"/>
            </a:avLst>
          </a:prstGeom>
          <a:solidFill>
            <a:srgbClr val="E9EEF6"/>
          </a:solidFill>
          <a:ln w="12700">
            <a:solidFill>
              <a:srgbClr val="E9EEF6"/>
            </a:solidFill>
            <a:prstDash val="solid"/>
          </a:ln>
        </p:spPr>
      </p:sp>
      <p:sp>
        <p:nvSpPr>
          <p:cNvPr id="24" name="Text 22"/>
          <p:cNvSpPr txBox="1"/>
          <p:nvPr/>
        </p:nvSpPr>
        <p:spPr>
          <a:xfrm>
            <a:off x="3456432" y="3054096"/>
            <a:ext cx="22311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٥ · وكيل واتساب</a:t>
            </a:r>
            <a:endParaRPr lang="ar-SA" sz="1150" dirty="0"/>
          </a:p>
        </p:txBody>
      </p:sp>
      <p:sp>
        <p:nvSpPr>
          <p:cNvPr id="25" name="Text 23"/>
          <p:cNvSpPr txBox="1"/>
          <p:nvPr/>
        </p:nvSpPr>
        <p:spPr>
          <a:xfrm>
            <a:off x="3456432" y="3383280"/>
            <a:ext cx="2231136" cy="219456"/>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1B2330"/>
                </a:solidFill>
                <a:latin typeface="Arial" pitchFamily="34" charset="0"/>
                <a:ea typeface="Arial" pitchFamily="34" charset="-122"/>
                <a:cs typeface="Arial" pitchFamily="34" charset="-120"/>
              </a:rPr>
              <a:t>وكيل: يتحقق من هوية المرسِل ويربطها بحسابه، ثم يجيب بصلاحياته هو.</a:t>
            </a:r>
            <a:endParaRPr lang="ar-SA" sz="880" dirty="0"/>
          </a:p>
        </p:txBody>
      </p:sp>
      <p:sp>
        <p:nvSpPr>
          <p:cNvPr id="26" name="Shape 24"/>
          <p:cNvSpPr/>
          <p:nvPr/>
        </p:nvSpPr>
        <p:spPr>
          <a:xfrm>
            <a:off x="548640" y="2926080"/>
            <a:ext cx="2560320" cy="804672"/>
          </a:xfrm>
          <a:prstGeom prst="roundRect">
            <a:avLst>
              <a:gd name="adj" fmla="val 11364"/>
            </a:avLst>
          </a:prstGeom>
          <a:solidFill>
            <a:srgbClr val="FFFFFF"/>
          </a:solidFill>
          <a:ln w="12700">
            <a:solidFill>
              <a:srgbClr val="D9DEE7"/>
            </a:solidFill>
            <a:prstDash val="solid"/>
          </a:ln>
        </p:spPr>
      </p:sp>
      <p:sp>
        <p:nvSpPr>
          <p:cNvPr id="27" name="Text 25"/>
          <p:cNvSpPr txBox="1"/>
          <p:nvPr/>
        </p:nvSpPr>
        <p:spPr>
          <a:xfrm>
            <a:off x="713232" y="3054096"/>
            <a:ext cx="22311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٦ · عنوان المحادثة</a:t>
            </a:r>
            <a:endParaRPr lang="ar-SA" sz="1150" dirty="0"/>
          </a:p>
        </p:txBody>
      </p:sp>
      <p:sp>
        <p:nvSpPr>
          <p:cNvPr id="28" name="Text 26"/>
          <p:cNvSpPr txBox="1"/>
          <p:nvPr/>
        </p:nvSpPr>
        <p:spPr>
          <a:xfrm>
            <a:off x="713232" y="3383280"/>
            <a:ext cx="2231136" cy="219456"/>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1B2330"/>
                </a:solidFill>
                <a:latin typeface="Arial" pitchFamily="34" charset="0"/>
                <a:ea typeface="Arial" pitchFamily="34" charset="-122"/>
                <a:cs typeface="Arial" pitchFamily="34" charset="-120"/>
              </a:rPr>
              <a:t>يصوغ عنوانًا قصيرًا لكل محادثة تلقائيًا.</a:t>
            </a:r>
            <a:endParaRPr lang="ar-SA" sz="880" dirty="0"/>
          </a:p>
        </p:txBody>
      </p:sp>
      <p:sp>
        <p:nvSpPr>
          <p:cNvPr id="29" name="Shape 27"/>
          <p:cNvSpPr/>
          <p:nvPr/>
        </p:nvSpPr>
        <p:spPr>
          <a:xfrm>
            <a:off x="548640" y="3794760"/>
            <a:ext cx="8046720" cy="804672"/>
          </a:xfrm>
          <a:prstGeom prst="roundRect">
            <a:avLst>
              <a:gd name="adj" fmla="val 11364"/>
            </a:avLst>
          </a:prstGeom>
          <a:solidFill>
            <a:srgbClr val="F7F4EC"/>
          </a:solidFill>
          <a:ln w="12700">
            <a:solidFill>
              <a:srgbClr val="F7F4EC"/>
            </a:solidFill>
            <a:prstDash val="solid"/>
          </a:ln>
        </p:spPr>
      </p:sp>
      <p:sp>
        <p:nvSpPr>
          <p:cNvPr id="30" name="Text 28"/>
          <p:cNvSpPr txBox="1"/>
          <p:nvPr/>
        </p:nvSpPr>
        <p:spPr>
          <a:xfrm>
            <a:off x="713232" y="3922776"/>
            <a:ext cx="77175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٧ · القراءة الضوئية بالرؤية</a:t>
            </a:r>
            <a:endParaRPr lang="ar-SA" sz="1150" dirty="0"/>
          </a:p>
        </p:txBody>
      </p:sp>
      <p:sp>
        <p:nvSpPr>
          <p:cNvPr id="31" name="Text 29"/>
          <p:cNvSpPr txBox="1"/>
          <p:nvPr/>
        </p:nvSpPr>
        <p:spPr>
          <a:xfrm>
            <a:off x="713232" y="4251960"/>
            <a:ext cx="7717536" cy="219456"/>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ينسخ المستندات الممسوحة والصور صفحةً صفحة، ويستأنف من حيث توقّف.</a:t>
            </a:r>
            <a:endParaRPr lang="ar-SA" sz="950" dirty="0"/>
          </a:p>
        </p:txBody>
      </p:sp>
      <p:sp>
        <p:nvSpPr>
          <p:cNvPr id="32" name="Text 30"/>
          <p:cNvSpPr txBox="1"/>
          <p:nvPr/>
        </p:nvSpPr>
        <p:spPr>
          <a:xfrm>
            <a:off x="548640" y="4617720"/>
            <a:ext cx="8046720" cy="274320"/>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ولا يُستدعى نموذج حيث تكفي الحتمية: التحقق من الأرقام وتصفية الفجوات والتطبيع العربي كلها شيفرة لا تهلوس.</a:t>
            </a:r>
            <a:endParaRPr lang="ar-SA"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الابتكار الجوهري والركائز التقنية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Core innovation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548640" y="1170432"/>
            <a:ext cx="8046720" cy="914400"/>
          </a:xfrm>
          <a:prstGeom prst="roundRect">
            <a:avLst>
              <a:gd name="adj" fmla="val 10000"/>
            </a:avLst>
          </a:prstGeom>
          <a:solidFill>
            <a:srgbClr val="1E3967"/>
          </a:solidFill>
          <a:ln w="12700">
            <a:solidFill>
              <a:srgbClr val="1E3967"/>
            </a:solidFill>
            <a:prstDash val="solid"/>
          </a:ln>
        </p:spPr>
      </p:sp>
      <p:sp>
        <p:nvSpPr>
          <p:cNvPr id="9" name="Text 7"/>
          <p:cNvSpPr txBox="1"/>
          <p:nvPr/>
        </p:nvSpPr>
        <p:spPr>
          <a:xfrm>
            <a:off x="731520" y="1261872"/>
            <a:ext cx="7680960" cy="256032"/>
          </a:xfrm>
          <a:prstGeom prst="rect">
            <a:avLst/>
          </a:prstGeom>
          <a:noFill/>
          <a:ln/>
        </p:spPr>
        <p:txBody>
          <a:bodyPr wrap="square" lIns="0" tIns="0" rIns="0" bIns="0" rtlCol="0" anchor="t"/>
          <a:lstStyle/>
          <a:p>
            <a:pPr rtl="1" algn="r" indent="0" marL="0">
              <a:buNone/>
            </a:pPr>
            <a:r>
              <a:rPr lang="ar-SA" altLang="en-US" sz="1250" b="1" dirty="0">
                <a:solidFill>
                  <a:srgbClr val="C9A24C"/>
                </a:solidFill>
                <a:latin typeface="Arial" pitchFamily="34" charset="0"/>
                <a:ea typeface="Arial" pitchFamily="34" charset="-122"/>
                <a:cs typeface="Arial" pitchFamily="34" charset="-120"/>
              </a:rPr>
              <a:t>الابتكار الجوهري</a:t>
            </a:r>
            <a:endParaRPr lang="ar-SA" sz="1250" dirty="0"/>
          </a:p>
        </p:txBody>
      </p:sp>
      <p:sp>
        <p:nvSpPr>
          <p:cNvPr id="10" name="Text 8"/>
          <p:cNvSpPr txBox="1"/>
          <p:nvPr/>
        </p:nvSpPr>
        <p:spPr>
          <a:xfrm>
            <a:off x="731520" y="1554480"/>
            <a:ext cx="7680960" cy="457200"/>
          </a:xfrm>
          <a:prstGeom prst="rect">
            <a:avLst/>
          </a:prstGeom>
          <a:noFill/>
          <a:ln/>
        </p:spPr>
        <p:txBody>
          <a:bodyPr wrap="square" lIns="0" tIns="0" rIns="0" bIns="0" rtlCol="0" anchor="t"/>
          <a:lstStyle/>
          <a:p>
            <a:pPr rtl="1" algn="r" indent="0" marL="0">
              <a:lnSpc>
                <a:spcPct val="114000"/>
              </a:lnSpc>
              <a:buNone/>
            </a:pPr>
            <a:r>
              <a:rPr lang="ar-SA" altLang="en-US" sz="1050" dirty="0">
                <a:solidFill>
                  <a:srgbClr val="FFFFFF"/>
                </a:solidFill>
                <a:latin typeface="Arial" pitchFamily="34" charset="0"/>
                <a:ea typeface="Arial" pitchFamily="34" charset="-122"/>
                <a:cs typeface="Arial" pitchFamily="34" charset="-120"/>
              </a:rPr>
              <a:t>العربية قيد تصميم لا طبقة ترجمة: خطّ معالجة كامل مبنيّ للمستندات العربية — من إصلاح تشوّه حروف PDF إلى الاسترجاع الصرفي داخل قاعدة البيانات — يليه مدقّق حتميّ لا يستطيع الهلوسة لأنه لا يستنتج، بل يقارن كل رقم بنصّ مصدره قبل العرض.</a:t>
            </a:r>
            <a:endParaRPr lang="ar-SA" sz="1050" dirty="0"/>
          </a:p>
        </p:txBody>
      </p:sp>
      <p:sp>
        <p:nvSpPr>
          <p:cNvPr id="11" name="Shape 9"/>
          <p:cNvSpPr/>
          <p:nvPr/>
        </p:nvSpPr>
        <p:spPr>
          <a:xfrm>
            <a:off x="4663440" y="2240280"/>
            <a:ext cx="3931920" cy="1115568"/>
          </a:xfrm>
          <a:prstGeom prst="roundRect">
            <a:avLst>
              <a:gd name="adj" fmla="val 8197"/>
            </a:avLst>
          </a:prstGeom>
          <a:solidFill>
            <a:srgbClr val="E9EEF6"/>
          </a:solidFill>
          <a:ln w="12700">
            <a:solidFill>
              <a:srgbClr val="E9EEF6"/>
            </a:solidFill>
            <a:prstDash val="solid"/>
          </a:ln>
        </p:spPr>
      </p:sp>
      <p:sp>
        <p:nvSpPr>
          <p:cNvPr id="12" name="Text 10"/>
          <p:cNvSpPr txBox="1"/>
          <p:nvPr/>
        </p:nvSpPr>
        <p:spPr>
          <a:xfrm>
            <a:off x="4828032" y="2368296"/>
            <a:ext cx="3602736" cy="292608"/>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استرجاع هجين</a:t>
            </a:r>
            <a:endParaRPr lang="ar-SA" sz="1200" dirty="0"/>
          </a:p>
        </p:txBody>
      </p:sp>
      <p:sp>
        <p:nvSpPr>
          <p:cNvPr id="13" name="Text 11"/>
          <p:cNvSpPr txBox="1"/>
          <p:nvPr/>
        </p:nvSpPr>
        <p:spPr>
          <a:xfrm>
            <a:off x="4828032" y="2697480"/>
            <a:ext cx="3602736" cy="530352"/>
          </a:xfrm>
          <a:prstGeom prst="rect">
            <a:avLst/>
          </a:prstGeom>
          <a:noFill/>
          <a:ln/>
        </p:spPr>
        <p:txBody>
          <a:bodyPr wrap="square" lIns="0" tIns="0" rIns="0" bIns="0" rtlCol="0" anchor="t"/>
          <a:lstStyle/>
          <a:p>
            <a:pPr rtl="1" algn="r" indent="0" marL="0">
              <a:lnSpc>
                <a:spcPct val="114000"/>
              </a:lnSpc>
              <a:buNone/>
            </a:pPr>
            <a:r>
              <a:rPr lang="ar-SA" altLang="en-US" sz="920" dirty="0">
                <a:solidFill>
                  <a:srgbClr val="1B2330"/>
                </a:solidFill>
                <a:latin typeface="Arial" pitchFamily="34" charset="0"/>
                <a:ea typeface="Arial" pitchFamily="34" charset="-122"/>
                <a:cs typeface="Arial" pitchFamily="34" charset="-120"/>
              </a:rPr>
              <a:t>بحث دلالي بالمتجهات + بحث لفظي عربي (تطبيع وتجذير داخل القاعدة)، يُدمجان برتبة متبادلة. فيُلتقط المعنى والمصطلح الحرفي معًا: رقم مادة أو اسم نظام لا تلتقطه المتجهات وحدها.</a:t>
            </a:r>
            <a:endParaRPr lang="ar-SA" sz="920" dirty="0"/>
          </a:p>
        </p:txBody>
      </p:sp>
      <p:sp>
        <p:nvSpPr>
          <p:cNvPr id="14" name="Shape 12"/>
          <p:cNvSpPr/>
          <p:nvPr/>
        </p:nvSpPr>
        <p:spPr>
          <a:xfrm>
            <a:off x="548640" y="2240280"/>
            <a:ext cx="3931920" cy="1115568"/>
          </a:xfrm>
          <a:prstGeom prst="roundRect">
            <a:avLst>
              <a:gd name="adj" fmla="val 8197"/>
            </a:avLst>
          </a:prstGeom>
          <a:solidFill>
            <a:srgbClr val="E9EEF6"/>
          </a:solidFill>
          <a:ln w="12700">
            <a:solidFill>
              <a:srgbClr val="E9EEF6"/>
            </a:solidFill>
            <a:prstDash val="solid"/>
          </a:ln>
        </p:spPr>
      </p:sp>
      <p:sp>
        <p:nvSpPr>
          <p:cNvPr id="15" name="Text 13"/>
          <p:cNvSpPr txBox="1"/>
          <p:nvPr/>
        </p:nvSpPr>
        <p:spPr>
          <a:xfrm>
            <a:off x="713232" y="2368296"/>
            <a:ext cx="3602736" cy="292608"/>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إصلاح PDF العربي</a:t>
            </a:r>
            <a:endParaRPr lang="ar-SA" sz="1200" dirty="0"/>
          </a:p>
        </p:txBody>
      </p:sp>
      <p:sp>
        <p:nvSpPr>
          <p:cNvPr id="16" name="Text 14"/>
          <p:cNvSpPr txBox="1"/>
          <p:nvPr/>
        </p:nvSpPr>
        <p:spPr>
          <a:xfrm>
            <a:off x="713232" y="2697480"/>
            <a:ext cx="3602736" cy="530352"/>
          </a:xfrm>
          <a:prstGeom prst="rect">
            <a:avLst/>
          </a:prstGeom>
          <a:noFill/>
          <a:ln/>
        </p:spPr>
        <p:txBody>
          <a:bodyPr wrap="square" lIns="0" tIns="0" rIns="0" bIns="0" rtlCol="0" anchor="t"/>
          <a:lstStyle/>
          <a:p>
            <a:pPr rtl="1" algn="r" indent="0" marL="0">
              <a:lnSpc>
                <a:spcPct val="114000"/>
              </a:lnSpc>
              <a:buNone/>
            </a:pPr>
            <a:r>
              <a:rPr lang="ar-SA" altLang="en-US" sz="920" dirty="0">
                <a:solidFill>
                  <a:srgbClr val="1B2330"/>
                </a:solidFill>
                <a:latin typeface="Arial" pitchFamily="34" charset="0"/>
                <a:ea typeface="Arial" pitchFamily="34" charset="-122"/>
                <a:cs typeface="Arial" pitchFamily="34" charset="-120"/>
              </a:rPr>
              <a:t>ملفات PDF العربية تُخرج حروفًا مبعثرة وأرقامًا مشوّهة ولام-ألف معكوسة. أربع دوال إصلاح متخصّصة تُشغَّل قبل الفهرسة، وتُقاس جودة الاستخراج ويُرفض ما لا يصلح.</a:t>
            </a:r>
            <a:endParaRPr lang="ar-SA" sz="920" dirty="0"/>
          </a:p>
        </p:txBody>
      </p:sp>
      <p:sp>
        <p:nvSpPr>
          <p:cNvPr id="17" name="Shape 15"/>
          <p:cNvSpPr/>
          <p:nvPr/>
        </p:nvSpPr>
        <p:spPr>
          <a:xfrm>
            <a:off x="4663440" y="3474720"/>
            <a:ext cx="3931920" cy="1115568"/>
          </a:xfrm>
          <a:prstGeom prst="roundRect">
            <a:avLst>
              <a:gd name="adj" fmla="val 8197"/>
            </a:avLst>
          </a:prstGeom>
          <a:solidFill>
            <a:srgbClr val="FFFFFF"/>
          </a:solidFill>
          <a:ln w="12700">
            <a:solidFill>
              <a:srgbClr val="D9DEE7"/>
            </a:solidFill>
            <a:prstDash val="solid"/>
          </a:ln>
        </p:spPr>
      </p:sp>
      <p:sp>
        <p:nvSpPr>
          <p:cNvPr id="18" name="Text 16"/>
          <p:cNvSpPr txBox="1"/>
          <p:nvPr/>
        </p:nvSpPr>
        <p:spPr>
          <a:xfrm>
            <a:off x="4828032" y="3602736"/>
            <a:ext cx="3602736" cy="292608"/>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مدقّق حتميّ للأرقام</a:t>
            </a:r>
            <a:endParaRPr lang="ar-SA" sz="1200" dirty="0"/>
          </a:p>
        </p:txBody>
      </p:sp>
      <p:sp>
        <p:nvSpPr>
          <p:cNvPr id="19" name="Text 17"/>
          <p:cNvSpPr txBox="1"/>
          <p:nvPr/>
        </p:nvSpPr>
        <p:spPr>
          <a:xfrm>
            <a:off x="4828032" y="3931920"/>
            <a:ext cx="3602736" cy="530352"/>
          </a:xfrm>
          <a:prstGeom prst="rect">
            <a:avLst/>
          </a:prstGeom>
          <a:noFill/>
          <a:ln/>
        </p:spPr>
        <p:txBody>
          <a:bodyPr wrap="square" lIns="0" tIns="0" rIns="0" bIns="0" rtlCol="0" anchor="t"/>
          <a:lstStyle/>
          <a:p>
            <a:pPr rtl="1" algn="r" indent="0" marL="0">
              <a:lnSpc>
                <a:spcPct val="114000"/>
              </a:lnSpc>
              <a:buNone/>
            </a:pPr>
            <a:r>
              <a:rPr lang="ar-SA" altLang="en-US" sz="920" dirty="0">
                <a:solidFill>
                  <a:srgbClr val="1B2330"/>
                </a:solidFill>
                <a:latin typeface="Arial" pitchFamily="34" charset="0"/>
                <a:ea typeface="Arial" pitchFamily="34" charset="-122"/>
                <a:cs typeface="Arial" pitchFamily="34" charset="-120"/>
              </a:rPr>
              <a:t>بعد التوليد يُقاس رسوخ الإجابة في مصادرها معجميًّا وبلا نموذج ثانٍ: لا تكلفة ولا زمن إضافي، ولا حَكَم قد يهلوس وهو يحكم على الهلوسة. وما لا أصل له يظهر عليه تحذير.</a:t>
            </a:r>
            <a:endParaRPr lang="ar-SA" sz="920" dirty="0"/>
          </a:p>
        </p:txBody>
      </p:sp>
      <p:sp>
        <p:nvSpPr>
          <p:cNvPr id="20" name="Shape 18"/>
          <p:cNvSpPr/>
          <p:nvPr/>
        </p:nvSpPr>
        <p:spPr>
          <a:xfrm>
            <a:off x="548640" y="3474720"/>
            <a:ext cx="3931920" cy="1115568"/>
          </a:xfrm>
          <a:prstGeom prst="roundRect">
            <a:avLst>
              <a:gd name="adj" fmla="val 8197"/>
            </a:avLst>
          </a:prstGeom>
          <a:solidFill>
            <a:srgbClr val="FFFFFF"/>
          </a:solidFill>
          <a:ln w="12700">
            <a:solidFill>
              <a:srgbClr val="D9DEE7"/>
            </a:solidFill>
            <a:prstDash val="solid"/>
          </a:ln>
        </p:spPr>
      </p:sp>
      <p:sp>
        <p:nvSpPr>
          <p:cNvPr id="21" name="Text 19"/>
          <p:cNvSpPr txBox="1"/>
          <p:nvPr/>
        </p:nvSpPr>
        <p:spPr>
          <a:xfrm>
            <a:off x="713232" y="3602736"/>
            <a:ext cx="3602736" cy="292608"/>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حصانة ضدّ حقن الأوامر</a:t>
            </a:r>
            <a:endParaRPr lang="ar-SA" sz="1200" dirty="0"/>
          </a:p>
        </p:txBody>
      </p:sp>
      <p:sp>
        <p:nvSpPr>
          <p:cNvPr id="22" name="Text 20"/>
          <p:cNvSpPr txBox="1"/>
          <p:nvPr/>
        </p:nvSpPr>
        <p:spPr>
          <a:xfrm>
            <a:off x="713232" y="3931920"/>
            <a:ext cx="3602736" cy="530352"/>
          </a:xfrm>
          <a:prstGeom prst="rect">
            <a:avLst/>
          </a:prstGeom>
          <a:noFill/>
          <a:ln/>
        </p:spPr>
        <p:txBody>
          <a:bodyPr wrap="square" lIns="0" tIns="0" rIns="0" bIns="0" rtlCol="0" anchor="t"/>
          <a:lstStyle/>
          <a:p>
            <a:pPr rtl="1" algn="r" indent="0" marL="0">
              <a:lnSpc>
                <a:spcPct val="114000"/>
              </a:lnSpc>
              <a:buNone/>
            </a:pPr>
            <a:r>
              <a:rPr lang="ar-SA" altLang="en-US" sz="920" dirty="0">
                <a:solidFill>
                  <a:srgbClr val="1B2330"/>
                </a:solidFill>
                <a:latin typeface="Arial" pitchFamily="34" charset="0"/>
                <a:ea typeface="Arial" pitchFamily="34" charset="-122"/>
                <a:cs typeface="Arial" pitchFamily="34" charset="-120"/>
              </a:rPr>
              <a:t>نصّ المستند بيانات لا تعليمات: تُحيَّد علامات المصادر المزوّرة وعلامات الحدود وعناوين الأقسام، ويُنبَّه النموذج إلى تجاهل أي توجيه داخل المحتوى.</a:t>
            </a:r>
            <a:endParaRPr lang="ar-SA" sz="9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القيمة المضافة للعميل</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Customer value</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4663440" y="1234440"/>
            <a:ext cx="3931920" cy="987552"/>
          </a:xfrm>
          <a:prstGeom prst="roundRect">
            <a:avLst>
              <a:gd name="adj" fmla="val 9259"/>
            </a:avLst>
          </a:prstGeom>
          <a:solidFill>
            <a:srgbClr val="E9EEF6"/>
          </a:solidFill>
          <a:ln w="12700">
            <a:solidFill>
              <a:srgbClr val="E9EEF6"/>
            </a:solidFill>
            <a:prstDash val="solid"/>
          </a:ln>
        </p:spPr>
      </p:sp>
      <p:sp>
        <p:nvSpPr>
          <p:cNvPr id="9" name="Text 7"/>
          <p:cNvSpPr txBox="1"/>
          <p:nvPr/>
        </p:nvSpPr>
        <p:spPr>
          <a:xfrm>
            <a:off x="4828032" y="1362456"/>
            <a:ext cx="36027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جواب في ثوانٍ بدل بحث في عشرات الملفات</a:t>
            </a:r>
            <a:endParaRPr lang="ar-SA" sz="1150" dirty="0"/>
          </a:p>
        </p:txBody>
      </p:sp>
      <p:sp>
        <p:nvSpPr>
          <p:cNvPr id="10" name="Text 8"/>
          <p:cNvSpPr txBox="1"/>
          <p:nvPr/>
        </p:nvSpPr>
        <p:spPr>
          <a:xfrm>
            <a:off x="4828032" y="1691640"/>
            <a:ext cx="3602736" cy="402336"/>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الموظف لا يحتاج معرفة اسم المستند ولا مكانه ولا صفحته.</a:t>
            </a:r>
            <a:endParaRPr lang="ar-SA" sz="950" dirty="0"/>
          </a:p>
        </p:txBody>
      </p:sp>
      <p:sp>
        <p:nvSpPr>
          <p:cNvPr id="11" name="Shape 9"/>
          <p:cNvSpPr/>
          <p:nvPr/>
        </p:nvSpPr>
        <p:spPr>
          <a:xfrm>
            <a:off x="548640" y="1234440"/>
            <a:ext cx="3931920" cy="987552"/>
          </a:xfrm>
          <a:prstGeom prst="roundRect">
            <a:avLst>
              <a:gd name="adj" fmla="val 9259"/>
            </a:avLst>
          </a:prstGeom>
          <a:solidFill>
            <a:srgbClr val="FFFFFF"/>
          </a:solidFill>
          <a:ln w="12700">
            <a:solidFill>
              <a:srgbClr val="D9DEE7"/>
            </a:solidFill>
            <a:prstDash val="solid"/>
          </a:ln>
        </p:spPr>
      </p:sp>
      <p:sp>
        <p:nvSpPr>
          <p:cNvPr id="12" name="Text 10"/>
          <p:cNvSpPr txBox="1"/>
          <p:nvPr/>
        </p:nvSpPr>
        <p:spPr>
          <a:xfrm>
            <a:off x="713232" y="1362456"/>
            <a:ext cx="36027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توقّف تكرار الأسئلة على الموارد البشرية</a:t>
            </a:r>
            <a:endParaRPr lang="ar-SA" sz="1150" dirty="0"/>
          </a:p>
        </p:txBody>
      </p:sp>
      <p:sp>
        <p:nvSpPr>
          <p:cNvPr id="13" name="Text 11"/>
          <p:cNvSpPr txBox="1"/>
          <p:nvPr/>
        </p:nvSpPr>
        <p:spPr>
          <a:xfrm>
            <a:off x="713232" y="1691640"/>
            <a:ext cx="3602736" cy="402336"/>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السؤال الذي يُجاب مرة يصير متاحًا لكل من يسأل بعده.</a:t>
            </a:r>
            <a:endParaRPr lang="ar-SA" sz="950" dirty="0"/>
          </a:p>
        </p:txBody>
      </p:sp>
      <p:sp>
        <p:nvSpPr>
          <p:cNvPr id="14" name="Shape 12"/>
          <p:cNvSpPr/>
          <p:nvPr/>
        </p:nvSpPr>
        <p:spPr>
          <a:xfrm>
            <a:off x="4663440" y="2331720"/>
            <a:ext cx="3931920" cy="987552"/>
          </a:xfrm>
          <a:prstGeom prst="roundRect">
            <a:avLst>
              <a:gd name="adj" fmla="val 9259"/>
            </a:avLst>
          </a:prstGeom>
          <a:solidFill>
            <a:srgbClr val="E9EEF6"/>
          </a:solidFill>
          <a:ln w="12700">
            <a:solidFill>
              <a:srgbClr val="E9EEF6"/>
            </a:solidFill>
            <a:prstDash val="solid"/>
          </a:ln>
        </p:spPr>
      </p:sp>
      <p:sp>
        <p:nvSpPr>
          <p:cNvPr id="15" name="Text 13"/>
          <p:cNvSpPr txBox="1"/>
          <p:nvPr/>
        </p:nvSpPr>
        <p:spPr>
          <a:xfrm>
            <a:off x="4828032" y="2459736"/>
            <a:ext cx="36027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إجابات قابلة للتحقق لا للتصديق</a:t>
            </a:r>
            <a:endParaRPr lang="ar-SA" sz="1150" dirty="0"/>
          </a:p>
        </p:txBody>
      </p:sp>
      <p:sp>
        <p:nvSpPr>
          <p:cNvPr id="16" name="Text 14"/>
          <p:cNvSpPr txBox="1"/>
          <p:nvPr/>
        </p:nvSpPr>
        <p:spPr>
          <a:xfrm>
            <a:off x="4828032" y="2788920"/>
            <a:ext cx="3602736" cy="402336"/>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المصدر تحت كل جواب، والأرقام مدقَّقة، والثقة معروضة.</a:t>
            </a:r>
            <a:endParaRPr lang="ar-SA" sz="950" dirty="0"/>
          </a:p>
        </p:txBody>
      </p:sp>
      <p:sp>
        <p:nvSpPr>
          <p:cNvPr id="17" name="Shape 15"/>
          <p:cNvSpPr/>
          <p:nvPr/>
        </p:nvSpPr>
        <p:spPr>
          <a:xfrm>
            <a:off x="548640" y="2331720"/>
            <a:ext cx="3931920" cy="987552"/>
          </a:xfrm>
          <a:prstGeom prst="roundRect">
            <a:avLst>
              <a:gd name="adj" fmla="val 9259"/>
            </a:avLst>
          </a:prstGeom>
          <a:solidFill>
            <a:srgbClr val="FFFFFF"/>
          </a:solidFill>
          <a:ln w="12700">
            <a:solidFill>
              <a:srgbClr val="D9DEE7"/>
            </a:solidFill>
            <a:prstDash val="solid"/>
          </a:ln>
        </p:spPr>
      </p:sp>
      <p:sp>
        <p:nvSpPr>
          <p:cNvPr id="18" name="Text 16"/>
          <p:cNvSpPr txBox="1"/>
          <p:nvPr/>
        </p:nvSpPr>
        <p:spPr>
          <a:xfrm>
            <a:off x="713232" y="2459736"/>
            <a:ext cx="36027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رؤية إدارية لم تكن موجودة</a:t>
            </a:r>
            <a:endParaRPr lang="ar-SA" sz="1150" dirty="0"/>
          </a:p>
        </p:txBody>
      </p:sp>
      <p:sp>
        <p:nvSpPr>
          <p:cNvPr id="19" name="Text 17"/>
          <p:cNvSpPr txBox="1"/>
          <p:nvPr/>
        </p:nvSpPr>
        <p:spPr>
          <a:xfrm>
            <a:off x="713232" y="2788920"/>
            <a:ext cx="3602736" cy="402336"/>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ما يُسأل، وما لا جواب له، وأي مستند يُستشهد به فعلًا.</a:t>
            </a:r>
            <a:endParaRPr lang="ar-SA" sz="950" dirty="0"/>
          </a:p>
        </p:txBody>
      </p:sp>
      <p:sp>
        <p:nvSpPr>
          <p:cNvPr id="20" name="Shape 18"/>
          <p:cNvSpPr/>
          <p:nvPr/>
        </p:nvSpPr>
        <p:spPr>
          <a:xfrm>
            <a:off x="4663440" y="3429000"/>
            <a:ext cx="3931920" cy="987552"/>
          </a:xfrm>
          <a:prstGeom prst="roundRect">
            <a:avLst>
              <a:gd name="adj" fmla="val 9259"/>
            </a:avLst>
          </a:prstGeom>
          <a:solidFill>
            <a:srgbClr val="E9EEF6"/>
          </a:solidFill>
          <a:ln w="12700">
            <a:solidFill>
              <a:srgbClr val="E9EEF6"/>
            </a:solidFill>
            <a:prstDash val="solid"/>
          </a:ln>
        </p:spPr>
      </p:sp>
      <p:sp>
        <p:nvSpPr>
          <p:cNvPr id="21" name="Text 19"/>
          <p:cNvSpPr txBox="1"/>
          <p:nvPr/>
        </p:nvSpPr>
        <p:spPr>
          <a:xfrm>
            <a:off x="4828032" y="3557016"/>
            <a:ext cx="36027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الأرشيف الممسوح ضوئيًا يصير قابلًا للسؤال</a:t>
            </a:r>
            <a:endParaRPr lang="ar-SA" sz="1150" dirty="0"/>
          </a:p>
        </p:txBody>
      </p:sp>
      <p:sp>
        <p:nvSpPr>
          <p:cNvPr id="22" name="Text 20"/>
          <p:cNvSpPr txBox="1"/>
          <p:nvPr/>
        </p:nvSpPr>
        <p:spPr>
          <a:xfrm>
            <a:off x="4828032" y="3886200"/>
            <a:ext cx="3602736" cy="402336"/>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تعاميم وأدلة موجودة كصور فقط تدخل البحث لأول مرة.</a:t>
            </a:r>
            <a:endParaRPr lang="ar-SA" sz="950" dirty="0"/>
          </a:p>
        </p:txBody>
      </p:sp>
      <p:sp>
        <p:nvSpPr>
          <p:cNvPr id="23" name="Shape 21"/>
          <p:cNvSpPr/>
          <p:nvPr/>
        </p:nvSpPr>
        <p:spPr>
          <a:xfrm>
            <a:off x="548640" y="3429000"/>
            <a:ext cx="3931920" cy="987552"/>
          </a:xfrm>
          <a:prstGeom prst="roundRect">
            <a:avLst>
              <a:gd name="adj" fmla="val 9259"/>
            </a:avLst>
          </a:prstGeom>
          <a:solidFill>
            <a:srgbClr val="FFFFFF"/>
          </a:solidFill>
          <a:ln w="12700">
            <a:solidFill>
              <a:srgbClr val="D9DEE7"/>
            </a:solidFill>
            <a:prstDash val="solid"/>
          </a:ln>
        </p:spPr>
      </p:sp>
      <p:sp>
        <p:nvSpPr>
          <p:cNvPr id="24" name="Text 22"/>
          <p:cNvSpPr txBox="1"/>
          <p:nvPr/>
        </p:nvSpPr>
        <p:spPr>
          <a:xfrm>
            <a:off x="713232" y="3557016"/>
            <a:ext cx="3602736" cy="292608"/>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معرفة الشركة تبقى بعد رحيل أصحابها</a:t>
            </a:r>
            <a:endParaRPr lang="ar-SA" sz="1150" dirty="0"/>
          </a:p>
        </p:txBody>
      </p:sp>
      <p:sp>
        <p:nvSpPr>
          <p:cNvPr id="25" name="Text 23"/>
          <p:cNvSpPr txBox="1"/>
          <p:nvPr/>
        </p:nvSpPr>
        <p:spPr>
          <a:xfrm>
            <a:off x="713232" y="3886200"/>
            <a:ext cx="3602736" cy="402336"/>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ما وثّقته الشركة يُجيب بدل من كان يعرفه وحده.</a:t>
            </a:r>
            <a:endParaRPr lang="ar-SA"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نموذج العمل والسوق والخطة التشغيلية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Business model · market · operating plan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4663440" y="1234440"/>
            <a:ext cx="3931920" cy="1554480"/>
          </a:xfrm>
          <a:prstGeom prst="roundRect">
            <a:avLst>
              <a:gd name="adj" fmla="val 5882"/>
            </a:avLst>
          </a:prstGeom>
          <a:solidFill>
            <a:srgbClr val="E9EEF6"/>
          </a:solidFill>
          <a:ln w="12700">
            <a:solidFill>
              <a:srgbClr val="E9EEF6"/>
            </a:solidFill>
            <a:prstDash val="solid"/>
          </a:ln>
        </p:spPr>
      </p:sp>
      <p:sp>
        <p:nvSpPr>
          <p:cNvPr id="9" name="Text 7"/>
          <p:cNvSpPr txBox="1"/>
          <p:nvPr/>
        </p:nvSpPr>
        <p:spPr>
          <a:xfrm>
            <a:off x="4828032" y="136245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نموذج الإيرادات</a:t>
            </a:r>
            <a:endParaRPr lang="ar-SA" sz="1250" dirty="0"/>
          </a:p>
        </p:txBody>
      </p:sp>
      <p:sp>
        <p:nvSpPr>
          <p:cNvPr id="10" name="Text 8"/>
          <p:cNvSpPr txBox="1"/>
          <p:nvPr/>
        </p:nvSpPr>
        <p:spPr>
          <a:xfrm>
            <a:off x="4828032" y="169164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اشتراك شهري أو سنوي حسب الحجم:</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الأساسية ٨٩٩ ريال/شهر</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النمو ٢٬٤٩٩ ريال/شهر</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الأعمال ٥٬٩٩٩ ريال/شهر</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تجربة مجانية ٧ أيام. الحدود بعدد المستخدمين والمستندات والأسئلة وصفحات القراءة الضوئية.</a:t>
            </a:r>
            <a:endParaRPr lang="ar-SA" sz="950" dirty="0"/>
          </a:p>
        </p:txBody>
      </p:sp>
      <p:sp>
        <p:nvSpPr>
          <p:cNvPr id="11" name="Shape 9"/>
          <p:cNvSpPr/>
          <p:nvPr/>
        </p:nvSpPr>
        <p:spPr>
          <a:xfrm>
            <a:off x="548640" y="1234440"/>
            <a:ext cx="3931920" cy="1554480"/>
          </a:xfrm>
          <a:prstGeom prst="roundRect">
            <a:avLst>
              <a:gd name="adj" fmla="val 5882"/>
            </a:avLst>
          </a:prstGeom>
          <a:solidFill>
            <a:srgbClr val="E9EEF6"/>
          </a:solidFill>
          <a:ln w="12700">
            <a:solidFill>
              <a:srgbClr val="E9EEF6"/>
            </a:solidFill>
            <a:prstDash val="solid"/>
          </a:ln>
        </p:spPr>
      </p:sp>
      <p:sp>
        <p:nvSpPr>
          <p:cNvPr id="12" name="Text 10"/>
          <p:cNvSpPr txBox="1"/>
          <p:nvPr/>
        </p:nvSpPr>
        <p:spPr>
          <a:xfrm>
            <a:off x="713232" y="136245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مصادر إضافية</a:t>
            </a:r>
            <a:endParaRPr lang="ar-SA" sz="1250" dirty="0"/>
          </a:p>
        </p:txBody>
      </p:sp>
      <p:sp>
        <p:nvSpPr>
          <p:cNvPr id="13" name="Text 11"/>
          <p:cNvSpPr txBox="1"/>
          <p:nvPr/>
        </p:nvSpPr>
        <p:spPr>
          <a:xfrm>
            <a:off x="713232" y="169164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تهيئة وترحيل الأرشيف (رسوم لمرة واحدة)</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حزم قراءة ضوئية للأرشيفات الكبيرة</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قناة شركاء: مكاتب استشارات الموارد البشرية والمحاماة</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متطلبات عملاء الحجم الأكبر: الدخول الموحّد والتكاملات</a:t>
            </a:r>
            <a:endParaRPr lang="ar-SA" sz="950" dirty="0"/>
          </a:p>
        </p:txBody>
      </p:sp>
      <p:sp>
        <p:nvSpPr>
          <p:cNvPr id="14" name="Shape 12"/>
          <p:cNvSpPr/>
          <p:nvPr/>
        </p:nvSpPr>
        <p:spPr>
          <a:xfrm>
            <a:off x="4663440" y="2926080"/>
            <a:ext cx="3931920" cy="1554480"/>
          </a:xfrm>
          <a:prstGeom prst="roundRect">
            <a:avLst>
              <a:gd name="adj" fmla="val 5882"/>
            </a:avLst>
          </a:prstGeom>
          <a:solidFill>
            <a:srgbClr val="FFFFFF"/>
          </a:solidFill>
          <a:ln w="12700">
            <a:solidFill>
              <a:srgbClr val="D9DEE7"/>
            </a:solidFill>
            <a:prstDash val="solid"/>
          </a:ln>
        </p:spPr>
      </p:sp>
      <p:sp>
        <p:nvSpPr>
          <p:cNvPr id="15" name="Text 13"/>
          <p:cNvSpPr txBox="1"/>
          <p:nvPr/>
        </p:nvSpPr>
        <p:spPr>
          <a:xfrm>
            <a:off x="4828032" y="305409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السوق المستهدف</a:t>
            </a:r>
            <a:endParaRPr lang="ar-SA" sz="1250" dirty="0"/>
          </a:p>
        </p:txBody>
      </p:sp>
      <p:sp>
        <p:nvSpPr>
          <p:cNvPr id="16" name="Text 14"/>
          <p:cNvSpPr txBox="1"/>
          <p:nvPr/>
        </p:nvSpPr>
        <p:spPr>
          <a:xfrm>
            <a:off x="4828032" y="338328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المنشآت الصغيرة والمتوسطة في المملكة (٢٠ إلى ٥٠٠ موظف) ذات اللوائح والإجراءات الكثيفة: التجزئة والخدمات اللوجستية والرعاية الصحية والخدمات المهنية. الدخول عبر إدارات الموارد البشرية والعمليات.</a:t>
            </a:r>
            <a:endParaRPr lang="ar-SA" sz="950" dirty="0"/>
          </a:p>
        </p:txBody>
      </p:sp>
      <p:sp>
        <p:nvSpPr>
          <p:cNvPr id="17" name="Shape 15"/>
          <p:cNvSpPr/>
          <p:nvPr/>
        </p:nvSpPr>
        <p:spPr>
          <a:xfrm>
            <a:off x="548640" y="2926080"/>
            <a:ext cx="3931920" cy="1554480"/>
          </a:xfrm>
          <a:prstGeom prst="roundRect">
            <a:avLst>
              <a:gd name="adj" fmla="val 5882"/>
            </a:avLst>
          </a:prstGeom>
          <a:solidFill>
            <a:srgbClr val="FFFFFF"/>
          </a:solidFill>
          <a:ln w="12700">
            <a:solidFill>
              <a:srgbClr val="D9DEE7"/>
            </a:solidFill>
            <a:prstDash val="solid"/>
          </a:ln>
        </p:spPr>
      </p:sp>
      <p:sp>
        <p:nvSpPr>
          <p:cNvPr id="18" name="Text 16"/>
          <p:cNvSpPr txBox="1"/>
          <p:nvPr/>
        </p:nvSpPr>
        <p:spPr>
          <a:xfrm>
            <a:off x="713232" y="305409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الخطة التشغيلية</a:t>
            </a:r>
            <a:endParaRPr lang="ar-SA" sz="1250" dirty="0"/>
          </a:p>
        </p:txBody>
      </p:sp>
      <p:sp>
        <p:nvSpPr>
          <p:cNvPr id="19" name="Text 17"/>
          <p:cNvSpPr txBox="1"/>
          <p:nvPr/>
        </p:nvSpPr>
        <p:spPr>
          <a:xfrm>
            <a:off x="713232" y="338328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السنة ١: الإثبات — ٣ تجارب ثم ٥ عملاء يدفعون</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السنة ٢: التكرار — مسؤول بيع وقناة شركاء</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السنة ٣: التعميق — تكاملات وشهادة أمنية</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السنتان ٤ و٥: التوسع الجغرافي (الشريحة الأخيرة)</a:t>
            </a:r>
            <a:endParaRPr lang="ar-SA"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المالية والتوظيف لخمس سنوات</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Five-year financial &amp; hiring plan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2926080" y="1207008"/>
            <a:ext cx="5669280" cy="365760"/>
          </a:xfrm>
          <a:prstGeom prst="rect">
            <a:avLst/>
          </a:prstGeom>
          <a:noFill/>
          <a:ln/>
        </p:spPr>
        <p:txBody>
          <a:bodyPr wrap="square" lIns="0" tIns="0" rIns="0" bIns="0" rtlCol="0" anchor="t"/>
          <a:lstStyle/>
          <a:p>
            <a:pPr rtl="1" algn="r" indent="0" marL="0">
              <a:buNone/>
            </a:pPr>
            <a:r>
              <a:rPr lang="ar-SA" altLang="en-US" sz="950" dirty="0">
                <a:solidFill>
                  <a:srgbClr val="5B6573"/>
                </a:solidFill>
                <a:latin typeface="Arial" pitchFamily="34" charset="0"/>
                <a:ea typeface="Arial" pitchFamily="34" charset="-122"/>
                <a:cs typeface="Arial" pitchFamily="34" charset="-120"/>
              </a:rPr>
              <a:t>الإيراد السنوي المتوقع (مليون ريال). الحدّ الأدنى من السيناريو المتحفّظ والأعلى من الأساسي؛ السنتان ٤ و٥ امتداد بالوتيرة نفسها.</a:t>
            </a:r>
            <a:endParaRPr lang="ar-SA" sz="950" dirty="0"/>
          </a:p>
        </p:txBody>
      </p:sp>
      <p:graphicFrame>
        <p:nvGraphicFramePr>
          <p:cNvPr id="9" name="Chart 0" descr=""/>
          <p:cNvGraphicFramePr/>
          <p:nvPr/>
        </p:nvGraphicFramePr>
        <p:xfrm>
          <a:off x="2926080" y="1600200"/>
          <a:ext cx="5669280" cy="29718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548640" y="1207008"/>
            <a:ext cx="2194560" cy="3364992"/>
          </a:xfrm>
          <a:prstGeom prst="roundRect">
            <a:avLst>
              <a:gd name="adj" fmla="val 4167"/>
            </a:avLst>
          </a:prstGeom>
          <a:solidFill>
            <a:srgbClr val="E9EEF6"/>
          </a:solidFill>
          <a:ln w="12700">
            <a:solidFill>
              <a:srgbClr val="E9EEF6"/>
            </a:solidFill>
            <a:prstDash val="solid"/>
          </a:ln>
        </p:spPr>
      </p:sp>
      <p:sp>
        <p:nvSpPr>
          <p:cNvPr id="11" name="Text 8"/>
          <p:cNvSpPr txBox="1"/>
          <p:nvPr/>
        </p:nvSpPr>
        <p:spPr>
          <a:xfrm>
            <a:off x="685800" y="1335024"/>
            <a:ext cx="1920240" cy="27432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الفريق نهاية كل سنة</a:t>
            </a:r>
            <a:endParaRPr lang="ar-SA" sz="1200" dirty="0"/>
          </a:p>
        </p:txBody>
      </p:sp>
      <p:sp>
        <p:nvSpPr>
          <p:cNvPr id="12" name="Text 9"/>
          <p:cNvSpPr txBox="1"/>
          <p:nvPr/>
        </p:nvSpPr>
        <p:spPr>
          <a:xfrm>
            <a:off x="2057400" y="1783080"/>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١</a:t>
            </a:r>
            <a:endParaRPr lang="ar-SA" sz="1900" dirty="0"/>
          </a:p>
        </p:txBody>
      </p:sp>
      <p:sp>
        <p:nvSpPr>
          <p:cNvPr id="13" name="Text 10"/>
          <p:cNvSpPr txBox="1"/>
          <p:nvPr/>
        </p:nvSpPr>
        <p:spPr>
          <a:xfrm>
            <a:off x="685800" y="1801368"/>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١</a:t>
            </a:r>
            <a:endParaRPr lang="ar-SA" sz="800" dirty="0"/>
          </a:p>
        </p:txBody>
      </p:sp>
      <p:sp>
        <p:nvSpPr>
          <p:cNvPr id="14" name="Text 11"/>
          <p:cNvSpPr txBox="1"/>
          <p:nvPr/>
        </p:nvSpPr>
        <p:spPr>
          <a:xfrm>
            <a:off x="685800" y="1965960"/>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المؤسِّسة</a:t>
            </a:r>
            <a:endParaRPr lang="ar-SA" sz="950" dirty="0"/>
          </a:p>
        </p:txBody>
      </p:sp>
      <p:sp>
        <p:nvSpPr>
          <p:cNvPr id="15" name="Text 12"/>
          <p:cNvSpPr txBox="1"/>
          <p:nvPr/>
        </p:nvSpPr>
        <p:spPr>
          <a:xfrm>
            <a:off x="2057400" y="2313432"/>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٢</a:t>
            </a:r>
            <a:endParaRPr lang="ar-SA" sz="1900" dirty="0"/>
          </a:p>
        </p:txBody>
      </p:sp>
      <p:sp>
        <p:nvSpPr>
          <p:cNvPr id="16" name="Text 13"/>
          <p:cNvSpPr txBox="1"/>
          <p:nvPr/>
        </p:nvSpPr>
        <p:spPr>
          <a:xfrm>
            <a:off x="685800" y="2331720"/>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٢</a:t>
            </a:r>
            <a:endParaRPr lang="ar-SA" sz="800" dirty="0"/>
          </a:p>
        </p:txBody>
      </p:sp>
      <p:sp>
        <p:nvSpPr>
          <p:cNvPr id="17" name="Text 14"/>
          <p:cNvSpPr txBox="1"/>
          <p:nvPr/>
        </p:nvSpPr>
        <p:spPr>
          <a:xfrm>
            <a:off x="685800" y="2496312"/>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مسؤول بيع</a:t>
            </a:r>
            <a:endParaRPr lang="ar-SA" sz="950" dirty="0"/>
          </a:p>
        </p:txBody>
      </p:sp>
      <p:sp>
        <p:nvSpPr>
          <p:cNvPr id="18" name="Text 15"/>
          <p:cNvSpPr txBox="1"/>
          <p:nvPr/>
        </p:nvSpPr>
        <p:spPr>
          <a:xfrm>
            <a:off x="2057400" y="2843784"/>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٣–٤</a:t>
            </a:r>
            <a:endParaRPr lang="ar-SA" sz="1900" dirty="0"/>
          </a:p>
        </p:txBody>
      </p:sp>
      <p:sp>
        <p:nvSpPr>
          <p:cNvPr id="19" name="Text 16"/>
          <p:cNvSpPr txBox="1"/>
          <p:nvPr/>
        </p:nvSpPr>
        <p:spPr>
          <a:xfrm>
            <a:off x="685800" y="2862072"/>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٣</a:t>
            </a:r>
            <a:endParaRPr lang="ar-SA" sz="800" dirty="0"/>
          </a:p>
        </p:txBody>
      </p:sp>
      <p:sp>
        <p:nvSpPr>
          <p:cNvPr id="20" name="Text 17"/>
          <p:cNvSpPr txBox="1"/>
          <p:nvPr/>
        </p:nvSpPr>
        <p:spPr>
          <a:xfrm>
            <a:off x="685800" y="3026664"/>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نجاح عملاء، مهندس</a:t>
            </a:r>
            <a:endParaRPr lang="ar-SA" sz="950" dirty="0"/>
          </a:p>
        </p:txBody>
      </p:sp>
      <p:sp>
        <p:nvSpPr>
          <p:cNvPr id="21" name="Text 18"/>
          <p:cNvSpPr txBox="1"/>
          <p:nvPr/>
        </p:nvSpPr>
        <p:spPr>
          <a:xfrm>
            <a:off x="2057400" y="3374136"/>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٥</a:t>
            </a:r>
            <a:endParaRPr lang="ar-SA" sz="1900" dirty="0"/>
          </a:p>
        </p:txBody>
      </p:sp>
      <p:sp>
        <p:nvSpPr>
          <p:cNvPr id="22" name="Text 19"/>
          <p:cNvSpPr txBox="1"/>
          <p:nvPr/>
        </p:nvSpPr>
        <p:spPr>
          <a:xfrm>
            <a:off x="685800" y="3392424"/>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٤</a:t>
            </a:r>
            <a:endParaRPr lang="ar-SA" sz="800" dirty="0"/>
          </a:p>
        </p:txBody>
      </p:sp>
      <p:sp>
        <p:nvSpPr>
          <p:cNvPr id="23" name="Text 20"/>
          <p:cNvSpPr txBox="1"/>
          <p:nvPr/>
        </p:nvSpPr>
        <p:spPr>
          <a:xfrm>
            <a:off x="685800" y="3557016"/>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مبيعات ثانٍ</a:t>
            </a:r>
            <a:endParaRPr lang="ar-SA" sz="950" dirty="0"/>
          </a:p>
        </p:txBody>
      </p:sp>
      <p:sp>
        <p:nvSpPr>
          <p:cNvPr id="24" name="Text 21"/>
          <p:cNvSpPr txBox="1"/>
          <p:nvPr/>
        </p:nvSpPr>
        <p:spPr>
          <a:xfrm>
            <a:off x="2057400" y="3904488"/>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٦–٧</a:t>
            </a:r>
            <a:endParaRPr lang="ar-SA" sz="1900" dirty="0"/>
          </a:p>
        </p:txBody>
      </p:sp>
      <p:sp>
        <p:nvSpPr>
          <p:cNvPr id="25" name="Text 22"/>
          <p:cNvSpPr txBox="1"/>
          <p:nvPr/>
        </p:nvSpPr>
        <p:spPr>
          <a:xfrm>
            <a:off x="685800" y="3922776"/>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٥</a:t>
            </a:r>
            <a:endParaRPr lang="ar-SA" sz="800" dirty="0"/>
          </a:p>
        </p:txBody>
      </p:sp>
      <p:sp>
        <p:nvSpPr>
          <p:cNvPr id="26" name="Text 23"/>
          <p:cNvSpPr txBox="1"/>
          <p:nvPr/>
        </p:nvSpPr>
        <p:spPr>
          <a:xfrm>
            <a:off x="685800" y="4087368"/>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مهندس، دعم</a:t>
            </a:r>
            <a:endParaRPr lang="ar-SA"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الميزة القادمة: استوديو السياسات</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Next feature: Policy Studio</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548640" y="1188720"/>
            <a:ext cx="8046720" cy="566928"/>
          </a:xfrm>
          <a:prstGeom prst="roundRect">
            <a:avLst>
              <a:gd name="adj" fmla="val 16129"/>
            </a:avLst>
          </a:prstGeom>
          <a:solidFill>
            <a:srgbClr val="F7F4EC"/>
          </a:solidFill>
          <a:ln w="12700">
            <a:solidFill>
              <a:srgbClr val="C9A24C"/>
            </a:solidFill>
            <a:prstDash val="solid"/>
          </a:ln>
        </p:spPr>
      </p:sp>
      <p:sp>
        <p:nvSpPr>
          <p:cNvPr id="9" name="Text 7"/>
          <p:cNvSpPr txBox="1"/>
          <p:nvPr/>
        </p:nvSpPr>
        <p:spPr>
          <a:xfrm>
            <a:off x="731520" y="1316736"/>
            <a:ext cx="7680960" cy="274320"/>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مواصفة معتمدة ومكتوبة بالكامل — ولم تُنشر بعد. تُبنى بعد العميل الثالث، لا قبله.</a:t>
            </a:r>
            <a:endParaRPr lang="ar-SA" sz="1150" dirty="0"/>
          </a:p>
        </p:txBody>
      </p:sp>
      <p:sp>
        <p:nvSpPr>
          <p:cNvPr id="10" name="Shape 8"/>
          <p:cNvSpPr/>
          <p:nvPr/>
        </p:nvSpPr>
        <p:spPr>
          <a:xfrm>
            <a:off x="4663440" y="1920240"/>
            <a:ext cx="3931920" cy="2651760"/>
          </a:xfrm>
          <a:prstGeom prst="roundRect">
            <a:avLst>
              <a:gd name="adj" fmla="val 3448"/>
            </a:avLst>
          </a:prstGeom>
          <a:solidFill>
            <a:srgbClr val="E9EEF6"/>
          </a:solidFill>
          <a:ln w="12700">
            <a:solidFill>
              <a:srgbClr val="E9EEF6"/>
            </a:solidFill>
            <a:prstDash val="solid"/>
          </a:ln>
        </p:spPr>
      </p:sp>
      <p:sp>
        <p:nvSpPr>
          <p:cNvPr id="11" name="Text 9"/>
          <p:cNvSpPr txBox="1"/>
          <p:nvPr/>
        </p:nvSpPr>
        <p:spPr>
          <a:xfrm>
            <a:off x="4828032" y="204825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الفكرة</a:t>
            </a:r>
            <a:endParaRPr lang="ar-SA" sz="1250" dirty="0"/>
          </a:p>
        </p:txBody>
      </p:sp>
      <p:sp>
        <p:nvSpPr>
          <p:cNvPr id="12" name="Text 10"/>
          <p:cNvSpPr txBox="1"/>
          <p:nvPr/>
        </p:nvSpPr>
        <p:spPr>
          <a:xfrm>
            <a:off x="4828032" y="2377440"/>
            <a:ext cx="3602736" cy="2066544"/>
          </a:xfrm>
          <a:prstGeom prst="rect">
            <a:avLst/>
          </a:prstGeom>
          <a:noFill/>
          <a:ln/>
        </p:spPr>
        <p:txBody>
          <a:bodyPr wrap="square" lIns="0" tIns="0" rIns="0" bIns="0" rtlCol="0" anchor="t"/>
          <a:lstStyle/>
          <a:p>
            <a:pPr rtl="1" algn="r" indent="0" marL="0">
              <a:lnSpc>
                <a:spcPct val="114000"/>
              </a:lnSpc>
              <a:buNone/>
            </a:pPr>
            <a:r>
              <a:rPr lang="ar-SA" altLang="en-US" sz="980" dirty="0">
                <a:solidFill>
                  <a:srgbClr val="1B2330"/>
                </a:solidFill>
                <a:latin typeface="Arial" pitchFamily="34" charset="0"/>
                <a:ea typeface="Arial" pitchFamily="34" charset="-122"/>
                <a:cs typeface="Arial" pitchFamily="34" charset="-120"/>
              </a:rPr>
              <a:t>مساعد داخل المنصة يساعد الشركة على «كتابة» سياساتها لا الإجابة منها فقط: يسأل المدير ثلاثة إلى خمسة أسئلة توضيحية، ثم يكتب مسودة مستندة إلى وثائق الشركة وإلى مكتبة مرجعية رسمية (نظام العمل ولوائحه)، مع الاستشهاد بمواد النظام. يحرّرها المدير ويعتمدها، فتدخل قاعدة المعرفة مستندًا يجيب من لحظته وتُغلق الفجوة ويُنبَّه من سأل.</a:t>
            </a:r>
            <a:endParaRPr lang="ar-SA" sz="980" dirty="0"/>
          </a:p>
        </p:txBody>
      </p:sp>
      <p:sp>
        <p:nvSpPr>
          <p:cNvPr id="13" name="Shape 11"/>
          <p:cNvSpPr/>
          <p:nvPr/>
        </p:nvSpPr>
        <p:spPr>
          <a:xfrm>
            <a:off x="548640" y="1920240"/>
            <a:ext cx="3931920" cy="2651760"/>
          </a:xfrm>
          <a:prstGeom prst="roundRect">
            <a:avLst>
              <a:gd name="adj" fmla="val 3448"/>
            </a:avLst>
          </a:prstGeom>
          <a:solidFill>
            <a:srgbClr val="FFFFFF"/>
          </a:solidFill>
          <a:ln w="12700">
            <a:solidFill>
              <a:srgbClr val="D9DEE7"/>
            </a:solidFill>
            <a:prstDash val="solid"/>
          </a:ln>
        </p:spPr>
      </p:sp>
      <p:sp>
        <p:nvSpPr>
          <p:cNvPr id="14" name="Text 12"/>
          <p:cNvSpPr txBox="1"/>
          <p:nvPr/>
        </p:nvSpPr>
        <p:spPr>
          <a:xfrm>
            <a:off x="713232" y="204825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لماذا هي مهمّة استراتيجيًا</a:t>
            </a:r>
            <a:endParaRPr lang="ar-SA" sz="1250" dirty="0"/>
          </a:p>
        </p:txBody>
      </p:sp>
      <p:sp>
        <p:nvSpPr>
          <p:cNvPr id="15" name="Text 13"/>
          <p:cNvSpPr txBox="1"/>
          <p:nvPr/>
        </p:nvSpPr>
        <p:spPr>
          <a:xfrm>
            <a:off x="713232" y="2377440"/>
            <a:ext cx="3602736" cy="206654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تُوسّع السوق نفسه: الشركة بلا لوائح مستبعَدة اليوم، وبها تصير العميل المثالي — نكتب معها ثم نجيب منها.</a:t>
            </a:r>
            <a:endParaRPr lang="ar-SA" sz="950" dirty="0"/>
          </a:p>
          <a:p>
            <a:pPr rtl="1" algn="r" indent="0" marL="0">
              <a:lnSpc>
                <a:spcPct val="114000"/>
              </a:lnSpc>
              <a:buNone/>
            </a:pP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تُغلق الدائرة: الفجوات تكشف ما ينقص ← الوكيل يقترح جواب سؤال ← الاستوديو يكتب السياسة كاملة.</a:t>
            </a:r>
            <a:endParaRPr lang="ar-SA" sz="950" dirty="0"/>
          </a:p>
          <a:p>
            <a:pPr rtl="1" algn="r" indent="0" marL="0">
              <a:lnSpc>
                <a:spcPct val="114000"/>
              </a:lnSpc>
              <a:buNone/>
            </a:pP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سبعون بالمئة من أجزائها مبنيّ فعلًا في المنصة، والتقدير أسبوع عمل للنسخة الأولى.</a:t>
            </a:r>
            <a:endParaRPr lang="ar-SA" sz="950" dirty="0"/>
          </a:p>
          <a:p>
            <a:pPr rtl="1" algn="r" indent="0" marL="0">
              <a:lnSpc>
                <a:spcPct val="114000"/>
              </a:lnSpc>
              <a:buNone/>
            </a:pP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لا بحث في الإنترنت المفتوح: المكتبة الرسمية ووثائق الشركة فقط — تجنّبًا للمسؤولية القانونية.</a:t>
            </a:r>
            <a:endParaRPr lang="ar-SA"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خطة التوسع</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Expansion plan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1097280" y="2148840"/>
            <a:ext cx="6949440" cy="0"/>
          </a:xfrm>
          <a:prstGeom prst="line">
            <a:avLst/>
          </a:prstGeom>
          <a:noFill/>
          <a:ln w="25400">
            <a:solidFill>
              <a:srgbClr val="C9A24C"/>
            </a:solidFill>
            <a:prstDash val="solid"/>
          </a:ln>
        </p:spPr>
      </p:sp>
      <p:sp>
        <p:nvSpPr>
          <p:cNvPr id="9" name="Shape 7"/>
          <p:cNvSpPr/>
          <p:nvPr/>
        </p:nvSpPr>
        <p:spPr>
          <a:xfrm>
            <a:off x="7132320" y="1965960"/>
            <a:ext cx="365760" cy="365760"/>
          </a:xfrm>
          <a:prstGeom prst="ellipse">
            <a:avLst/>
          </a:prstGeom>
          <a:solidFill>
            <a:srgbClr val="C9A24C"/>
          </a:solidFill>
          <a:ln w="25400">
            <a:solidFill>
              <a:srgbClr val="C9A24C"/>
            </a:solidFill>
            <a:prstDash val="solid"/>
          </a:ln>
        </p:spPr>
      </p:sp>
      <p:sp>
        <p:nvSpPr>
          <p:cNvPr id="10" name="Text 8"/>
          <p:cNvSpPr txBox="1"/>
          <p:nvPr/>
        </p:nvSpPr>
        <p:spPr>
          <a:xfrm>
            <a:off x="6035040" y="1463040"/>
            <a:ext cx="2560320" cy="274320"/>
          </a:xfrm>
          <a:prstGeom prst="rect">
            <a:avLst/>
          </a:prstGeom>
          <a:noFill/>
          <a:ln/>
        </p:spPr>
        <p:txBody>
          <a:bodyPr wrap="square" lIns="0" tIns="0" rIns="0" bIns="0" rtlCol="0" anchor="t"/>
          <a:lstStyle/>
          <a:p>
            <a:pPr rtl="1" algn="ctr" indent="0" marL="0">
              <a:buNone/>
            </a:pPr>
            <a:r>
              <a:rPr lang="ar-SA" altLang="en-US" sz="1000" dirty="0">
                <a:solidFill>
                  <a:srgbClr val="5B6573"/>
                </a:solidFill>
                <a:latin typeface="Arial" pitchFamily="34" charset="0"/>
                <a:ea typeface="Arial" pitchFamily="34" charset="-122"/>
                <a:cs typeface="Arial" pitchFamily="34" charset="-120"/>
              </a:rPr>
              <a:t>السنوات ١ إلى ٣</a:t>
            </a:r>
            <a:endParaRPr lang="ar-SA" sz="1000" dirty="0"/>
          </a:p>
        </p:txBody>
      </p:sp>
      <p:sp>
        <p:nvSpPr>
          <p:cNvPr id="11" name="Text 9"/>
          <p:cNvSpPr txBox="1"/>
          <p:nvPr/>
        </p:nvSpPr>
        <p:spPr>
          <a:xfrm>
            <a:off x="6035040" y="2514600"/>
            <a:ext cx="2560320" cy="365760"/>
          </a:xfrm>
          <a:prstGeom prst="rect">
            <a:avLst/>
          </a:prstGeom>
          <a:noFill/>
          <a:ln/>
        </p:spPr>
        <p:txBody>
          <a:bodyPr wrap="square" lIns="0" tIns="0" rIns="0" bIns="0" rtlCol="0" anchor="t"/>
          <a:lstStyle/>
          <a:p>
            <a:pPr rtl="1" algn="ctr" indent="0" marL="0">
              <a:buNone/>
            </a:pPr>
            <a:r>
              <a:rPr lang="ar-SA" altLang="en-US" sz="1600" b="1" dirty="0">
                <a:solidFill>
                  <a:srgbClr val="1E3967"/>
                </a:solidFill>
                <a:latin typeface="Arial" pitchFamily="34" charset="0"/>
                <a:ea typeface="Arial" pitchFamily="34" charset="-122"/>
                <a:cs typeface="Arial" pitchFamily="34" charset="-120"/>
              </a:rPr>
              <a:t>داخل المملكة</a:t>
            </a:r>
            <a:endParaRPr lang="ar-SA" sz="1600" dirty="0"/>
          </a:p>
        </p:txBody>
      </p:sp>
      <p:sp>
        <p:nvSpPr>
          <p:cNvPr id="12" name="Text 10"/>
          <p:cNvSpPr txBox="1"/>
          <p:nvPr/>
        </p:nvSpPr>
        <p:spPr>
          <a:xfrm>
            <a:off x="6126480" y="2926080"/>
            <a:ext cx="2377440" cy="14630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1B2330"/>
                </a:solidFill>
                <a:latin typeface="Arial" pitchFamily="34" charset="0"/>
                <a:ea typeface="Arial" pitchFamily="34" charset="-122"/>
                <a:cs typeface="Arial" pitchFamily="34" charset="-120"/>
              </a:rPr>
              <a:t>الرياض ثم جدة والدمام. بيع مباشر وقناة شركاء، وبناء المراجع والشهادة الأمنية. المنشأة والفريق والاستضافة والعملاء داخل المملكة.</a:t>
            </a:r>
            <a:endParaRPr lang="ar-SA" sz="1050" dirty="0"/>
          </a:p>
        </p:txBody>
      </p:sp>
      <p:sp>
        <p:nvSpPr>
          <p:cNvPr id="13" name="Shape 11"/>
          <p:cNvSpPr/>
          <p:nvPr/>
        </p:nvSpPr>
        <p:spPr>
          <a:xfrm>
            <a:off x="4389120" y="1965960"/>
            <a:ext cx="365760" cy="365760"/>
          </a:xfrm>
          <a:prstGeom prst="ellipse">
            <a:avLst/>
          </a:prstGeom>
          <a:solidFill>
            <a:srgbClr val="FFFFFF"/>
          </a:solidFill>
          <a:ln w="25400">
            <a:solidFill>
              <a:srgbClr val="C9A24C"/>
            </a:solidFill>
            <a:prstDash val="solid"/>
          </a:ln>
        </p:spPr>
      </p:sp>
      <p:sp>
        <p:nvSpPr>
          <p:cNvPr id="14" name="Text 12"/>
          <p:cNvSpPr txBox="1"/>
          <p:nvPr/>
        </p:nvSpPr>
        <p:spPr>
          <a:xfrm>
            <a:off x="3291840" y="1463040"/>
            <a:ext cx="2560320" cy="274320"/>
          </a:xfrm>
          <a:prstGeom prst="rect">
            <a:avLst/>
          </a:prstGeom>
          <a:noFill/>
          <a:ln/>
        </p:spPr>
        <p:txBody>
          <a:bodyPr wrap="square" lIns="0" tIns="0" rIns="0" bIns="0" rtlCol="0" anchor="t"/>
          <a:lstStyle/>
          <a:p>
            <a:pPr rtl="1" algn="ctr" indent="0" marL="0">
              <a:buNone/>
            </a:pPr>
            <a:r>
              <a:rPr lang="ar-SA" altLang="en-US" sz="1000" dirty="0">
                <a:solidFill>
                  <a:srgbClr val="5B6573"/>
                </a:solidFill>
                <a:latin typeface="Arial" pitchFamily="34" charset="0"/>
                <a:ea typeface="Arial" pitchFamily="34" charset="-122"/>
                <a:cs typeface="Arial" pitchFamily="34" charset="-120"/>
              </a:rPr>
              <a:t>السنتان ٤ و٥</a:t>
            </a:r>
            <a:endParaRPr lang="ar-SA" sz="1000" dirty="0"/>
          </a:p>
        </p:txBody>
      </p:sp>
      <p:sp>
        <p:nvSpPr>
          <p:cNvPr id="15" name="Text 13"/>
          <p:cNvSpPr txBox="1"/>
          <p:nvPr/>
        </p:nvSpPr>
        <p:spPr>
          <a:xfrm>
            <a:off x="3291840" y="2514600"/>
            <a:ext cx="2560320" cy="365760"/>
          </a:xfrm>
          <a:prstGeom prst="rect">
            <a:avLst/>
          </a:prstGeom>
          <a:noFill/>
          <a:ln/>
        </p:spPr>
        <p:txBody>
          <a:bodyPr wrap="square" lIns="0" tIns="0" rIns="0" bIns="0" rtlCol="0" anchor="t"/>
          <a:lstStyle/>
          <a:p>
            <a:pPr rtl="1" algn="ctr" indent="0" marL="0">
              <a:buNone/>
            </a:pPr>
            <a:r>
              <a:rPr lang="ar-SA" altLang="en-US" sz="1600" b="1" dirty="0">
                <a:solidFill>
                  <a:srgbClr val="1E3967"/>
                </a:solidFill>
                <a:latin typeface="Arial" pitchFamily="34" charset="0"/>
                <a:ea typeface="Arial" pitchFamily="34" charset="-122"/>
                <a:cs typeface="Arial" pitchFamily="34" charset="-120"/>
              </a:rPr>
              <a:t>دول الخليج</a:t>
            </a:r>
            <a:endParaRPr lang="ar-SA" sz="1600" dirty="0"/>
          </a:p>
        </p:txBody>
      </p:sp>
      <p:sp>
        <p:nvSpPr>
          <p:cNvPr id="16" name="Text 14"/>
          <p:cNvSpPr txBox="1"/>
          <p:nvPr/>
        </p:nvSpPr>
        <p:spPr>
          <a:xfrm>
            <a:off x="3383280" y="2926080"/>
            <a:ext cx="2377440" cy="14630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1B2330"/>
                </a:solidFill>
                <a:latin typeface="Arial" pitchFamily="34" charset="0"/>
                <a:ea typeface="Arial" pitchFamily="34" charset="-122"/>
                <a:cs typeface="Arial" pitchFamily="34" charset="-120"/>
              </a:rPr>
              <a:t>الإمارات وقطر والكويت عبر شركاء محليين، بالمنتج نفسه واللغة نفسها، مع خيار استضافة إقليمية.</a:t>
            </a:r>
            <a:endParaRPr lang="ar-SA" sz="1050" dirty="0"/>
          </a:p>
        </p:txBody>
      </p:sp>
      <p:sp>
        <p:nvSpPr>
          <p:cNvPr id="17" name="Shape 15"/>
          <p:cNvSpPr/>
          <p:nvPr/>
        </p:nvSpPr>
        <p:spPr>
          <a:xfrm>
            <a:off x="1645920" y="1965960"/>
            <a:ext cx="365760" cy="365760"/>
          </a:xfrm>
          <a:prstGeom prst="ellipse">
            <a:avLst/>
          </a:prstGeom>
          <a:solidFill>
            <a:srgbClr val="FFFFFF"/>
          </a:solidFill>
          <a:ln w="25400">
            <a:solidFill>
              <a:srgbClr val="C9A24C"/>
            </a:solidFill>
            <a:prstDash val="solid"/>
          </a:ln>
        </p:spPr>
      </p:sp>
      <p:sp>
        <p:nvSpPr>
          <p:cNvPr id="18" name="Text 16"/>
          <p:cNvSpPr txBox="1"/>
          <p:nvPr/>
        </p:nvSpPr>
        <p:spPr>
          <a:xfrm>
            <a:off x="548640" y="1463040"/>
            <a:ext cx="2560320" cy="274320"/>
          </a:xfrm>
          <a:prstGeom prst="rect">
            <a:avLst/>
          </a:prstGeom>
          <a:noFill/>
          <a:ln/>
        </p:spPr>
        <p:txBody>
          <a:bodyPr wrap="square" lIns="0" tIns="0" rIns="0" bIns="0" rtlCol="0" anchor="t"/>
          <a:lstStyle/>
          <a:p>
            <a:pPr rtl="1" algn="ctr" indent="0" marL="0">
              <a:buNone/>
            </a:pPr>
            <a:r>
              <a:rPr lang="ar-SA" altLang="en-US" sz="1000" dirty="0">
                <a:solidFill>
                  <a:srgbClr val="5B6573"/>
                </a:solidFill>
                <a:latin typeface="Arial" pitchFamily="34" charset="0"/>
                <a:ea typeface="Arial" pitchFamily="34" charset="-122"/>
                <a:cs typeface="Arial" pitchFamily="34" charset="-120"/>
              </a:rPr>
              <a:t>بعد السنة ٥</a:t>
            </a:r>
            <a:endParaRPr lang="ar-SA" sz="1000" dirty="0"/>
          </a:p>
        </p:txBody>
      </p:sp>
      <p:sp>
        <p:nvSpPr>
          <p:cNvPr id="19" name="Text 17"/>
          <p:cNvSpPr txBox="1"/>
          <p:nvPr/>
        </p:nvSpPr>
        <p:spPr>
          <a:xfrm>
            <a:off x="548640" y="2514600"/>
            <a:ext cx="2560320" cy="365760"/>
          </a:xfrm>
          <a:prstGeom prst="rect">
            <a:avLst/>
          </a:prstGeom>
          <a:noFill/>
          <a:ln/>
        </p:spPr>
        <p:txBody>
          <a:bodyPr wrap="square" lIns="0" tIns="0" rIns="0" bIns="0" rtlCol="0" anchor="t"/>
          <a:lstStyle/>
          <a:p>
            <a:pPr rtl="1" algn="ctr" indent="0" marL="0">
              <a:buNone/>
            </a:pPr>
            <a:r>
              <a:rPr lang="ar-SA" altLang="en-US" sz="1600" b="1" dirty="0">
                <a:solidFill>
                  <a:srgbClr val="1E3967"/>
                </a:solidFill>
                <a:latin typeface="Arial" pitchFamily="34" charset="0"/>
                <a:ea typeface="Arial" pitchFamily="34" charset="-122"/>
                <a:cs typeface="Arial" pitchFamily="34" charset="-120"/>
              </a:rPr>
              <a:t>الأسواق الناطقة بالعربية</a:t>
            </a:r>
            <a:endParaRPr lang="ar-SA" sz="1600" dirty="0"/>
          </a:p>
        </p:txBody>
      </p:sp>
      <p:sp>
        <p:nvSpPr>
          <p:cNvPr id="20" name="Text 18"/>
          <p:cNvSpPr txBox="1"/>
          <p:nvPr/>
        </p:nvSpPr>
        <p:spPr>
          <a:xfrm>
            <a:off x="640080" y="2926080"/>
            <a:ext cx="2377440" cy="14630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1B2330"/>
                </a:solidFill>
                <a:latin typeface="Arial" pitchFamily="34" charset="0"/>
                <a:ea typeface="Arial" pitchFamily="34" charset="-122"/>
                <a:cs typeface="Arial" pitchFamily="34" charset="-120"/>
              </a:rPr>
              <a:t>مصر والأردن والمغرب العربي، حيث لا يوجد بديل عربي أولًا وبمعايير أمان مبنية للمؤسسات.</a:t>
            </a:r>
            <a:endParaRPr lang="ar-SA" sz="1050" dirty="0"/>
          </a:p>
        </p:txBody>
      </p:sp>
      <p:sp>
        <p:nvSpPr>
          <p:cNvPr id="21" name="Text 19"/>
          <p:cNvSpPr txBox="1"/>
          <p:nvPr/>
        </p:nvSpPr>
        <p:spPr>
          <a:xfrm>
            <a:off x="548640" y="4389120"/>
            <a:ext cx="8046720" cy="274320"/>
          </a:xfrm>
          <a:prstGeom prst="rect">
            <a:avLst/>
          </a:prstGeom>
          <a:noFill/>
          <a:ln/>
        </p:spPr>
        <p:txBody>
          <a:bodyPr wrap="square" lIns="0" tIns="0" rIns="0" bIns="0" rtlCol="0" anchor="t"/>
          <a:lstStyle/>
          <a:p>
            <a:pPr rtl="1" algn="r" indent="0" marL="0">
              <a:buNone/>
            </a:pPr>
            <a:r>
              <a:rPr lang="ar-SA" altLang="en-US" sz="1000" dirty="0">
                <a:solidFill>
                  <a:srgbClr val="5B6573"/>
                </a:solidFill>
                <a:latin typeface="Arial" pitchFamily="34" charset="0"/>
                <a:ea typeface="Arial" pitchFamily="34" charset="-122"/>
                <a:cs typeface="Arial" pitchFamily="34" charset="-120"/>
              </a:rPr>
              <a:t>الاستثمار في الاقتصاد السعودي أولًا: التأسيس والتوظيف والاستضافة والعملاء الأوائل كلهم داخل المملكة قبل أي توسع.</a:t>
            </a:r>
            <a:endParaRPr lang="ar-SA"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2026-09-07T12:58:30Z</dcterms:created>
  <dcterms:modified xsi:type="dcterms:W3CDTF">2026-09-07T12:58:30Z</dcterms:modified>
</cp:coreProperties>
</file>