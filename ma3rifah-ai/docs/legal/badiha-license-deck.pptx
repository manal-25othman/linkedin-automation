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الحد الأدنى</c:v>
                </c:pt>
              </c:strCache>
            </c:strRef>
          </c:tx>
          <c:spPr>
            <a:solidFill>
              <a:srgbClr val="C9A24C"/>
            </a:solidFill>
            <a:effectLst/>
          </c:spPr>
          <c:invertIfNegative val="0"/>
          <c:dLbls>
            <c:numFmt formatCode="0.00" sourceLinked="0"/>
            <c:txPr>
              <a:bodyPr/>
              <a:lstStyle/>
              <a:p>
                <a:pPr>
                  <a:defRPr b="0" i="0" strike="noStrike" sz="800" u="none">
                    <a:solidFill>
                      <a:srgbClr val="1B2330"/>
                    </a:solidFill>
                    <a:latin typeface="Arial"/>
                  </a:defRPr>
                </a:pPr>
              </a:p>
            </c:txPr>
            <c:showLegendKey val="0"/>
            <c:showVal val="1"/>
            <c:showCatName val="0"/>
            <c:showSerName val="0"/>
            <c:showPercent val="0"/>
            <c:showBubbleSize val="0"/>
            <c:showLeaderLines val="0"/>
          </c:dLbls>
          <c:cat>
            <c:multiLvlStrRef>
              <c:f>Sheet1!$A$2:$A$6</c:f>
              <c:multiLvlStrCache>
                <c:ptCount val="5"/>
                <c:lvl>
                  <c:pt idx="0">
                    <c:v>السنة ١</c:v>
                  </c:pt>
                  <c:pt idx="1">
                    <c:v>السنة ٢</c:v>
                  </c:pt>
                  <c:pt idx="2">
                    <c:v>السنة ٣</c:v>
                  </c:pt>
                  <c:pt idx="3">
                    <c:v>السنة ٤</c:v>
                  </c:pt>
                  <c:pt idx="4">
                    <c:v>السنة ٥</c:v>
                  </c:pt>
                </c:lvl>
              </c:multiLvlStrCache>
            </c:multiLvlStrRef>
          </c:cat>
          <c:val>
            <c:numRef>
              <c:f>Sheet1!$B$2:$B$6</c:f>
              <c:numCache>
                <c:formatCode>General</c:formatCode>
                <c:ptCount val="5"/>
                <c:pt idx="0">
                  <c:v>0.08</c:v>
                </c:pt>
                <c:pt idx="1">
                  <c:v>0.35</c:v>
                </c:pt>
                <c:pt idx="2">
                  <c:v>0.8</c:v>
                </c:pt>
                <c:pt idx="3">
                  <c:v>1.3</c:v>
                </c:pt>
                <c:pt idx="4">
                  <c:v>1.9</c:v>
                </c:pt>
              </c:numCache>
            </c:numRef>
          </c:val>
        </c:ser>
        <c:ser>
          <c:idx val="1"/>
          <c:order val="1"/>
          <c:tx>
            <c:strRef>
              <c:f>Sheet1!$C$1</c:f>
              <c:strCache>
                <c:ptCount val="1"/>
                <c:pt idx="0">
                  <c:v>الحد الأعلى</c:v>
                </c:pt>
              </c:strCache>
            </c:strRef>
          </c:tx>
          <c:spPr>
            <a:solidFill>
              <a:srgbClr val="1E3967"/>
            </a:solidFill>
            <a:effectLst/>
          </c:spPr>
          <c:invertIfNegative val="0"/>
          <c:dLbls>
            <c:numFmt formatCode="0.00" sourceLinked="0"/>
            <c:txPr>
              <a:bodyPr/>
              <a:lstStyle/>
              <a:p>
                <a:pPr>
                  <a:defRPr b="0" i="0" strike="noStrike" sz="800" u="none">
                    <a:solidFill>
                      <a:srgbClr val="1B2330"/>
                    </a:solidFill>
                    <a:latin typeface="Arial"/>
                  </a:defRPr>
                </a:pPr>
              </a:p>
            </c:txPr>
            <c:showLegendKey val="0"/>
            <c:showVal val="1"/>
            <c:showCatName val="0"/>
            <c:showSerName val="0"/>
            <c:showPercent val="0"/>
            <c:showBubbleSize val="0"/>
            <c:showLeaderLines val="0"/>
          </c:dLbls>
          <c:cat>
            <c:multiLvlStrRef>
              <c:f>Sheet1!$A$2:$A$6</c:f>
              <c:multiLvlStrCache>
                <c:ptCount val="5"/>
                <c:lvl>
                  <c:pt idx="0">
                    <c:v>السنة ١</c:v>
                  </c:pt>
                  <c:pt idx="1">
                    <c:v>السنة ٢</c:v>
                  </c:pt>
                  <c:pt idx="2">
                    <c:v>السنة ٣</c:v>
                  </c:pt>
                  <c:pt idx="3">
                    <c:v>السنة ٤</c:v>
                  </c:pt>
                  <c:pt idx="4">
                    <c:v>السنة ٥</c:v>
                  </c:pt>
                </c:lvl>
              </c:multiLvlStrCache>
            </c:multiLvlStrRef>
          </c:cat>
          <c:val>
            <c:numRef>
              <c:f>Sheet1!$C$2:$C$6</c:f>
              <c:numCache>
                <c:formatCode>General</c:formatCode>
                <c:ptCount val="5"/>
                <c:pt idx="0">
                  <c:v>0.23</c:v>
                </c:pt>
                <c:pt idx="1">
                  <c:v>0.8</c:v>
                </c:pt>
                <c:pt idx="2">
                  <c:v>1.69</c:v>
                </c:pt>
                <c:pt idx="3">
                  <c:v>2.5</c:v>
                </c:pt>
                <c:pt idx="4">
                  <c:v>3.5</c:v>
                </c:pt>
              </c:numCache>
            </c:numRef>
          </c:val>
        </c:ser>
        <c:dLbls>
          <c:numFmt formatCode="0.00" sourceLinked="0"/>
          <c:txPr>
            <a:bodyPr/>
            <a:lstStyle/>
            <a:p>
              <a:pPr>
                <a:defRPr b="0" i="0" strike="noStrike" sz="800" u="none">
                  <a:solidFill>
                    <a:srgbClr val="1B233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1B2330"/>
                </a:solidFill>
                <a:latin typeface="Arial"/>
              </a:defRPr>
            </a:pPr>
            <a:endParaRPr lang="en-US"/>
          </a:p>
        </c:txPr>
        <c:crossAx val="2094734552"/>
        <c:crosses val="autoZero"/>
        <c:auto val="1"/>
        <c:lblAlgn val="ctr"/>
        <c:noMultiLvlLbl val="1"/>
      </c:catAx>
      <c:valAx>
        <c:axId val="2094734552"/>
        <c:scaling>
          <c:orientation val="minMax"/>
          <c:max val="4"/>
        </c:scaling>
        <c:delete val="0"/>
        <c:axPos val="l"/>
        <c:majorGridlines>
          <c:spPr>
            <a:ln w="6350" cap="flat">
              <a:solidFill>
                <a:srgbClr val="D9DE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B6573"/>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1B2330"/>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967"/>
        </a:solidFill>
      </p:bgPr>
    </p:bg>
    <p:spTree>
      <p:nvGrpSpPr>
        <p:cNvPr id="1" name=""/>
        <p:cNvGrpSpPr/>
        <p:nvPr/>
      </p:nvGrpSpPr>
      <p:grpSpPr>
        <a:xfrm>
          <a:off x="0" y="0"/>
          <a:ext cx="0" cy="0"/>
          <a:chOff x="0" y="0"/>
          <a:chExt cx="0" cy="0"/>
        </a:xfrm>
      </p:grpSpPr>
      <p:sp>
        <p:nvSpPr>
          <p:cNvPr id="2" name="Shape 0"/>
          <p:cNvSpPr/>
          <p:nvPr/>
        </p:nvSpPr>
        <p:spPr>
          <a:xfrm>
            <a:off x="3931920" y="822960"/>
            <a:ext cx="1280160" cy="1280160"/>
          </a:xfrm>
          <a:prstGeom prst="roundRect">
            <a:avLst>
              <a:gd name="adj" fmla="val 25000"/>
            </a:avLst>
          </a:prstGeom>
          <a:solidFill>
            <a:srgbClr val="1E3967"/>
          </a:solidFill>
          <a:ln/>
        </p:spPr>
      </p:sp>
      <p:sp>
        <p:nvSpPr>
          <p:cNvPr id="3" name="Shape 1"/>
          <p:cNvSpPr/>
          <p:nvPr/>
        </p:nvSpPr>
        <p:spPr>
          <a:xfrm>
            <a:off x="4162349" y="976579"/>
            <a:ext cx="665683" cy="665683"/>
          </a:xfrm>
          <a:prstGeom prst="diamond">
            <a:avLst/>
          </a:prstGeom>
          <a:solidFill>
            <a:srgbClr val="C9A24C"/>
          </a:solidFill>
          <a:ln w="12700">
            <a:solidFill>
              <a:srgbClr val="C9A24C"/>
            </a:solidFill>
            <a:prstDash val="solid"/>
          </a:ln>
        </p:spPr>
      </p:sp>
      <p:sp>
        <p:nvSpPr>
          <p:cNvPr id="4" name="Shape 2"/>
          <p:cNvSpPr/>
          <p:nvPr/>
        </p:nvSpPr>
        <p:spPr>
          <a:xfrm>
            <a:off x="4700016" y="1565453"/>
            <a:ext cx="332842" cy="332842"/>
          </a:xfrm>
          <a:prstGeom prst="diamond">
            <a:avLst/>
          </a:prstGeom>
          <a:solidFill>
            <a:srgbClr val="FFFFFF">
              <a:alpha val="75000"/>
            </a:srgbClr>
          </a:solidFill>
          <a:ln w="12700">
            <a:solidFill>
              <a:srgbClr val="FFFFFF">
                <a:alpha val="75000"/>
              </a:srgbClr>
            </a:solidFill>
            <a:prstDash val="solid"/>
          </a:ln>
        </p:spPr>
      </p:sp>
      <p:sp>
        <p:nvSpPr>
          <p:cNvPr id="5" name="Text 3"/>
          <p:cNvSpPr txBox="1"/>
          <p:nvPr/>
        </p:nvSpPr>
        <p:spPr>
          <a:xfrm>
            <a:off x="914400" y="2240280"/>
            <a:ext cx="7315200" cy="731520"/>
          </a:xfrm>
          <a:prstGeom prst="rect">
            <a:avLst/>
          </a:prstGeom>
          <a:noFill/>
          <a:ln/>
        </p:spPr>
        <p:txBody>
          <a:bodyPr wrap="square" lIns="0" tIns="0" rIns="0" bIns="0" rtlCol="0" anchor="t"/>
          <a:lstStyle/>
          <a:p>
            <a:pPr rtl="1" algn="ctr" indent="0" marL="0">
              <a:buNone/>
            </a:pPr>
            <a:r>
              <a:rPr lang="ar-SA" altLang="en-US" sz="4400" b="1" dirty="0">
                <a:solidFill>
                  <a:srgbClr val="FFFFFF"/>
                </a:solidFill>
                <a:latin typeface="Arial" pitchFamily="34" charset="0"/>
                <a:ea typeface="Arial" pitchFamily="34" charset="-122"/>
                <a:cs typeface="Arial" pitchFamily="34" charset="-120"/>
              </a:rPr>
              <a:t>بديهة</a:t>
            </a:r>
            <a:endParaRPr lang="ar-SA" sz="4400" dirty="0"/>
          </a:p>
        </p:txBody>
      </p:sp>
      <p:sp>
        <p:nvSpPr>
          <p:cNvPr id="6" name="Text 4"/>
          <p:cNvSpPr txBox="1"/>
          <p:nvPr/>
        </p:nvSpPr>
        <p:spPr>
          <a:xfrm>
            <a:off x="914400" y="2926080"/>
            <a:ext cx="7315200" cy="365760"/>
          </a:xfrm>
          <a:prstGeom prst="rect">
            <a:avLst/>
          </a:prstGeom>
          <a:noFill/>
          <a:ln/>
        </p:spPr>
        <p:txBody>
          <a:bodyPr wrap="square" lIns="0" tIns="0" rIns="0" bIns="0" rtlCol="0" anchor="t"/>
          <a:lstStyle/>
          <a:p>
            <a:pPr algn="ctr" indent="0" marL="0">
              <a:buNone/>
            </a:pPr>
            <a:r>
              <a:rPr lang="en-US" altLang="en-US" sz="1800" dirty="0">
                <a:solidFill>
                  <a:srgbClr val="C9A24C"/>
                </a:solidFill>
                <a:latin typeface="Arial" pitchFamily="34" charset="0"/>
                <a:ea typeface="Arial" pitchFamily="34" charset="-122"/>
                <a:cs typeface="Arial" pitchFamily="34" charset="-120"/>
              </a:rPr>
              <a:t>Badiha</a:t>
            </a:r>
            <a:endParaRPr lang="en-US" sz="1800" dirty="0"/>
          </a:p>
        </p:txBody>
      </p:sp>
      <p:sp>
        <p:nvSpPr>
          <p:cNvPr id="7" name="Text 5"/>
          <p:cNvSpPr txBox="1"/>
          <p:nvPr/>
        </p:nvSpPr>
        <p:spPr>
          <a:xfrm>
            <a:off x="914400" y="3383280"/>
            <a:ext cx="7315200" cy="365760"/>
          </a:xfrm>
          <a:prstGeom prst="rect">
            <a:avLst/>
          </a:prstGeom>
          <a:noFill/>
          <a:ln/>
        </p:spPr>
        <p:txBody>
          <a:bodyPr wrap="square" lIns="0" tIns="0" rIns="0" bIns="0" rtlCol="0" anchor="t"/>
          <a:lstStyle/>
          <a:p>
            <a:pPr rtl="1" algn="ctr" indent="0" marL="0">
              <a:buNone/>
            </a:pPr>
            <a:r>
              <a:rPr lang="ar-SA" altLang="en-US" sz="1400" dirty="0">
                <a:solidFill>
                  <a:srgbClr val="FFFFFF"/>
                </a:solidFill>
                <a:latin typeface="Arial" pitchFamily="34" charset="0"/>
                <a:ea typeface="Arial" pitchFamily="34" charset="-122"/>
                <a:cs typeface="Arial" pitchFamily="34" charset="-120"/>
              </a:rPr>
              <a:t>منصة معرفة مؤسسية تجيب موظفي الشركة من مستنداتها هي، بالعربية، مع ذكر المصدر</a:t>
            </a:r>
            <a:endParaRPr lang="ar-SA" sz="1400" dirty="0"/>
          </a:p>
        </p:txBody>
      </p:sp>
      <p:sp>
        <p:nvSpPr>
          <p:cNvPr id="8" name="Text 6"/>
          <p:cNvSpPr txBox="1"/>
          <p:nvPr/>
        </p:nvSpPr>
        <p:spPr>
          <a:xfrm>
            <a:off x="914400" y="3749040"/>
            <a:ext cx="7315200" cy="274320"/>
          </a:xfrm>
          <a:prstGeom prst="rect">
            <a:avLst/>
          </a:prstGeom>
          <a:noFill/>
          <a:ln/>
        </p:spPr>
        <p:txBody>
          <a:bodyPr wrap="square" lIns="0" tIns="0" rIns="0" bIns="0" rtlCol="0" anchor="t"/>
          <a:lstStyle/>
          <a:p>
            <a:pPr algn="ctr" indent="0" marL="0">
              <a:buNone/>
            </a:pPr>
            <a:r>
              <a:rPr lang="en-US" altLang="en-US" sz="1100" dirty="0">
                <a:solidFill>
                  <a:srgbClr val="B8C2D6"/>
                </a:solidFill>
                <a:latin typeface="Arial" pitchFamily="34" charset="0"/>
                <a:ea typeface="Arial" pitchFamily="34" charset="-122"/>
                <a:cs typeface="Arial" pitchFamily="34" charset="-120"/>
              </a:rPr>
              <a:t>Arabic-first enterprise knowledge platform · answers grounded in the company's own documents</a:t>
            </a:r>
            <a:endParaRPr lang="en-US" sz="1100" dirty="0"/>
          </a:p>
        </p:txBody>
      </p:sp>
      <p:sp>
        <p:nvSpPr>
          <p:cNvPr id="9" name="Text 7"/>
          <p:cNvSpPr txBox="1"/>
          <p:nvPr/>
        </p:nvSpPr>
        <p:spPr>
          <a:xfrm>
            <a:off x="914400" y="4434840"/>
            <a:ext cx="7315200" cy="274320"/>
          </a:xfrm>
          <a:prstGeom prst="rect">
            <a:avLst/>
          </a:prstGeom>
          <a:noFill/>
          <a:ln/>
        </p:spPr>
        <p:txBody>
          <a:bodyPr wrap="square" lIns="0" tIns="0" rIns="0" bIns="0" rtlCol="0" anchor="t"/>
          <a:lstStyle/>
          <a:p>
            <a:pPr rtl="1" algn="ctr" indent="0" marL="0">
              <a:buNone/>
            </a:pPr>
            <a:r>
              <a:rPr lang="ar-SA" altLang="en-US" sz="1100" dirty="0">
                <a:solidFill>
                  <a:srgbClr val="B8C2D6"/>
                </a:solidFill>
                <a:latin typeface="Arial" pitchFamily="34" charset="0"/>
                <a:ea typeface="Arial" pitchFamily="34" charset="-122"/>
                <a:cs typeface="Arial" pitchFamily="34" charset="-120"/>
              </a:rPr>
              <a:t>ملف المشروع لطلب رخصة ريادة الأعمال · المؤسِّسة: منال العارقي</a:t>
            </a:r>
            <a:endParaRPr lang="ar-SA"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88720" y="320040"/>
            <a:ext cx="7406640" cy="548640"/>
          </a:xfrm>
          <a:prstGeom prst="rect">
            <a:avLst/>
          </a:prstGeom>
          <a:noFill/>
          <a:ln/>
        </p:spPr>
        <p:txBody>
          <a:bodyPr wrap="square" lIns="0" tIns="0" rIns="0" bIns="0" rtlCol="0" anchor="t"/>
          <a:lstStyle/>
          <a:p>
            <a:pPr rtl="1" algn="r" indent="0" marL="0">
              <a:buNone/>
            </a:pPr>
            <a:r>
              <a:rPr lang="ar-SA" altLang="en-US" sz="2800" b="1" dirty="0">
                <a:solidFill>
                  <a:srgbClr val="1E3967"/>
                </a:solidFill>
                <a:latin typeface="Arial" pitchFamily="34" charset="0"/>
                <a:ea typeface="Arial" pitchFamily="34" charset="-122"/>
                <a:cs typeface="Arial" pitchFamily="34" charset="-120"/>
              </a:rPr>
              <a:t>المقدمة: السياق والتحدي</a:t>
            </a:r>
            <a:endParaRPr lang="ar-SA" sz="2800" dirty="0"/>
          </a:p>
        </p:txBody>
      </p:sp>
      <p:sp>
        <p:nvSpPr>
          <p:cNvPr id="3" name="Text 1"/>
          <p:cNvSpPr txBox="1"/>
          <p:nvPr/>
        </p:nvSpPr>
        <p:spPr>
          <a:xfrm>
            <a:off x="548640" y="868680"/>
            <a:ext cx="8046720" cy="274320"/>
          </a:xfrm>
          <a:prstGeom prst="rect">
            <a:avLst/>
          </a:prstGeom>
          <a:noFill/>
          <a:ln/>
        </p:spPr>
        <p:txBody>
          <a:bodyPr wrap="square" lIns="0" tIns="0" rIns="0" bIns="0" rtlCol="0" anchor="t"/>
          <a:lstStyle/>
          <a:p>
            <a:pPr algn="r" indent="0" marL="0">
              <a:buNone/>
            </a:pPr>
            <a:r>
              <a:rPr lang="en-US" altLang="en-US" sz="1100" dirty="0">
                <a:solidFill>
                  <a:srgbClr val="5B6573"/>
                </a:solidFill>
                <a:latin typeface="Arial" pitchFamily="34" charset="0"/>
                <a:ea typeface="Arial" pitchFamily="34" charset="-122"/>
                <a:cs typeface="Arial" pitchFamily="34" charset="-120"/>
              </a:rPr>
              <a:t>Introduction</a:t>
            </a:r>
            <a:endParaRPr lang="en-US" sz="1100" dirty="0"/>
          </a:p>
        </p:txBody>
      </p:sp>
      <p:sp>
        <p:nvSpPr>
          <p:cNvPr id="4" name="Shape 2"/>
          <p:cNvSpPr/>
          <p:nvPr/>
        </p:nvSpPr>
        <p:spPr>
          <a:xfrm>
            <a:off x="548640" y="347472"/>
            <a:ext cx="411480" cy="411480"/>
          </a:xfrm>
          <a:prstGeom prst="roundRect">
            <a:avLst>
              <a:gd name="adj" fmla="val 25000"/>
            </a:avLst>
          </a:prstGeom>
          <a:solidFill>
            <a:srgbClr val="1E3967"/>
          </a:solidFill>
          <a:ln/>
        </p:spPr>
      </p:sp>
      <p:sp>
        <p:nvSpPr>
          <p:cNvPr id="5" name="Shape 3"/>
          <p:cNvSpPr/>
          <p:nvPr/>
        </p:nvSpPr>
        <p:spPr>
          <a:xfrm>
            <a:off x="622706" y="396850"/>
            <a:ext cx="213970" cy="213970"/>
          </a:xfrm>
          <a:prstGeom prst="diamond">
            <a:avLst/>
          </a:prstGeom>
          <a:solidFill>
            <a:srgbClr val="C9A24C"/>
          </a:solidFill>
          <a:ln w="12700">
            <a:solidFill>
              <a:srgbClr val="C9A24C"/>
            </a:solidFill>
            <a:prstDash val="solid"/>
          </a:ln>
        </p:spPr>
      </p:sp>
      <p:sp>
        <p:nvSpPr>
          <p:cNvPr id="6" name="Shape 4"/>
          <p:cNvSpPr/>
          <p:nvPr/>
        </p:nvSpPr>
        <p:spPr>
          <a:xfrm>
            <a:off x="795528" y="586130"/>
            <a:ext cx="106985" cy="106985"/>
          </a:xfrm>
          <a:prstGeom prst="diamond">
            <a:avLst/>
          </a:prstGeom>
          <a:solidFill>
            <a:srgbClr val="FFFFFF">
              <a:alpha val="75000"/>
            </a:srgbClr>
          </a:solidFill>
          <a:ln w="12700">
            <a:solidFill>
              <a:srgbClr val="FFFFFF">
                <a:alpha val="75000"/>
              </a:srgbClr>
            </a:solidFill>
            <a:prstDash val="solid"/>
          </a:ln>
        </p:spPr>
      </p:sp>
      <p:sp>
        <p:nvSpPr>
          <p:cNvPr id="7" name="Text 5"/>
          <p:cNvSpPr txBox="1"/>
          <p:nvPr/>
        </p:nvSpPr>
        <p:spPr>
          <a:xfrm>
            <a:off x="548640" y="4754880"/>
            <a:ext cx="2743200" cy="228600"/>
          </a:xfrm>
          <a:prstGeom prst="rect">
            <a:avLst/>
          </a:prstGeom>
          <a:noFill/>
          <a:ln/>
        </p:spPr>
        <p:txBody>
          <a:bodyPr wrap="square" lIns="0" tIns="0" rIns="0" bIns="0" rtlCol="0" anchor="t"/>
          <a:lstStyle/>
          <a:p>
            <a:pPr rtl="1" algn="l" indent="0" marL="0">
              <a:buNone/>
            </a:pPr>
            <a:r>
              <a:rPr lang="ar-SA" altLang="en-US" sz="900" dirty="0">
                <a:solidFill>
                  <a:srgbClr val="5B6573"/>
                </a:solidFill>
                <a:latin typeface="Arial" pitchFamily="34" charset="0"/>
                <a:ea typeface="Arial" pitchFamily="34" charset="-122"/>
                <a:cs typeface="Arial" pitchFamily="34" charset="-120"/>
              </a:rPr>
              <a:t>بديهة · ملف المشروع</a:t>
            </a:r>
            <a:endParaRPr lang="ar-SA" sz="900" dirty="0"/>
          </a:p>
        </p:txBody>
      </p:sp>
      <p:sp>
        <p:nvSpPr>
          <p:cNvPr id="8" name="Shape 6"/>
          <p:cNvSpPr/>
          <p:nvPr/>
        </p:nvSpPr>
        <p:spPr>
          <a:xfrm>
            <a:off x="4663440" y="1325880"/>
            <a:ext cx="3931920" cy="3200400"/>
          </a:xfrm>
          <a:prstGeom prst="roundRect">
            <a:avLst>
              <a:gd name="adj" fmla="val 3429"/>
            </a:avLst>
          </a:prstGeom>
          <a:solidFill>
            <a:srgbClr val="E9EEF6"/>
          </a:solidFill>
          <a:ln w="12700">
            <a:solidFill>
              <a:srgbClr val="E9EEF6"/>
            </a:solidFill>
            <a:prstDash val="solid"/>
          </a:ln>
        </p:spPr>
      </p:sp>
      <p:sp>
        <p:nvSpPr>
          <p:cNvPr id="9" name="Text 7"/>
          <p:cNvSpPr txBox="1"/>
          <p:nvPr/>
        </p:nvSpPr>
        <p:spPr>
          <a:xfrm>
            <a:off x="4846320" y="1463040"/>
            <a:ext cx="3566160" cy="320040"/>
          </a:xfrm>
          <a:prstGeom prst="rect">
            <a:avLst/>
          </a:prstGeom>
          <a:noFill/>
          <a:ln/>
        </p:spPr>
        <p:txBody>
          <a:bodyPr wrap="square" lIns="0" tIns="0" rIns="0" bIns="0" rtlCol="0" anchor="t"/>
          <a:lstStyle/>
          <a:p>
            <a:pPr rtl="1" algn="r" indent="0" marL="0">
              <a:buNone/>
            </a:pPr>
            <a:r>
              <a:rPr lang="ar-SA" altLang="en-US" sz="1400" b="1" dirty="0">
                <a:solidFill>
                  <a:srgbClr val="1E3967"/>
                </a:solidFill>
                <a:latin typeface="Arial" pitchFamily="34" charset="0"/>
                <a:ea typeface="Arial" pitchFamily="34" charset="-122"/>
                <a:cs typeface="Arial" pitchFamily="34" charset="-120"/>
              </a:rPr>
              <a:t>السياق الوطني</a:t>
            </a:r>
            <a:endParaRPr lang="ar-SA" sz="1400" dirty="0"/>
          </a:p>
        </p:txBody>
      </p:sp>
      <p:sp>
        <p:nvSpPr>
          <p:cNvPr id="10" name="Text 8"/>
          <p:cNvSpPr txBox="1"/>
          <p:nvPr/>
        </p:nvSpPr>
        <p:spPr>
          <a:xfrm>
            <a:off x="4846320" y="1828800"/>
            <a:ext cx="3566160" cy="2560320"/>
          </a:xfrm>
          <a:prstGeom prst="rect">
            <a:avLst/>
          </a:prstGeom>
          <a:noFill/>
          <a:ln/>
        </p:spPr>
        <p:txBody>
          <a:bodyPr wrap="square" lIns="0" tIns="0" rIns="0" bIns="0" rtlCol="0" anchor="t"/>
          <a:lstStyle/>
          <a:p>
            <a:pPr rtl="1" algn="r" indent="0" marL="0">
              <a:lnSpc>
                <a:spcPct val="115000"/>
              </a:lnSpc>
              <a:buNone/>
            </a:pPr>
            <a:r>
              <a:rPr lang="ar-SA" altLang="en-US" sz="1100" dirty="0">
                <a:solidFill>
                  <a:srgbClr val="1B2330"/>
                </a:solidFill>
                <a:latin typeface="Arial" pitchFamily="34" charset="0"/>
                <a:ea typeface="Arial" pitchFamily="34" charset="-122"/>
                <a:cs typeface="Arial" pitchFamily="34" charset="-120"/>
              </a:rPr>
              <a:t>تضع رؤية ٢٠٣٠ التحول الرقمي والاقتصاد القائم على البيانات في صلب أهدافها، وتقود الهيئة السعودية للبيانات والذكاء الاصطناعي (سدايا) استراتيجية وطنية لتوطين حلول الذكاء الاصطناعي.</a:t>
            </a:r>
            <a:endParaRPr lang="ar-SA" sz="1100" dirty="0"/>
          </a:p>
          <a:p>
            <a:pPr rtl="1" algn="r" indent="0" marL="0">
              <a:lnSpc>
                <a:spcPct val="115000"/>
              </a:lnSpc>
              <a:buNone/>
            </a:pPr>
            <a:endParaRPr lang="ar-SA" sz="1100" dirty="0"/>
          </a:p>
          <a:p>
            <a:pPr rtl="1" algn="r" indent="0" marL="0">
              <a:lnSpc>
                <a:spcPct val="115000"/>
              </a:lnSpc>
              <a:buNone/>
            </a:pPr>
            <a:r>
              <a:rPr lang="ar-SA" altLang="en-US" sz="1100" dirty="0">
                <a:solidFill>
                  <a:srgbClr val="1B2330"/>
                </a:solidFill>
                <a:latin typeface="Arial" pitchFamily="34" charset="0"/>
                <a:ea typeface="Arial" pitchFamily="34" charset="-122"/>
                <a:cs typeface="Arial" pitchFamily="34" charset="-120"/>
              </a:rPr>
              <a:t>في المقابل ما زالت معظم معرفة الشركات السعودية محبوسة في ملفات PDF وWord وأرشيفات ممسوحة ضوئيًا، بالعربية، لا تفهمها الأدوات العالمية كما ينبغي.</a:t>
            </a:r>
            <a:endParaRPr lang="ar-SA" sz="1100" dirty="0"/>
          </a:p>
        </p:txBody>
      </p:sp>
      <p:sp>
        <p:nvSpPr>
          <p:cNvPr id="11" name="Shape 9"/>
          <p:cNvSpPr/>
          <p:nvPr/>
        </p:nvSpPr>
        <p:spPr>
          <a:xfrm>
            <a:off x="548640" y="1325880"/>
            <a:ext cx="3931920" cy="3200400"/>
          </a:xfrm>
          <a:prstGeom prst="roundRect">
            <a:avLst>
              <a:gd name="adj" fmla="val 3429"/>
            </a:avLst>
          </a:prstGeom>
          <a:solidFill>
            <a:srgbClr val="FFFFFF"/>
          </a:solidFill>
          <a:ln w="12700">
            <a:solidFill>
              <a:srgbClr val="FFFFFF"/>
            </a:solidFill>
            <a:prstDash val="solid"/>
          </a:ln>
        </p:spPr>
      </p:sp>
      <p:sp>
        <p:nvSpPr>
          <p:cNvPr id="12" name="Text 10"/>
          <p:cNvSpPr txBox="1"/>
          <p:nvPr/>
        </p:nvSpPr>
        <p:spPr>
          <a:xfrm>
            <a:off x="731520" y="1463040"/>
            <a:ext cx="3566160" cy="320040"/>
          </a:xfrm>
          <a:prstGeom prst="rect">
            <a:avLst/>
          </a:prstGeom>
          <a:noFill/>
          <a:ln/>
        </p:spPr>
        <p:txBody>
          <a:bodyPr wrap="square" lIns="0" tIns="0" rIns="0" bIns="0" rtlCol="0" anchor="t"/>
          <a:lstStyle/>
          <a:p>
            <a:pPr rtl="1" algn="r" indent="0" marL="0">
              <a:buNone/>
            </a:pPr>
            <a:r>
              <a:rPr lang="ar-SA" altLang="en-US" sz="1400" b="1" dirty="0">
                <a:solidFill>
                  <a:srgbClr val="1E3967"/>
                </a:solidFill>
                <a:latin typeface="Arial" pitchFamily="34" charset="0"/>
                <a:ea typeface="Arial" pitchFamily="34" charset="-122"/>
                <a:cs typeface="Arial" pitchFamily="34" charset="-120"/>
              </a:rPr>
              <a:t>التحدي الذي تحلّه بديهة</a:t>
            </a:r>
            <a:endParaRPr lang="ar-SA" sz="1400" dirty="0"/>
          </a:p>
        </p:txBody>
      </p:sp>
      <p:sp>
        <p:nvSpPr>
          <p:cNvPr id="13" name="Text 11"/>
          <p:cNvSpPr txBox="1"/>
          <p:nvPr/>
        </p:nvSpPr>
        <p:spPr>
          <a:xfrm>
            <a:off x="731520" y="1828800"/>
            <a:ext cx="3566160" cy="2560320"/>
          </a:xfrm>
          <a:prstGeom prst="rect">
            <a:avLst/>
          </a:prstGeom>
          <a:noFill/>
          <a:ln/>
        </p:spPr>
        <p:txBody>
          <a:bodyPr wrap="square" lIns="0" tIns="0" rIns="0" bIns="0" rtlCol="0" anchor="t"/>
          <a:lstStyle/>
          <a:p>
            <a:pPr rtl="1" algn="r" indent="0" marL="0">
              <a:lnSpc>
                <a:spcPct val="115000"/>
              </a:lnSpc>
              <a:buNone/>
            </a:pPr>
            <a:r>
              <a:rPr lang="ar-SA" altLang="en-US" sz="1100" dirty="0">
                <a:solidFill>
                  <a:srgbClr val="1B2330"/>
                </a:solidFill>
                <a:latin typeface="Arial" pitchFamily="34" charset="0"/>
                <a:ea typeface="Arial" pitchFamily="34" charset="-122"/>
                <a:cs typeface="Arial" pitchFamily="34" charset="-120"/>
              </a:rPr>
              <a:t>• الموظف يسأل زميله بدل أن يجد الجواب في اللائحة، فتُعاد الأسئلة نفسها كل يوم.</a:t>
            </a:r>
            <a:endParaRPr lang="ar-SA" sz="1100" dirty="0"/>
          </a:p>
          <a:p>
            <a:pPr rtl="1" algn="r" indent="0" marL="0">
              <a:lnSpc>
                <a:spcPct val="115000"/>
              </a:lnSpc>
              <a:buNone/>
            </a:pPr>
            <a:endParaRPr lang="ar-SA" sz="1100" dirty="0"/>
          </a:p>
          <a:p>
            <a:pPr rtl="1" algn="r" indent="0" marL="0">
              <a:lnSpc>
                <a:spcPct val="115000"/>
              </a:lnSpc>
              <a:buNone/>
            </a:pPr>
            <a:r>
              <a:rPr lang="ar-SA" altLang="en-US" sz="1100" dirty="0">
                <a:solidFill>
                  <a:srgbClr val="1B2330"/>
                </a:solidFill>
                <a:latin typeface="Arial" pitchFamily="34" charset="0"/>
                <a:ea typeface="Arial" pitchFamily="34" charset="-122"/>
                <a:cs typeface="Arial" pitchFamily="34" charset="-120"/>
              </a:rPr>
              <a:t>• الأدوات العامة تخطئ في قراءة ملفات PDF العربية وتخترع تفاصيل لا وجود لها في السياسة.</a:t>
            </a:r>
            <a:endParaRPr lang="ar-SA" sz="1100" dirty="0"/>
          </a:p>
          <a:p>
            <a:pPr rtl="1" algn="r" indent="0" marL="0">
              <a:lnSpc>
                <a:spcPct val="115000"/>
              </a:lnSpc>
              <a:buNone/>
            </a:pPr>
            <a:endParaRPr lang="ar-SA" sz="1100" dirty="0"/>
          </a:p>
          <a:p>
            <a:pPr rtl="1" algn="r" indent="0" marL="0">
              <a:lnSpc>
                <a:spcPct val="115000"/>
              </a:lnSpc>
              <a:buNone/>
            </a:pPr>
            <a:r>
              <a:rPr lang="ar-SA" altLang="en-US" sz="1100" dirty="0">
                <a:solidFill>
                  <a:srgbClr val="1B2330"/>
                </a:solidFill>
                <a:latin typeface="Arial" pitchFamily="34" charset="0"/>
                <a:ea typeface="Arial" pitchFamily="34" charset="-122"/>
                <a:cs typeface="Arial" pitchFamily="34" charset="-120"/>
              </a:rPr>
              <a:t>• لا أحد يعرف أي الأسئلة بلا جواب موثّق، فتبقى فجوات التوثيق مخفية.</a:t>
            </a:r>
            <a:endParaRPr lang="ar-SA" sz="1100" dirty="0"/>
          </a:p>
          <a:p>
            <a:pPr rtl="1" algn="r" indent="0" marL="0">
              <a:lnSpc>
                <a:spcPct val="115000"/>
              </a:lnSpc>
              <a:buNone/>
            </a:pPr>
            <a:endParaRPr lang="ar-SA" sz="1100" dirty="0"/>
          </a:p>
          <a:p>
            <a:pPr rtl="1" algn="r" indent="0" marL="0">
              <a:lnSpc>
                <a:spcPct val="115000"/>
              </a:lnSpc>
              <a:buNone/>
            </a:pPr>
            <a:r>
              <a:rPr lang="ar-SA" altLang="en-US" sz="1100" dirty="0">
                <a:solidFill>
                  <a:srgbClr val="1B2330"/>
                </a:solidFill>
                <a:latin typeface="Arial" pitchFamily="34" charset="0"/>
                <a:ea typeface="Arial" pitchFamily="34" charset="-122"/>
                <a:cs typeface="Arial" pitchFamily="34" charset="-120"/>
              </a:rPr>
              <a:t>• الأرشيف الممسوح ضوئيًا، وهو جزء كبير من مستندات الشركات، خارج أي بحث.</a:t>
            </a:r>
            <a:endParaRPr lang="ar-SA" sz="1100" dirty="0"/>
          </a:p>
        </p:txBody>
      </p:sp>
      <p:sp>
        <p:nvSpPr>
          <p:cNvPr id="14" name="Shape 12"/>
          <p:cNvSpPr/>
          <p:nvPr/>
        </p:nvSpPr>
        <p:spPr>
          <a:xfrm>
            <a:off x="548640" y="1325880"/>
            <a:ext cx="3931920" cy="3200400"/>
          </a:xfrm>
          <a:prstGeom prst="roundRect">
            <a:avLst>
              <a:gd name="adj" fmla="val 3429"/>
            </a:avLst>
          </a:prstGeom>
          <a:solidFill>
            <a:srgbClr val="FFFFFF">
              <a:alpha val="0"/>
            </a:srgbClr>
          </a:solidFill>
          <a:ln w="12700">
            <a:solidFill>
              <a:srgbClr val="D9DEE7"/>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88720" y="320040"/>
            <a:ext cx="7406640" cy="548640"/>
          </a:xfrm>
          <a:prstGeom prst="rect">
            <a:avLst/>
          </a:prstGeom>
          <a:noFill/>
          <a:ln/>
        </p:spPr>
        <p:txBody>
          <a:bodyPr wrap="square" lIns="0" tIns="0" rIns="0" bIns="0" rtlCol="0" anchor="t"/>
          <a:lstStyle/>
          <a:p>
            <a:pPr rtl="1" algn="r" indent="0" marL="0">
              <a:buNone/>
            </a:pPr>
            <a:r>
              <a:rPr lang="ar-SA" altLang="en-US" sz="2800" b="1" dirty="0">
                <a:solidFill>
                  <a:srgbClr val="1E3967"/>
                </a:solidFill>
                <a:latin typeface="Arial" pitchFamily="34" charset="0"/>
                <a:ea typeface="Arial" pitchFamily="34" charset="-122"/>
                <a:cs typeface="Arial" pitchFamily="34" charset="-120"/>
              </a:rPr>
              <a:t>من تربط المنصة</a:t>
            </a:r>
            <a:endParaRPr lang="ar-SA" sz="2800" dirty="0"/>
          </a:p>
        </p:txBody>
      </p:sp>
      <p:sp>
        <p:nvSpPr>
          <p:cNvPr id="3" name="Text 1"/>
          <p:cNvSpPr txBox="1"/>
          <p:nvPr/>
        </p:nvSpPr>
        <p:spPr>
          <a:xfrm>
            <a:off x="548640" y="868680"/>
            <a:ext cx="8046720" cy="274320"/>
          </a:xfrm>
          <a:prstGeom prst="rect">
            <a:avLst/>
          </a:prstGeom>
          <a:noFill/>
          <a:ln/>
        </p:spPr>
        <p:txBody>
          <a:bodyPr wrap="square" lIns="0" tIns="0" rIns="0" bIns="0" rtlCol="0" anchor="t"/>
          <a:lstStyle/>
          <a:p>
            <a:pPr algn="r" indent="0" marL="0">
              <a:buNone/>
            </a:pPr>
            <a:r>
              <a:rPr lang="en-US" altLang="en-US" sz="1100" dirty="0">
                <a:solidFill>
                  <a:srgbClr val="5B6573"/>
                </a:solidFill>
                <a:latin typeface="Arial" pitchFamily="34" charset="0"/>
                <a:ea typeface="Arial" pitchFamily="34" charset="-122"/>
                <a:cs typeface="Arial" pitchFamily="34" charset="-120"/>
              </a:rPr>
              <a:t>Who the platform connects</a:t>
            </a:r>
            <a:endParaRPr lang="en-US" sz="1100" dirty="0"/>
          </a:p>
        </p:txBody>
      </p:sp>
      <p:sp>
        <p:nvSpPr>
          <p:cNvPr id="4" name="Shape 2"/>
          <p:cNvSpPr/>
          <p:nvPr/>
        </p:nvSpPr>
        <p:spPr>
          <a:xfrm>
            <a:off x="548640" y="347472"/>
            <a:ext cx="411480" cy="411480"/>
          </a:xfrm>
          <a:prstGeom prst="roundRect">
            <a:avLst>
              <a:gd name="adj" fmla="val 25000"/>
            </a:avLst>
          </a:prstGeom>
          <a:solidFill>
            <a:srgbClr val="1E3967"/>
          </a:solidFill>
          <a:ln/>
        </p:spPr>
      </p:sp>
      <p:sp>
        <p:nvSpPr>
          <p:cNvPr id="5" name="Shape 3"/>
          <p:cNvSpPr/>
          <p:nvPr/>
        </p:nvSpPr>
        <p:spPr>
          <a:xfrm>
            <a:off x="622706" y="396850"/>
            <a:ext cx="213970" cy="213970"/>
          </a:xfrm>
          <a:prstGeom prst="diamond">
            <a:avLst/>
          </a:prstGeom>
          <a:solidFill>
            <a:srgbClr val="C9A24C"/>
          </a:solidFill>
          <a:ln w="12700">
            <a:solidFill>
              <a:srgbClr val="C9A24C"/>
            </a:solidFill>
            <a:prstDash val="solid"/>
          </a:ln>
        </p:spPr>
      </p:sp>
      <p:sp>
        <p:nvSpPr>
          <p:cNvPr id="6" name="Shape 4"/>
          <p:cNvSpPr/>
          <p:nvPr/>
        </p:nvSpPr>
        <p:spPr>
          <a:xfrm>
            <a:off x="795528" y="586130"/>
            <a:ext cx="106985" cy="106985"/>
          </a:xfrm>
          <a:prstGeom prst="diamond">
            <a:avLst/>
          </a:prstGeom>
          <a:solidFill>
            <a:srgbClr val="FFFFFF">
              <a:alpha val="75000"/>
            </a:srgbClr>
          </a:solidFill>
          <a:ln w="12700">
            <a:solidFill>
              <a:srgbClr val="FFFFFF">
                <a:alpha val="75000"/>
              </a:srgbClr>
            </a:solidFill>
            <a:prstDash val="solid"/>
          </a:ln>
        </p:spPr>
      </p:sp>
      <p:sp>
        <p:nvSpPr>
          <p:cNvPr id="7" name="Text 5"/>
          <p:cNvSpPr txBox="1"/>
          <p:nvPr/>
        </p:nvSpPr>
        <p:spPr>
          <a:xfrm>
            <a:off x="548640" y="4754880"/>
            <a:ext cx="2743200" cy="228600"/>
          </a:xfrm>
          <a:prstGeom prst="rect">
            <a:avLst/>
          </a:prstGeom>
          <a:noFill/>
          <a:ln/>
        </p:spPr>
        <p:txBody>
          <a:bodyPr wrap="square" lIns="0" tIns="0" rIns="0" bIns="0" rtlCol="0" anchor="t"/>
          <a:lstStyle/>
          <a:p>
            <a:pPr rtl="1" algn="l" indent="0" marL="0">
              <a:buNone/>
            </a:pPr>
            <a:r>
              <a:rPr lang="ar-SA" altLang="en-US" sz="900" dirty="0">
                <a:solidFill>
                  <a:srgbClr val="5B6573"/>
                </a:solidFill>
                <a:latin typeface="Arial" pitchFamily="34" charset="0"/>
                <a:ea typeface="Arial" pitchFamily="34" charset="-122"/>
                <a:cs typeface="Arial" pitchFamily="34" charset="-120"/>
              </a:rPr>
              <a:t>بديهة · ملف المشروع</a:t>
            </a:r>
            <a:endParaRPr lang="ar-SA" sz="900" dirty="0"/>
          </a:p>
        </p:txBody>
      </p:sp>
      <p:sp>
        <p:nvSpPr>
          <p:cNvPr id="8" name="Shape 6"/>
          <p:cNvSpPr/>
          <p:nvPr/>
        </p:nvSpPr>
        <p:spPr>
          <a:xfrm>
            <a:off x="3108960" y="1737360"/>
            <a:ext cx="1463040" cy="1143000"/>
          </a:xfrm>
          <a:prstGeom prst="line">
            <a:avLst/>
          </a:prstGeom>
          <a:noFill/>
          <a:ln w="19050">
            <a:solidFill>
              <a:srgbClr val="C9A24C"/>
            </a:solidFill>
            <a:prstDash val="dash"/>
          </a:ln>
        </p:spPr>
      </p:sp>
      <p:sp>
        <p:nvSpPr>
          <p:cNvPr id="9" name="Shape 7"/>
          <p:cNvSpPr/>
          <p:nvPr/>
        </p:nvSpPr>
        <p:spPr>
          <a:xfrm flipV="1">
            <a:off x="4572000" y="1737360"/>
            <a:ext cx="1463040" cy="1143000"/>
          </a:xfrm>
          <a:prstGeom prst="line">
            <a:avLst/>
          </a:prstGeom>
          <a:noFill/>
          <a:ln w="19050">
            <a:solidFill>
              <a:srgbClr val="C9A24C"/>
            </a:solidFill>
            <a:prstDash val="dash"/>
          </a:ln>
        </p:spPr>
      </p:sp>
      <p:sp>
        <p:nvSpPr>
          <p:cNvPr id="10" name="Shape 8"/>
          <p:cNvSpPr/>
          <p:nvPr/>
        </p:nvSpPr>
        <p:spPr>
          <a:xfrm flipV="1">
            <a:off x="3108960" y="2880360"/>
            <a:ext cx="1463040" cy="1143000"/>
          </a:xfrm>
          <a:prstGeom prst="line">
            <a:avLst/>
          </a:prstGeom>
          <a:noFill/>
          <a:ln w="19050">
            <a:solidFill>
              <a:srgbClr val="C9A24C"/>
            </a:solidFill>
            <a:prstDash val="dash"/>
          </a:ln>
        </p:spPr>
      </p:sp>
      <p:sp>
        <p:nvSpPr>
          <p:cNvPr id="11" name="Shape 9"/>
          <p:cNvSpPr/>
          <p:nvPr/>
        </p:nvSpPr>
        <p:spPr>
          <a:xfrm>
            <a:off x="4572000" y="2880360"/>
            <a:ext cx="1463040" cy="1143000"/>
          </a:xfrm>
          <a:prstGeom prst="line">
            <a:avLst/>
          </a:prstGeom>
          <a:noFill/>
          <a:ln w="19050">
            <a:solidFill>
              <a:srgbClr val="C9A24C"/>
            </a:solidFill>
            <a:prstDash val="dash"/>
          </a:ln>
        </p:spPr>
      </p:sp>
      <p:sp>
        <p:nvSpPr>
          <p:cNvPr id="12" name="Shape 10"/>
          <p:cNvSpPr/>
          <p:nvPr/>
        </p:nvSpPr>
        <p:spPr>
          <a:xfrm>
            <a:off x="3840480" y="2148840"/>
            <a:ext cx="1463040" cy="1463040"/>
          </a:xfrm>
          <a:prstGeom prst="ellipse">
            <a:avLst/>
          </a:prstGeom>
          <a:solidFill>
            <a:srgbClr val="1E3967"/>
          </a:solidFill>
          <a:ln w="12700">
            <a:solidFill>
              <a:srgbClr val="1E3967"/>
            </a:solidFill>
            <a:prstDash val="solid"/>
          </a:ln>
        </p:spPr>
      </p:sp>
      <p:sp>
        <p:nvSpPr>
          <p:cNvPr id="13" name="Text 11"/>
          <p:cNvSpPr txBox="1"/>
          <p:nvPr/>
        </p:nvSpPr>
        <p:spPr>
          <a:xfrm>
            <a:off x="3840480" y="2651760"/>
            <a:ext cx="1463040" cy="457200"/>
          </a:xfrm>
          <a:prstGeom prst="rect">
            <a:avLst/>
          </a:prstGeom>
          <a:noFill/>
          <a:ln/>
        </p:spPr>
        <p:txBody>
          <a:bodyPr wrap="square" lIns="0" tIns="0" rIns="0" bIns="0" rtlCol="0" anchor="t"/>
          <a:lstStyle/>
          <a:p>
            <a:pPr rtl="1" algn="ctr" indent="0" marL="0">
              <a:buNone/>
            </a:pPr>
            <a:r>
              <a:rPr lang="ar-SA" altLang="en-US" sz="1800" b="1" dirty="0">
                <a:solidFill>
                  <a:srgbClr val="FFFFFF"/>
                </a:solidFill>
                <a:latin typeface="Arial" pitchFamily="34" charset="0"/>
                <a:ea typeface="Arial" pitchFamily="34" charset="-122"/>
                <a:cs typeface="Arial" pitchFamily="34" charset="-120"/>
              </a:rPr>
              <a:t>بديهة</a:t>
            </a:r>
            <a:endParaRPr lang="ar-SA" sz="1800" dirty="0"/>
          </a:p>
        </p:txBody>
      </p:sp>
      <p:sp>
        <p:nvSpPr>
          <p:cNvPr id="14" name="Shape 12"/>
          <p:cNvSpPr/>
          <p:nvPr/>
        </p:nvSpPr>
        <p:spPr>
          <a:xfrm>
            <a:off x="640080" y="1188720"/>
            <a:ext cx="2468880" cy="1097280"/>
          </a:xfrm>
          <a:prstGeom prst="roundRect">
            <a:avLst>
              <a:gd name="adj" fmla="val 10000"/>
            </a:avLst>
          </a:prstGeom>
          <a:solidFill>
            <a:srgbClr val="E9EEF6"/>
          </a:solidFill>
          <a:ln w="12700">
            <a:solidFill>
              <a:srgbClr val="E9EEF6"/>
            </a:solidFill>
            <a:prstDash val="solid"/>
          </a:ln>
        </p:spPr>
      </p:sp>
      <p:sp>
        <p:nvSpPr>
          <p:cNvPr id="15" name="Text 13"/>
          <p:cNvSpPr txBox="1"/>
          <p:nvPr/>
        </p:nvSpPr>
        <p:spPr>
          <a:xfrm>
            <a:off x="822960" y="1325880"/>
            <a:ext cx="2103120" cy="320040"/>
          </a:xfrm>
          <a:prstGeom prst="rect">
            <a:avLst/>
          </a:prstGeom>
          <a:noFill/>
          <a:ln/>
        </p:spPr>
        <p:txBody>
          <a:bodyPr wrap="square" lIns="0" tIns="0" rIns="0" bIns="0" rtlCol="0" anchor="t"/>
          <a:lstStyle/>
          <a:p>
            <a:pPr rtl="1" algn="r" indent="0" marL="0">
              <a:buNone/>
            </a:pPr>
            <a:r>
              <a:rPr lang="ar-SA" altLang="en-US" sz="1300" b="1" dirty="0">
                <a:solidFill>
                  <a:srgbClr val="1E3967"/>
                </a:solidFill>
                <a:latin typeface="Arial" pitchFamily="34" charset="0"/>
                <a:ea typeface="Arial" pitchFamily="34" charset="-122"/>
                <a:cs typeface="Arial" pitchFamily="34" charset="-120"/>
              </a:rPr>
              <a:t>إدارة الشركة</a:t>
            </a:r>
            <a:endParaRPr lang="ar-SA" sz="1300" dirty="0"/>
          </a:p>
        </p:txBody>
      </p:sp>
      <p:sp>
        <p:nvSpPr>
          <p:cNvPr id="16" name="Text 14"/>
          <p:cNvSpPr txBox="1"/>
          <p:nvPr/>
        </p:nvSpPr>
        <p:spPr>
          <a:xfrm>
            <a:off x="822960" y="1691640"/>
            <a:ext cx="2103120" cy="457200"/>
          </a:xfrm>
          <a:prstGeom prst="rect">
            <a:avLst/>
          </a:prstGeom>
          <a:noFill/>
          <a:ln/>
        </p:spPr>
        <p:txBody>
          <a:bodyPr wrap="square" lIns="0" tIns="0" rIns="0" bIns="0" rtlCol="0" anchor="t"/>
          <a:lstStyle/>
          <a:p>
            <a:pPr rtl="1" algn="r" indent="0" marL="0">
              <a:lnSpc>
                <a:spcPct val="115000"/>
              </a:lnSpc>
              <a:buNone/>
            </a:pPr>
            <a:r>
              <a:rPr lang="ar-SA" altLang="en-US" sz="1000" dirty="0">
                <a:solidFill>
                  <a:srgbClr val="1B2330"/>
                </a:solidFill>
                <a:latin typeface="Arial" pitchFamily="34" charset="0"/>
                <a:ea typeface="Arial" pitchFamily="34" charset="-122"/>
                <a:cs typeface="Arial" pitchFamily="34" charset="-120"/>
              </a:rPr>
              <a:t>ترفع اللوائح والإجراءات، وتحدّد من يرى ماذا، وتقرأ التحليلات</a:t>
            </a:r>
            <a:endParaRPr lang="ar-SA" sz="1000" dirty="0"/>
          </a:p>
        </p:txBody>
      </p:sp>
      <p:sp>
        <p:nvSpPr>
          <p:cNvPr id="17" name="Shape 15"/>
          <p:cNvSpPr/>
          <p:nvPr/>
        </p:nvSpPr>
        <p:spPr>
          <a:xfrm>
            <a:off x="6035040" y="1188720"/>
            <a:ext cx="2468880" cy="1097280"/>
          </a:xfrm>
          <a:prstGeom prst="roundRect">
            <a:avLst>
              <a:gd name="adj" fmla="val 10000"/>
            </a:avLst>
          </a:prstGeom>
          <a:solidFill>
            <a:srgbClr val="E9EEF6"/>
          </a:solidFill>
          <a:ln w="12700">
            <a:solidFill>
              <a:srgbClr val="E9EEF6"/>
            </a:solidFill>
            <a:prstDash val="solid"/>
          </a:ln>
        </p:spPr>
      </p:sp>
      <p:sp>
        <p:nvSpPr>
          <p:cNvPr id="18" name="Text 16"/>
          <p:cNvSpPr txBox="1"/>
          <p:nvPr/>
        </p:nvSpPr>
        <p:spPr>
          <a:xfrm>
            <a:off x="6217920" y="1325880"/>
            <a:ext cx="2103120" cy="320040"/>
          </a:xfrm>
          <a:prstGeom prst="rect">
            <a:avLst/>
          </a:prstGeom>
          <a:noFill/>
          <a:ln/>
        </p:spPr>
        <p:txBody>
          <a:bodyPr wrap="square" lIns="0" tIns="0" rIns="0" bIns="0" rtlCol="0" anchor="t"/>
          <a:lstStyle/>
          <a:p>
            <a:pPr rtl="1" algn="r" indent="0" marL="0">
              <a:buNone/>
            </a:pPr>
            <a:r>
              <a:rPr lang="ar-SA" altLang="en-US" sz="1300" b="1" dirty="0">
                <a:solidFill>
                  <a:srgbClr val="1E3967"/>
                </a:solidFill>
                <a:latin typeface="Arial" pitchFamily="34" charset="0"/>
                <a:ea typeface="Arial" pitchFamily="34" charset="-122"/>
                <a:cs typeface="Arial" pitchFamily="34" charset="-120"/>
              </a:rPr>
              <a:t>الموظفون</a:t>
            </a:r>
            <a:endParaRPr lang="ar-SA" sz="1300" dirty="0"/>
          </a:p>
        </p:txBody>
      </p:sp>
      <p:sp>
        <p:nvSpPr>
          <p:cNvPr id="19" name="Text 17"/>
          <p:cNvSpPr txBox="1"/>
          <p:nvPr/>
        </p:nvSpPr>
        <p:spPr>
          <a:xfrm>
            <a:off x="6217920" y="1691640"/>
            <a:ext cx="2103120" cy="457200"/>
          </a:xfrm>
          <a:prstGeom prst="rect">
            <a:avLst/>
          </a:prstGeom>
          <a:noFill/>
          <a:ln/>
        </p:spPr>
        <p:txBody>
          <a:bodyPr wrap="square" lIns="0" tIns="0" rIns="0" bIns="0" rtlCol="0" anchor="t"/>
          <a:lstStyle/>
          <a:p>
            <a:pPr rtl="1" algn="r" indent="0" marL="0">
              <a:lnSpc>
                <a:spcPct val="115000"/>
              </a:lnSpc>
              <a:buNone/>
            </a:pPr>
            <a:r>
              <a:rPr lang="ar-SA" altLang="en-US" sz="1000" dirty="0">
                <a:solidFill>
                  <a:srgbClr val="1B2330"/>
                </a:solidFill>
                <a:latin typeface="Arial" pitchFamily="34" charset="0"/>
                <a:ea typeface="Arial" pitchFamily="34" charset="-122"/>
                <a:cs typeface="Arial" pitchFamily="34" charset="-120"/>
              </a:rPr>
              <a:t>يسألون بلغتهم عبر الويب أو واتساب ويحصلون على جواب بمصدره</a:t>
            </a:r>
            <a:endParaRPr lang="ar-SA" sz="1000" dirty="0"/>
          </a:p>
        </p:txBody>
      </p:sp>
      <p:sp>
        <p:nvSpPr>
          <p:cNvPr id="20" name="Shape 18"/>
          <p:cNvSpPr/>
          <p:nvPr/>
        </p:nvSpPr>
        <p:spPr>
          <a:xfrm>
            <a:off x="640080" y="3474720"/>
            <a:ext cx="2468880" cy="1097280"/>
          </a:xfrm>
          <a:prstGeom prst="roundRect">
            <a:avLst>
              <a:gd name="adj" fmla="val 10000"/>
            </a:avLst>
          </a:prstGeom>
          <a:solidFill>
            <a:srgbClr val="E9EEF6"/>
          </a:solidFill>
          <a:ln w="12700">
            <a:solidFill>
              <a:srgbClr val="E9EEF6"/>
            </a:solidFill>
            <a:prstDash val="solid"/>
          </a:ln>
        </p:spPr>
      </p:sp>
      <p:sp>
        <p:nvSpPr>
          <p:cNvPr id="21" name="Text 19"/>
          <p:cNvSpPr txBox="1"/>
          <p:nvPr/>
        </p:nvSpPr>
        <p:spPr>
          <a:xfrm>
            <a:off x="822960" y="3611880"/>
            <a:ext cx="2103120" cy="320040"/>
          </a:xfrm>
          <a:prstGeom prst="rect">
            <a:avLst/>
          </a:prstGeom>
          <a:noFill/>
          <a:ln/>
        </p:spPr>
        <p:txBody>
          <a:bodyPr wrap="square" lIns="0" tIns="0" rIns="0" bIns="0" rtlCol="0" anchor="t"/>
          <a:lstStyle/>
          <a:p>
            <a:pPr rtl="1" algn="r" indent="0" marL="0">
              <a:buNone/>
            </a:pPr>
            <a:r>
              <a:rPr lang="ar-SA" altLang="en-US" sz="1300" b="1" dirty="0">
                <a:solidFill>
                  <a:srgbClr val="1E3967"/>
                </a:solidFill>
                <a:latin typeface="Arial" pitchFamily="34" charset="0"/>
                <a:ea typeface="Arial" pitchFamily="34" charset="-122"/>
                <a:cs typeface="Arial" pitchFamily="34" charset="-120"/>
              </a:rPr>
              <a:t>مستندات الشركة</a:t>
            </a:r>
            <a:endParaRPr lang="ar-SA" sz="1300" dirty="0"/>
          </a:p>
        </p:txBody>
      </p:sp>
      <p:sp>
        <p:nvSpPr>
          <p:cNvPr id="22" name="Text 20"/>
          <p:cNvSpPr txBox="1"/>
          <p:nvPr/>
        </p:nvSpPr>
        <p:spPr>
          <a:xfrm>
            <a:off x="822960" y="3977640"/>
            <a:ext cx="2103120" cy="457200"/>
          </a:xfrm>
          <a:prstGeom prst="rect">
            <a:avLst/>
          </a:prstGeom>
          <a:noFill/>
          <a:ln/>
        </p:spPr>
        <p:txBody>
          <a:bodyPr wrap="square" lIns="0" tIns="0" rIns="0" bIns="0" rtlCol="0" anchor="t"/>
          <a:lstStyle/>
          <a:p>
            <a:pPr rtl="1" algn="r" indent="0" marL="0">
              <a:lnSpc>
                <a:spcPct val="115000"/>
              </a:lnSpc>
              <a:buNone/>
            </a:pPr>
            <a:r>
              <a:rPr lang="ar-SA" altLang="en-US" sz="1000" dirty="0">
                <a:solidFill>
                  <a:srgbClr val="1B2330"/>
                </a:solidFill>
                <a:latin typeface="Arial" pitchFamily="34" charset="0"/>
                <a:ea typeface="Arial" pitchFamily="34" charset="-122"/>
                <a:cs typeface="Arial" pitchFamily="34" charset="-120"/>
              </a:rPr>
              <a:t>PDF وWord ونصوص ومسوحات ضوئية وصور، تُفهرس وتُقرأ صفحة صفحة</a:t>
            </a:r>
            <a:endParaRPr lang="ar-SA" sz="1000" dirty="0"/>
          </a:p>
        </p:txBody>
      </p:sp>
      <p:sp>
        <p:nvSpPr>
          <p:cNvPr id="23" name="Shape 21"/>
          <p:cNvSpPr/>
          <p:nvPr/>
        </p:nvSpPr>
        <p:spPr>
          <a:xfrm>
            <a:off x="6035040" y="3474720"/>
            <a:ext cx="2468880" cy="1097280"/>
          </a:xfrm>
          <a:prstGeom prst="roundRect">
            <a:avLst>
              <a:gd name="adj" fmla="val 10000"/>
            </a:avLst>
          </a:prstGeom>
          <a:solidFill>
            <a:srgbClr val="E9EEF6"/>
          </a:solidFill>
          <a:ln w="12700">
            <a:solidFill>
              <a:srgbClr val="E9EEF6"/>
            </a:solidFill>
            <a:prstDash val="solid"/>
          </a:ln>
        </p:spPr>
      </p:sp>
      <p:sp>
        <p:nvSpPr>
          <p:cNvPr id="24" name="Text 22"/>
          <p:cNvSpPr txBox="1"/>
          <p:nvPr/>
        </p:nvSpPr>
        <p:spPr>
          <a:xfrm>
            <a:off x="6217920" y="3611880"/>
            <a:ext cx="2103120" cy="320040"/>
          </a:xfrm>
          <a:prstGeom prst="rect">
            <a:avLst/>
          </a:prstGeom>
          <a:noFill/>
          <a:ln/>
        </p:spPr>
        <p:txBody>
          <a:bodyPr wrap="square" lIns="0" tIns="0" rIns="0" bIns="0" rtlCol="0" anchor="t"/>
          <a:lstStyle/>
          <a:p>
            <a:pPr rtl="1" algn="r" indent="0" marL="0">
              <a:buNone/>
            </a:pPr>
            <a:r>
              <a:rPr lang="ar-SA" altLang="en-US" sz="1300" b="1" dirty="0">
                <a:solidFill>
                  <a:srgbClr val="1E3967"/>
                </a:solidFill>
                <a:latin typeface="Arial" pitchFamily="34" charset="0"/>
                <a:ea typeface="Arial" pitchFamily="34" charset="-122"/>
                <a:cs typeface="Arial" pitchFamily="34" charset="-120"/>
              </a:rPr>
              <a:t>نموذج الذكاء الاصطناعي</a:t>
            </a:r>
            <a:endParaRPr lang="ar-SA" sz="1300" dirty="0"/>
          </a:p>
        </p:txBody>
      </p:sp>
      <p:sp>
        <p:nvSpPr>
          <p:cNvPr id="25" name="Text 23"/>
          <p:cNvSpPr txBox="1"/>
          <p:nvPr/>
        </p:nvSpPr>
        <p:spPr>
          <a:xfrm>
            <a:off x="6217920" y="3977640"/>
            <a:ext cx="2103120" cy="457200"/>
          </a:xfrm>
          <a:prstGeom prst="rect">
            <a:avLst/>
          </a:prstGeom>
          <a:noFill/>
          <a:ln/>
        </p:spPr>
        <p:txBody>
          <a:bodyPr wrap="square" lIns="0" tIns="0" rIns="0" bIns="0" rtlCol="0" anchor="t"/>
          <a:lstStyle/>
          <a:p>
            <a:pPr rtl="1" algn="r" indent="0" marL="0">
              <a:lnSpc>
                <a:spcPct val="115000"/>
              </a:lnSpc>
              <a:buNone/>
            </a:pPr>
            <a:r>
              <a:rPr lang="ar-SA" altLang="en-US" sz="1000" dirty="0">
                <a:solidFill>
                  <a:srgbClr val="1B2330"/>
                </a:solidFill>
                <a:latin typeface="Arial" pitchFamily="34" charset="0"/>
                <a:ea typeface="Arial" pitchFamily="34" charset="-122"/>
                <a:cs typeface="Arial" pitchFamily="34" charset="-120"/>
              </a:rPr>
              <a:t>يُقيَّد بمستندات الشركة وحدها، ويمرّ كل جواب بمدقّق مستقل</a:t>
            </a:r>
            <a:endParaRPr lang="ar-SA"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88720" y="320040"/>
            <a:ext cx="7406640" cy="548640"/>
          </a:xfrm>
          <a:prstGeom prst="rect">
            <a:avLst/>
          </a:prstGeom>
          <a:noFill/>
          <a:ln/>
        </p:spPr>
        <p:txBody>
          <a:bodyPr wrap="square" lIns="0" tIns="0" rIns="0" bIns="0" rtlCol="0" anchor="t"/>
          <a:lstStyle/>
          <a:p>
            <a:pPr rtl="1" algn="r" indent="0" marL="0">
              <a:buNone/>
            </a:pPr>
            <a:r>
              <a:rPr lang="ar-SA" altLang="en-US" sz="2800" b="1" dirty="0">
                <a:solidFill>
                  <a:srgbClr val="1E3967"/>
                </a:solidFill>
                <a:latin typeface="Arial" pitchFamily="34" charset="0"/>
                <a:ea typeface="Arial" pitchFamily="34" charset="-122"/>
                <a:cs typeface="Arial" pitchFamily="34" charset="-120"/>
              </a:rPr>
              <a:t>التقنيات المستخدمة</a:t>
            </a:r>
            <a:endParaRPr lang="ar-SA" sz="2800" dirty="0"/>
          </a:p>
        </p:txBody>
      </p:sp>
      <p:sp>
        <p:nvSpPr>
          <p:cNvPr id="3" name="Text 1"/>
          <p:cNvSpPr txBox="1"/>
          <p:nvPr/>
        </p:nvSpPr>
        <p:spPr>
          <a:xfrm>
            <a:off x="548640" y="868680"/>
            <a:ext cx="8046720" cy="274320"/>
          </a:xfrm>
          <a:prstGeom prst="rect">
            <a:avLst/>
          </a:prstGeom>
          <a:noFill/>
          <a:ln/>
        </p:spPr>
        <p:txBody>
          <a:bodyPr wrap="square" lIns="0" tIns="0" rIns="0" bIns="0" rtlCol="0" anchor="t"/>
          <a:lstStyle/>
          <a:p>
            <a:pPr algn="r" indent="0" marL="0">
              <a:buNone/>
            </a:pPr>
            <a:r>
              <a:rPr lang="en-US" altLang="en-US" sz="1100" dirty="0">
                <a:solidFill>
                  <a:srgbClr val="5B6573"/>
                </a:solidFill>
                <a:latin typeface="Arial" pitchFamily="34" charset="0"/>
                <a:ea typeface="Arial" pitchFamily="34" charset="-122"/>
                <a:cs typeface="Arial" pitchFamily="34" charset="-120"/>
              </a:rPr>
              <a:t>Technology</a:t>
            </a:r>
            <a:endParaRPr lang="en-US" sz="1100" dirty="0"/>
          </a:p>
        </p:txBody>
      </p:sp>
      <p:sp>
        <p:nvSpPr>
          <p:cNvPr id="4" name="Shape 2"/>
          <p:cNvSpPr/>
          <p:nvPr/>
        </p:nvSpPr>
        <p:spPr>
          <a:xfrm>
            <a:off x="548640" y="347472"/>
            <a:ext cx="411480" cy="411480"/>
          </a:xfrm>
          <a:prstGeom prst="roundRect">
            <a:avLst>
              <a:gd name="adj" fmla="val 25000"/>
            </a:avLst>
          </a:prstGeom>
          <a:solidFill>
            <a:srgbClr val="1E3967"/>
          </a:solidFill>
          <a:ln/>
        </p:spPr>
      </p:sp>
      <p:sp>
        <p:nvSpPr>
          <p:cNvPr id="5" name="Shape 3"/>
          <p:cNvSpPr/>
          <p:nvPr/>
        </p:nvSpPr>
        <p:spPr>
          <a:xfrm>
            <a:off x="622706" y="396850"/>
            <a:ext cx="213970" cy="213970"/>
          </a:xfrm>
          <a:prstGeom prst="diamond">
            <a:avLst/>
          </a:prstGeom>
          <a:solidFill>
            <a:srgbClr val="C9A24C"/>
          </a:solidFill>
          <a:ln w="12700">
            <a:solidFill>
              <a:srgbClr val="C9A24C"/>
            </a:solidFill>
            <a:prstDash val="solid"/>
          </a:ln>
        </p:spPr>
      </p:sp>
      <p:sp>
        <p:nvSpPr>
          <p:cNvPr id="6" name="Shape 4"/>
          <p:cNvSpPr/>
          <p:nvPr/>
        </p:nvSpPr>
        <p:spPr>
          <a:xfrm>
            <a:off x="795528" y="586130"/>
            <a:ext cx="106985" cy="106985"/>
          </a:xfrm>
          <a:prstGeom prst="diamond">
            <a:avLst/>
          </a:prstGeom>
          <a:solidFill>
            <a:srgbClr val="FFFFFF">
              <a:alpha val="75000"/>
            </a:srgbClr>
          </a:solidFill>
          <a:ln w="12700">
            <a:solidFill>
              <a:srgbClr val="FFFFFF">
                <a:alpha val="75000"/>
              </a:srgbClr>
            </a:solidFill>
            <a:prstDash val="solid"/>
          </a:ln>
        </p:spPr>
      </p:sp>
      <p:sp>
        <p:nvSpPr>
          <p:cNvPr id="7" name="Text 5"/>
          <p:cNvSpPr txBox="1"/>
          <p:nvPr/>
        </p:nvSpPr>
        <p:spPr>
          <a:xfrm>
            <a:off x="548640" y="4754880"/>
            <a:ext cx="2743200" cy="228600"/>
          </a:xfrm>
          <a:prstGeom prst="rect">
            <a:avLst/>
          </a:prstGeom>
          <a:noFill/>
          <a:ln/>
        </p:spPr>
        <p:txBody>
          <a:bodyPr wrap="square" lIns="0" tIns="0" rIns="0" bIns="0" rtlCol="0" anchor="t"/>
          <a:lstStyle/>
          <a:p>
            <a:pPr rtl="1" algn="l" indent="0" marL="0">
              <a:buNone/>
            </a:pPr>
            <a:r>
              <a:rPr lang="ar-SA" altLang="en-US" sz="900" dirty="0">
                <a:solidFill>
                  <a:srgbClr val="5B6573"/>
                </a:solidFill>
                <a:latin typeface="Arial" pitchFamily="34" charset="0"/>
                <a:ea typeface="Arial" pitchFamily="34" charset="-122"/>
                <a:cs typeface="Arial" pitchFamily="34" charset="-120"/>
              </a:rPr>
              <a:t>بديهة · ملف المشروع</a:t>
            </a:r>
            <a:endParaRPr lang="ar-SA" sz="900" dirty="0"/>
          </a:p>
        </p:txBody>
      </p:sp>
      <p:sp>
        <p:nvSpPr>
          <p:cNvPr id="8" name="Shape 6"/>
          <p:cNvSpPr/>
          <p:nvPr/>
        </p:nvSpPr>
        <p:spPr>
          <a:xfrm>
            <a:off x="8183880" y="1435608"/>
            <a:ext cx="365760" cy="365760"/>
          </a:xfrm>
          <a:prstGeom prst="ellipse">
            <a:avLst/>
          </a:prstGeom>
          <a:solidFill>
            <a:srgbClr val="C9A24C"/>
          </a:solidFill>
          <a:ln w="12700">
            <a:solidFill>
              <a:srgbClr val="C9A24C"/>
            </a:solidFill>
            <a:prstDash val="solid"/>
          </a:ln>
        </p:spPr>
      </p:sp>
      <p:sp>
        <p:nvSpPr>
          <p:cNvPr id="9" name="Shape 7"/>
          <p:cNvSpPr/>
          <p:nvPr/>
        </p:nvSpPr>
        <p:spPr>
          <a:xfrm>
            <a:off x="6035040" y="1325880"/>
            <a:ext cx="2560320" cy="1508760"/>
          </a:xfrm>
          <a:prstGeom prst="roundRect">
            <a:avLst>
              <a:gd name="adj" fmla="val 7273"/>
            </a:avLst>
          </a:prstGeom>
          <a:solidFill>
            <a:srgbClr val="E9EEF6"/>
          </a:solidFill>
          <a:ln w="12700">
            <a:solidFill>
              <a:srgbClr val="E9EEF6"/>
            </a:solidFill>
            <a:prstDash val="solid"/>
          </a:ln>
        </p:spPr>
      </p:sp>
      <p:sp>
        <p:nvSpPr>
          <p:cNvPr id="10" name="Text 8"/>
          <p:cNvSpPr txBox="1"/>
          <p:nvPr/>
        </p:nvSpPr>
        <p:spPr>
          <a:xfrm>
            <a:off x="6217920" y="1463040"/>
            <a:ext cx="2194560" cy="320040"/>
          </a:xfrm>
          <a:prstGeom prst="rect">
            <a:avLst/>
          </a:prstGeom>
          <a:noFill/>
          <a:ln/>
        </p:spPr>
        <p:txBody>
          <a:bodyPr wrap="square" lIns="0" tIns="0" rIns="0" bIns="0" rtlCol="0" anchor="t"/>
          <a:lstStyle/>
          <a:p>
            <a:pPr rtl="1" algn="r" indent="0" marL="0">
              <a:buNone/>
            </a:pPr>
            <a:r>
              <a:rPr lang="ar-SA" altLang="en-US" sz="1300" b="1" dirty="0">
                <a:solidFill>
                  <a:srgbClr val="1E3967"/>
                </a:solidFill>
                <a:latin typeface="Arial" pitchFamily="34" charset="0"/>
                <a:ea typeface="Arial" pitchFamily="34" charset="-122"/>
                <a:cs typeface="Arial" pitchFamily="34" charset="-120"/>
              </a:rPr>
              <a:t>استرجاع هجين للعربية</a:t>
            </a:r>
            <a:endParaRPr lang="ar-SA" sz="1300" dirty="0"/>
          </a:p>
        </p:txBody>
      </p:sp>
      <p:sp>
        <p:nvSpPr>
          <p:cNvPr id="11" name="Text 9"/>
          <p:cNvSpPr txBox="1"/>
          <p:nvPr/>
        </p:nvSpPr>
        <p:spPr>
          <a:xfrm>
            <a:off x="6217920" y="1828800"/>
            <a:ext cx="2194560" cy="868680"/>
          </a:xfrm>
          <a:prstGeom prst="rect">
            <a:avLst/>
          </a:prstGeom>
          <a:noFill/>
          <a:ln/>
        </p:spPr>
        <p:txBody>
          <a:bodyPr wrap="square" lIns="0" tIns="0" rIns="0" bIns="0" rtlCol="0" anchor="t"/>
          <a:lstStyle/>
          <a:p>
            <a:pPr rtl="1" algn="r" indent="0" marL="0">
              <a:lnSpc>
                <a:spcPct val="115000"/>
              </a:lnSpc>
              <a:buNone/>
            </a:pPr>
            <a:r>
              <a:rPr lang="ar-SA" altLang="en-US" sz="1000" dirty="0">
                <a:solidFill>
                  <a:srgbClr val="1B2330"/>
                </a:solidFill>
                <a:latin typeface="Arial" pitchFamily="34" charset="0"/>
                <a:ea typeface="Arial" pitchFamily="34" charset="-122"/>
                <a:cs typeface="Arial" pitchFamily="34" charset="-120"/>
              </a:rPr>
              <a:t>بحث دلالي بالمتجهات مع بحث نصي مضبوط على الصرف العربي، فتُلتقط الصياغات المختلفة للسؤال نفسه.</a:t>
            </a:r>
            <a:endParaRPr lang="ar-SA" sz="1000" dirty="0"/>
          </a:p>
        </p:txBody>
      </p:sp>
      <p:sp>
        <p:nvSpPr>
          <p:cNvPr id="12" name="Shape 10"/>
          <p:cNvSpPr/>
          <p:nvPr/>
        </p:nvSpPr>
        <p:spPr>
          <a:xfrm>
            <a:off x="5440680" y="1435608"/>
            <a:ext cx="365760" cy="365760"/>
          </a:xfrm>
          <a:prstGeom prst="ellipse">
            <a:avLst/>
          </a:prstGeom>
          <a:solidFill>
            <a:srgbClr val="C9A24C"/>
          </a:solidFill>
          <a:ln w="12700">
            <a:solidFill>
              <a:srgbClr val="C9A24C"/>
            </a:solidFill>
            <a:prstDash val="solid"/>
          </a:ln>
        </p:spPr>
      </p:sp>
      <p:sp>
        <p:nvSpPr>
          <p:cNvPr id="13" name="Shape 11"/>
          <p:cNvSpPr/>
          <p:nvPr/>
        </p:nvSpPr>
        <p:spPr>
          <a:xfrm>
            <a:off x="3291840" y="1325880"/>
            <a:ext cx="2560320" cy="1508760"/>
          </a:xfrm>
          <a:prstGeom prst="roundRect">
            <a:avLst>
              <a:gd name="adj" fmla="val 7273"/>
            </a:avLst>
          </a:prstGeom>
          <a:solidFill>
            <a:srgbClr val="E9EEF6"/>
          </a:solidFill>
          <a:ln w="12700">
            <a:solidFill>
              <a:srgbClr val="E9EEF6"/>
            </a:solidFill>
            <a:prstDash val="solid"/>
          </a:ln>
        </p:spPr>
      </p:sp>
      <p:sp>
        <p:nvSpPr>
          <p:cNvPr id="14" name="Text 12"/>
          <p:cNvSpPr txBox="1"/>
          <p:nvPr/>
        </p:nvSpPr>
        <p:spPr>
          <a:xfrm>
            <a:off x="3474720" y="1463040"/>
            <a:ext cx="2194560" cy="320040"/>
          </a:xfrm>
          <a:prstGeom prst="rect">
            <a:avLst/>
          </a:prstGeom>
          <a:noFill/>
          <a:ln/>
        </p:spPr>
        <p:txBody>
          <a:bodyPr wrap="square" lIns="0" tIns="0" rIns="0" bIns="0" rtlCol="0" anchor="t"/>
          <a:lstStyle/>
          <a:p>
            <a:pPr rtl="1" algn="r" indent="0" marL="0">
              <a:buNone/>
            </a:pPr>
            <a:r>
              <a:rPr lang="ar-SA" altLang="en-US" sz="1300" b="1" dirty="0">
                <a:solidFill>
                  <a:srgbClr val="1E3967"/>
                </a:solidFill>
                <a:latin typeface="Arial" pitchFamily="34" charset="0"/>
                <a:ea typeface="Arial" pitchFamily="34" charset="-122"/>
                <a:cs typeface="Arial" pitchFamily="34" charset="-120"/>
              </a:rPr>
              <a:t>قراءة ضوئية بالرؤية</a:t>
            </a:r>
            <a:endParaRPr lang="ar-SA" sz="1300" dirty="0"/>
          </a:p>
        </p:txBody>
      </p:sp>
      <p:sp>
        <p:nvSpPr>
          <p:cNvPr id="15" name="Text 13"/>
          <p:cNvSpPr txBox="1"/>
          <p:nvPr/>
        </p:nvSpPr>
        <p:spPr>
          <a:xfrm>
            <a:off x="3474720" y="1828800"/>
            <a:ext cx="2194560" cy="868680"/>
          </a:xfrm>
          <a:prstGeom prst="rect">
            <a:avLst/>
          </a:prstGeom>
          <a:noFill/>
          <a:ln/>
        </p:spPr>
        <p:txBody>
          <a:bodyPr wrap="square" lIns="0" tIns="0" rIns="0" bIns="0" rtlCol="0" anchor="t"/>
          <a:lstStyle/>
          <a:p>
            <a:pPr rtl="1" algn="r" indent="0" marL="0">
              <a:lnSpc>
                <a:spcPct val="115000"/>
              </a:lnSpc>
              <a:buNone/>
            </a:pPr>
            <a:r>
              <a:rPr lang="ar-SA" altLang="en-US" sz="1000" dirty="0">
                <a:solidFill>
                  <a:srgbClr val="1B2330"/>
                </a:solidFill>
                <a:latin typeface="Arial" pitchFamily="34" charset="0"/>
                <a:ea typeface="Arial" pitchFamily="34" charset="-122"/>
                <a:cs typeface="Arial" pitchFamily="34" charset="-120"/>
              </a:rPr>
              <a:t>المستندات الممسوحة والصور تُنسخ صفحة صفحة عبر نموذج رؤية، ثم تُفهرس كأي مستند.</a:t>
            </a:r>
            <a:endParaRPr lang="ar-SA" sz="1000" dirty="0"/>
          </a:p>
        </p:txBody>
      </p:sp>
      <p:sp>
        <p:nvSpPr>
          <p:cNvPr id="16" name="Shape 14"/>
          <p:cNvSpPr/>
          <p:nvPr/>
        </p:nvSpPr>
        <p:spPr>
          <a:xfrm>
            <a:off x="2697480" y="1435608"/>
            <a:ext cx="365760" cy="365760"/>
          </a:xfrm>
          <a:prstGeom prst="ellipse">
            <a:avLst/>
          </a:prstGeom>
          <a:solidFill>
            <a:srgbClr val="C9A24C"/>
          </a:solidFill>
          <a:ln w="12700">
            <a:solidFill>
              <a:srgbClr val="C9A24C"/>
            </a:solidFill>
            <a:prstDash val="solid"/>
          </a:ln>
        </p:spPr>
      </p:sp>
      <p:sp>
        <p:nvSpPr>
          <p:cNvPr id="17" name="Shape 15"/>
          <p:cNvSpPr/>
          <p:nvPr/>
        </p:nvSpPr>
        <p:spPr>
          <a:xfrm>
            <a:off x="548640" y="1325880"/>
            <a:ext cx="2560320" cy="1508760"/>
          </a:xfrm>
          <a:prstGeom prst="roundRect">
            <a:avLst>
              <a:gd name="adj" fmla="val 7273"/>
            </a:avLst>
          </a:prstGeom>
          <a:solidFill>
            <a:srgbClr val="E9EEF6"/>
          </a:solidFill>
          <a:ln w="12700">
            <a:solidFill>
              <a:srgbClr val="E9EEF6"/>
            </a:solidFill>
            <a:prstDash val="solid"/>
          </a:ln>
        </p:spPr>
      </p:sp>
      <p:sp>
        <p:nvSpPr>
          <p:cNvPr id="18" name="Text 16"/>
          <p:cNvSpPr txBox="1"/>
          <p:nvPr/>
        </p:nvSpPr>
        <p:spPr>
          <a:xfrm>
            <a:off x="731520" y="1463040"/>
            <a:ext cx="2194560" cy="320040"/>
          </a:xfrm>
          <a:prstGeom prst="rect">
            <a:avLst/>
          </a:prstGeom>
          <a:noFill/>
          <a:ln/>
        </p:spPr>
        <p:txBody>
          <a:bodyPr wrap="square" lIns="0" tIns="0" rIns="0" bIns="0" rtlCol="0" anchor="t"/>
          <a:lstStyle/>
          <a:p>
            <a:pPr rtl="1" algn="r" indent="0" marL="0">
              <a:buNone/>
            </a:pPr>
            <a:r>
              <a:rPr lang="ar-SA" altLang="en-US" sz="1300" b="1" dirty="0">
                <a:solidFill>
                  <a:srgbClr val="1E3967"/>
                </a:solidFill>
                <a:latin typeface="Arial" pitchFamily="34" charset="0"/>
                <a:ea typeface="Arial" pitchFamily="34" charset="-122"/>
                <a:cs typeface="Arial" pitchFamily="34" charset="-120"/>
              </a:rPr>
              <a:t>مدقّق حتمي للأرقام</a:t>
            </a:r>
            <a:endParaRPr lang="ar-SA" sz="1300" dirty="0"/>
          </a:p>
        </p:txBody>
      </p:sp>
      <p:sp>
        <p:nvSpPr>
          <p:cNvPr id="19" name="Text 17"/>
          <p:cNvSpPr txBox="1"/>
          <p:nvPr/>
        </p:nvSpPr>
        <p:spPr>
          <a:xfrm>
            <a:off x="731520" y="1828800"/>
            <a:ext cx="2194560" cy="868680"/>
          </a:xfrm>
          <a:prstGeom prst="rect">
            <a:avLst/>
          </a:prstGeom>
          <a:noFill/>
          <a:ln/>
        </p:spPr>
        <p:txBody>
          <a:bodyPr wrap="square" lIns="0" tIns="0" rIns="0" bIns="0" rtlCol="0" anchor="t"/>
          <a:lstStyle/>
          <a:p>
            <a:pPr rtl="1" algn="r" indent="0" marL="0">
              <a:lnSpc>
                <a:spcPct val="115000"/>
              </a:lnSpc>
              <a:buNone/>
            </a:pPr>
            <a:r>
              <a:rPr lang="ar-SA" altLang="en-US" sz="1000" dirty="0">
                <a:solidFill>
                  <a:srgbClr val="1B2330"/>
                </a:solidFill>
                <a:latin typeface="Arial" pitchFamily="34" charset="0"/>
                <a:ea typeface="Arial" pitchFamily="34" charset="-122"/>
                <a:cs typeface="Arial" pitchFamily="34" charset="-120"/>
              </a:rPr>
              <a:t>كل رقم ومدة ومبلغ في الجواب يُقارَن بنص المصدر قبل العرض، بلا نموذج، فلا يمكنه التخمين.</a:t>
            </a:r>
            <a:endParaRPr lang="ar-SA" sz="1000" dirty="0"/>
          </a:p>
        </p:txBody>
      </p:sp>
      <p:sp>
        <p:nvSpPr>
          <p:cNvPr id="20" name="Shape 18"/>
          <p:cNvSpPr/>
          <p:nvPr/>
        </p:nvSpPr>
        <p:spPr>
          <a:xfrm>
            <a:off x="8183880" y="3127248"/>
            <a:ext cx="365760" cy="365760"/>
          </a:xfrm>
          <a:prstGeom prst="ellipse">
            <a:avLst/>
          </a:prstGeom>
          <a:solidFill>
            <a:srgbClr val="C9A24C"/>
          </a:solidFill>
          <a:ln w="12700">
            <a:solidFill>
              <a:srgbClr val="C9A24C"/>
            </a:solidFill>
            <a:prstDash val="solid"/>
          </a:ln>
        </p:spPr>
      </p:sp>
      <p:sp>
        <p:nvSpPr>
          <p:cNvPr id="21" name="Shape 19"/>
          <p:cNvSpPr/>
          <p:nvPr/>
        </p:nvSpPr>
        <p:spPr>
          <a:xfrm>
            <a:off x="6035040" y="3017520"/>
            <a:ext cx="2560320" cy="1508760"/>
          </a:xfrm>
          <a:prstGeom prst="roundRect">
            <a:avLst>
              <a:gd name="adj" fmla="val 7273"/>
            </a:avLst>
          </a:prstGeom>
          <a:solidFill>
            <a:srgbClr val="E9EEF6"/>
          </a:solidFill>
          <a:ln w="12700">
            <a:solidFill>
              <a:srgbClr val="E9EEF6"/>
            </a:solidFill>
            <a:prstDash val="solid"/>
          </a:ln>
        </p:spPr>
      </p:sp>
      <p:sp>
        <p:nvSpPr>
          <p:cNvPr id="22" name="Text 20"/>
          <p:cNvSpPr txBox="1"/>
          <p:nvPr/>
        </p:nvSpPr>
        <p:spPr>
          <a:xfrm>
            <a:off x="6217920" y="3154680"/>
            <a:ext cx="2194560" cy="320040"/>
          </a:xfrm>
          <a:prstGeom prst="rect">
            <a:avLst/>
          </a:prstGeom>
          <a:noFill/>
          <a:ln/>
        </p:spPr>
        <p:txBody>
          <a:bodyPr wrap="square" lIns="0" tIns="0" rIns="0" bIns="0" rtlCol="0" anchor="t"/>
          <a:lstStyle/>
          <a:p>
            <a:pPr rtl="1" algn="r" indent="0" marL="0">
              <a:buNone/>
            </a:pPr>
            <a:r>
              <a:rPr lang="ar-SA" altLang="en-US" sz="1300" b="1" dirty="0">
                <a:solidFill>
                  <a:srgbClr val="1E3967"/>
                </a:solidFill>
                <a:latin typeface="Arial" pitchFamily="34" charset="0"/>
                <a:ea typeface="Arial" pitchFamily="34" charset="-122"/>
                <a:cs typeface="Arial" pitchFamily="34" charset="-120"/>
              </a:rPr>
              <a:t>عزل مثبَت بالاختبار</a:t>
            </a:r>
            <a:endParaRPr lang="ar-SA" sz="1300" dirty="0"/>
          </a:p>
        </p:txBody>
      </p:sp>
      <p:sp>
        <p:nvSpPr>
          <p:cNvPr id="23" name="Text 21"/>
          <p:cNvSpPr txBox="1"/>
          <p:nvPr/>
        </p:nvSpPr>
        <p:spPr>
          <a:xfrm>
            <a:off x="6217920" y="3520440"/>
            <a:ext cx="2194560" cy="868680"/>
          </a:xfrm>
          <a:prstGeom prst="rect">
            <a:avLst/>
          </a:prstGeom>
          <a:noFill/>
          <a:ln/>
        </p:spPr>
        <p:txBody>
          <a:bodyPr wrap="square" lIns="0" tIns="0" rIns="0" bIns="0" rtlCol="0" anchor="t"/>
          <a:lstStyle/>
          <a:p>
            <a:pPr rtl="1" algn="r" indent="0" marL="0">
              <a:lnSpc>
                <a:spcPct val="115000"/>
              </a:lnSpc>
              <a:buNone/>
            </a:pPr>
            <a:r>
              <a:rPr lang="ar-SA" altLang="en-US" sz="1000" dirty="0">
                <a:solidFill>
                  <a:srgbClr val="1B2330"/>
                </a:solidFill>
                <a:latin typeface="Arial" pitchFamily="34" charset="0"/>
                <a:ea typeface="Arial" pitchFamily="34" charset="-122"/>
                <a:cs typeface="Arial" pitchFamily="34" charset="-120"/>
              </a:rPr>
              <a:t>عزل الشركات على مستوى قاعدة البيانات (RLS) ويغطّيه ٢٣٢ اختبارًا آليًا واختبار طفرات.</a:t>
            </a:r>
            <a:endParaRPr lang="ar-SA" sz="1000" dirty="0"/>
          </a:p>
        </p:txBody>
      </p:sp>
      <p:sp>
        <p:nvSpPr>
          <p:cNvPr id="24" name="Shape 22"/>
          <p:cNvSpPr/>
          <p:nvPr/>
        </p:nvSpPr>
        <p:spPr>
          <a:xfrm>
            <a:off x="5440680" y="3127248"/>
            <a:ext cx="365760" cy="365760"/>
          </a:xfrm>
          <a:prstGeom prst="ellipse">
            <a:avLst/>
          </a:prstGeom>
          <a:solidFill>
            <a:srgbClr val="C9A24C"/>
          </a:solidFill>
          <a:ln w="12700">
            <a:solidFill>
              <a:srgbClr val="C9A24C"/>
            </a:solidFill>
            <a:prstDash val="solid"/>
          </a:ln>
        </p:spPr>
      </p:sp>
      <p:sp>
        <p:nvSpPr>
          <p:cNvPr id="25" name="Shape 23"/>
          <p:cNvSpPr/>
          <p:nvPr/>
        </p:nvSpPr>
        <p:spPr>
          <a:xfrm>
            <a:off x="3291840" y="3017520"/>
            <a:ext cx="2560320" cy="1508760"/>
          </a:xfrm>
          <a:prstGeom prst="roundRect">
            <a:avLst>
              <a:gd name="adj" fmla="val 7273"/>
            </a:avLst>
          </a:prstGeom>
          <a:solidFill>
            <a:srgbClr val="E9EEF6"/>
          </a:solidFill>
          <a:ln w="12700">
            <a:solidFill>
              <a:srgbClr val="E9EEF6"/>
            </a:solidFill>
            <a:prstDash val="solid"/>
          </a:ln>
        </p:spPr>
      </p:sp>
      <p:sp>
        <p:nvSpPr>
          <p:cNvPr id="26" name="Text 24"/>
          <p:cNvSpPr txBox="1"/>
          <p:nvPr/>
        </p:nvSpPr>
        <p:spPr>
          <a:xfrm>
            <a:off x="3474720" y="3154680"/>
            <a:ext cx="2194560" cy="320040"/>
          </a:xfrm>
          <a:prstGeom prst="rect">
            <a:avLst/>
          </a:prstGeom>
          <a:noFill/>
          <a:ln/>
        </p:spPr>
        <p:txBody>
          <a:bodyPr wrap="square" lIns="0" tIns="0" rIns="0" bIns="0" rtlCol="0" anchor="t"/>
          <a:lstStyle/>
          <a:p>
            <a:pPr rtl="1" algn="r" indent="0" marL="0">
              <a:buNone/>
            </a:pPr>
            <a:r>
              <a:rPr lang="ar-SA" altLang="en-US" sz="1300" b="1" dirty="0">
                <a:solidFill>
                  <a:srgbClr val="1E3967"/>
                </a:solidFill>
                <a:latin typeface="Arial" pitchFamily="34" charset="0"/>
                <a:ea typeface="Arial" pitchFamily="34" charset="-122"/>
                <a:cs typeface="Arial" pitchFamily="34" charset="-120"/>
              </a:rPr>
              <a:t>تحليلات وفجوات المعرفة</a:t>
            </a:r>
            <a:endParaRPr lang="ar-SA" sz="1300" dirty="0"/>
          </a:p>
        </p:txBody>
      </p:sp>
      <p:sp>
        <p:nvSpPr>
          <p:cNvPr id="27" name="Text 25"/>
          <p:cNvSpPr txBox="1"/>
          <p:nvPr/>
        </p:nvSpPr>
        <p:spPr>
          <a:xfrm>
            <a:off x="3474720" y="3520440"/>
            <a:ext cx="2194560" cy="868680"/>
          </a:xfrm>
          <a:prstGeom prst="rect">
            <a:avLst/>
          </a:prstGeom>
          <a:noFill/>
          <a:ln/>
        </p:spPr>
        <p:txBody>
          <a:bodyPr wrap="square" lIns="0" tIns="0" rIns="0" bIns="0" rtlCol="0" anchor="t"/>
          <a:lstStyle/>
          <a:p>
            <a:pPr rtl="1" algn="r" indent="0" marL="0">
              <a:lnSpc>
                <a:spcPct val="115000"/>
              </a:lnSpc>
              <a:buNone/>
            </a:pPr>
            <a:r>
              <a:rPr lang="ar-SA" altLang="en-US" sz="1000" dirty="0">
                <a:solidFill>
                  <a:srgbClr val="1B2330"/>
                </a:solidFill>
                <a:latin typeface="Arial" pitchFamily="34" charset="0"/>
                <a:ea typeface="Arial" pitchFamily="34" charset="-122"/>
                <a:cs typeface="Arial" pitchFamily="34" charset="-120"/>
              </a:rPr>
              <a:t>الأسئلة التي لم تجد جوابًا تتحول إلى تقرير توثيق، وتُقاس جودة الإجابات والاستخدام.</a:t>
            </a:r>
            <a:endParaRPr lang="ar-SA" sz="1000" dirty="0"/>
          </a:p>
        </p:txBody>
      </p:sp>
      <p:sp>
        <p:nvSpPr>
          <p:cNvPr id="28" name="Shape 26"/>
          <p:cNvSpPr/>
          <p:nvPr/>
        </p:nvSpPr>
        <p:spPr>
          <a:xfrm>
            <a:off x="2697480" y="3127248"/>
            <a:ext cx="365760" cy="365760"/>
          </a:xfrm>
          <a:prstGeom prst="ellipse">
            <a:avLst/>
          </a:prstGeom>
          <a:solidFill>
            <a:srgbClr val="C9A24C"/>
          </a:solidFill>
          <a:ln w="12700">
            <a:solidFill>
              <a:srgbClr val="C9A24C"/>
            </a:solidFill>
            <a:prstDash val="solid"/>
          </a:ln>
        </p:spPr>
      </p:sp>
      <p:sp>
        <p:nvSpPr>
          <p:cNvPr id="29" name="Shape 27"/>
          <p:cNvSpPr/>
          <p:nvPr/>
        </p:nvSpPr>
        <p:spPr>
          <a:xfrm>
            <a:off x="548640" y="3017520"/>
            <a:ext cx="2560320" cy="1508760"/>
          </a:xfrm>
          <a:prstGeom prst="roundRect">
            <a:avLst>
              <a:gd name="adj" fmla="val 7273"/>
            </a:avLst>
          </a:prstGeom>
          <a:solidFill>
            <a:srgbClr val="E9EEF6"/>
          </a:solidFill>
          <a:ln w="12700">
            <a:solidFill>
              <a:srgbClr val="E9EEF6"/>
            </a:solidFill>
            <a:prstDash val="solid"/>
          </a:ln>
        </p:spPr>
      </p:sp>
      <p:sp>
        <p:nvSpPr>
          <p:cNvPr id="30" name="Text 28"/>
          <p:cNvSpPr txBox="1"/>
          <p:nvPr/>
        </p:nvSpPr>
        <p:spPr>
          <a:xfrm>
            <a:off x="731520" y="3154680"/>
            <a:ext cx="2194560" cy="320040"/>
          </a:xfrm>
          <a:prstGeom prst="rect">
            <a:avLst/>
          </a:prstGeom>
          <a:noFill/>
          <a:ln/>
        </p:spPr>
        <p:txBody>
          <a:bodyPr wrap="square" lIns="0" tIns="0" rIns="0" bIns="0" rtlCol="0" anchor="t"/>
          <a:lstStyle/>
          <a:p>
            <a:pPr rtl="1" algn="r" indent="0" marL="0">
              <a:buNone/>
            </a:pPr>
            <a:r>
              <a:rPr lang="ar-SA" altLang="en-US" sz="1300" b="1" dirty="0">
                <a:solidFill>
                  <a:srgbClr val="1E3967"/>
                </a:solidFill>
                <a:latin typeface="Arial" pitchFamily="34" charset="0"/>
                <a:ea typeface="Arial" pitchFamily="34" charset="-122"/>
                <a:cs typeface="Arial" pitchFamily="34" charset="-120"/>
              </a:rPr>
              <a:t>قناة واتساب</a:t>
            </a:r>
            <a:endParaRPr lang="ar-SA" sz="1300" dirty="0"/>
          </a:p>
        </p:txBody>
      </p:sp>
      <p:sp>
        <p:nvSpPr>
          <p:cNvPr id="31" name="Text 29"/>
          <p:cNvSpPr txBox="1"/>
          <p:nvPr/>
        </p:nvSpPr>
        <p:spPr>
          <a:xfrm>
            <a:off x="731520" y="3520440"/>
            <a:ext cx="2194560" cy="868680"/>
          </a:xfrm>
          <a:prstGeom prst="rect">
            <a:avLst/>
          </a:prstGeom>
          <a:noFill/>
          <a:ln/>
        </p:spPr>
        <p:txBody>
          <a:bodyPr wrap="square" lIns="0" tIns="0" rIns="0" bIns="0" rtlCol="0" anchor="t"/>
          <a:lstStyle/>
          <a:p>
            <a:pPr rtl="1" algn="r" indent="0" marL="0">
              <a:lnSpc>
                <a:spcPct val="115000"/>
              </a:lnSpc>
              <a:buNone/>
            </a:pPr>
            <a:r>
              <a:rPr lang="ar-SA" altLang="en-US" sz="1000" dirty="0">
                <a:solidFill>
                  <a:srgbClr val="1B2330"/>
                </a:solidFill>
                <a:latin typeface="Arial" pitchFamily="34" charset="0"/>
                <a:ea typeface="Arial" pitchFamily="34" charset="-122"/>
                <a:cs typeface="Arial" pitchFamily="34" charset="-120"/>
              </a:rPr>
              <a:t>الموظف يسأل من هاتفه بنفس الصلاحيات، بربط الرقم برمز من حسابه.</a:t>
            </a:r>
            <a:endParaRPr lang="ar-SA"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88720" y="320040"/>
            <a:ext cx="7406640" cy="548640"/>
          </a:xfrm>
          <a:prstGeom prst="rect">
            <a:avLst/>
          </a:prstGeom>
          <a:noFill/>
          <a:ln/>
        </p:spPr>
        <p:txBody>
          <a:bodyPr wrap="square" lIns="0" tIns="0" rIns="0" bIns="0" rtlCol="0" anchor="t"/>
          <a:lstStyle/>
          <a:p>
            <a:pPr rtl="1" algn="r" indent="0" marL="0">
              <a:buNone/>
            </a:pPr>
            <a:r>
              <a:rPr lang="ar-SA" altLang="en-US" sz="2800" b="1" dirty="0">
                <a:solidFill>
                  <a:srgbClr val="1E3967"/>
                </a:solidFill>
                <a:latin typeface="Arial" pitchFamily="34" charset="0"/>
                <a:ea typeface="Arial" pitchFamily="34" charset="-122"/>
                <a:cs typeface="Arial" pitchFamily="34" charset="-120"/>
              </a:rPr>
              <a:t>نبذة عن المشروع</a:t>
            </a:r>
            <a:endParaRPr lang="ar-SA" sz="2800" dirty="0"/>
          </a:p>
        </p:txBody>
      </p:sp>
      <p:sp>
        <p:nvSpPr>
          <p:cNvPr id="3" name="Text 1"/>
          <p:cNvSpPr txBox="1"/>
          <p:nvPr/>
        </p:nvSpPr>
        <p:spPr>
          <a:xfrm>
            <a:off x="548640" y="868680"/>
            <a:ext cx="8046720" cy="274320"/>
          </a:xfrm>
          <a:prstGeom prst="rect">
            <a:avLst/>
          </a:prstGeom>
          <a:noFill/>
          <a:ln/>
        </p:spPr>
        <p:txBody>
          <a:bodyPr wrap="square" lIns="0" tIns="0" rIns="0" bIns="0" rtlCol="0" anchor="t"/>
          <a:lstStyle/>
          <a:p>
            <a:pPr algn="r" indent="0" marL="0">
              <a:buNone/>
            </a:pPr>
            <a:r>
              <a:rPr lang="en-US" altLang="en-US" sz="1100" dirty="0">
                <a:solidFill>
                  <a:srgbClr val="5B6573"/>
                </a:solidFill>
                <a:latin typeface="Arial" pitchFamily="34" charset="0"/>
                <a:ea typeface="Arial" pitchFamily="34" charset="-122"/>
                <a:cs typeface="Arial" pitchFamily="34" charset="-120"/>
              </a:rPr>
              <a:t>About the project</a:t>
            </a:r>
            <a:endParaRPr lang="en-US" sz="1100" dirty="0"/>
          </a:p>
        </p:txBody>
      </p:sp>
      <p:sp>
        <p:nvSpPr>
          <p:cNvPr id="4" name="Shape 2"/>
          <p:cNvSpPr/>
          <p:nvPr/>
        </p:nvSpPr>
        <p:spPr>
          <a:xfrm>
            <a:off x="548640" y="347472"/>
            <a:ext cx="411480" cy="411480"/>
          </a:xfrm>
          <a:prstGeom prst="roundRect">
            <a:avLst>
              <a:gd name="adj" fmla="val 25000"/>
            </a:avLst>
          </a:prstGeom>
          <a:solidFill>
            <a:srgbClr val="1E3967"/>
          </a:solidFill>
          <a:ln/>
        </p:spPr>
      </p:sp>
      <p:sp>
        <p:nvSpPr>
          <p:cNvPr id="5" name="Shape 3"/>
          <p:cNvSpPr/>
          <p:nvPr/>
        </p:nvSpPr>
        <p:spPr>
          <a:xfrm>
            <a:off x="622706" y="396850"/>
            <a:ext cx="213970" cy="213970"/>
          </a:xfrm>
          <a:prstGeom prst="diamond">
            <a:avLst/>
          </a:prstGeom>
          <a:solidFill>
            <a:srgbClr val="C9A24C"/>
          </a:solidFill>
          <a:ln w="12700">
            <a:solidFill>
              <a:srgbClr val="C9A24C"/>
            </a:solidFill>
            <a:prstDash val="solid"/>
          </a:ln>
        </p:spPr>
      </p:sp>
      <p:sp>
        <p:nvSpPr>
          <p:cNvPr id="6" name="Shape 4"/>
          <p:cNvSpPr/>
          <p:nvPr/>
        </p:nvSpPr>
        <p:spPr>
          <a:xfrm>
            <a:off x="795528" y="586130"/>
            <a:ext cx="106985" cy="106985"/>
          </a:xfrm>
          <a:prstGeom prst="diamond">
            <a:avLst/>
          </a:prstGeom>
          <a:solidFill>
            <a:srgbClr val="FFFFFF">
              <a:alpha val="75000"/>
            </a:srgbClr>
          </a:solidFill>
          <a:ln w="12700">
            <a:solidFill>
              <a:srgbClr val="FFFFFF">
                <a:alpha val="75000"/>
              </a:srgbClr>
            </a:solidFill>
            <a:prstDash val="solid"/>
          </a:ln>
        </p:spPr>
      </p:sp>
      <p:sp>
        <p:nvSpPr>
          <p:cNvPr id="7" name="Text 5"/>
          <p:cNvSpPr txBox="1"/>
          <p:nvPr/>
        </p:nvSpPr>
        <p:spPr>
          <a:xfrm>
            <a:off x="548640" y="4754880"/>
            <a:ext cx="2743200" cy="228600"/>
          </a:xfrm>
          <a:prstGeom prst="rect">
            <a:avLst/>
          </a:prstGeom>
          <a:noFill/>
          <a:ln/>
        </p:spPr>
        <p:txBody>
          <a:bodyPr wrap="square" lIns="0" tIns="0" rIns="0" bIns="0" rtlCol="0" anchor="t"/>
          <a:lstStyle/>
          <a:p>
            <a:pPr rtl="1" algn="l" indent="0" marL="0">
              <a:buNone/>
            </a:pPr>
            <a:r>
              <a:rPr lang="ar-SA" altLang="en-US" sz="900" dirty="0">
                <a:solidFill>
                  <a:srgbClr val="5B6573"/>
                </a:solidFill>
                <a:latin typeface="Arial" pitchFamily="34" charset="0"/>
                <a:ea typeface="Arial" pitchFamily="34" charset="-122"/>
                <a:cs typeface="Arial" pitchFamily="34" charset="-120"/>
              </a:rPr>
              <a:t>بديهة · ملف المشروع</a:t>
            </a:r>
            <a:endParaRPr lang="ar-SA" sz="900" dirty="0"/>
          </a:p>
        </p:txBody>
      </p:sp>
      <p:sp>
        <p:nvSpPr>
          <p:cNvPr id="8" name="Text 6"/>
          <p:cNvSpPr txBox="1"/>
          <p:nvPr/>
        </p:nvSpPr>
        <p:spPr>
          <a:xfrm>
            <a:off x="4023360" y="1325880"/>
            <a:ext cx="4572000" cy="3291840"/>
          </a:xfrm>
          <a:prstGeom prst="rect">
            <a:avLst/>
          </a:prstGeom>
          <a:noFill/>
          <a:ln/>
        </p:spPr>
        <p:txBody>
          <a:bodyPr wrap="square" lIns="0" tIns="0" rIns="0" bIns="0" rtlCol="0" anchor="t"/>
          <a:lstStyle/>
          <a:p>
            <a:pPr rtl="1" algn="r" indent="0" marL="0">
              <a:lnSpc>
                <a:spcPct val="120000"/>
              </a:lnSpc>
              <a:buNone/>
            </a:pPr>
            <a:r>
              <a:rPr lang="ar-SA" altLang="en-US" sz="1200" dirty="0">
                <a:solidFill>
                  <a:srgbClr val="1B2330"/>
                </a:solidFill>
                <a:latin typeface="Arial" pitchFamily="34" charset="0"/>
                <a:ea typeface="Arial" pitchFamily="34" charset="-122"/>
                <a:cs typeface="Arial" pitchFamily="34" charset="-120"/>
              </a:rPr>
              <a:t>بديهة منصة سعودية تعمل في الإنتاج اليوم. ترفع الشركة لوائحها وسياساتها وأدلة إجراءاتها، فيسأل موظفوها بالعربية ويحصلون على إجابات مبنية على تلك المستندات وحدها، مع اسم المستند ورقم الصفحة تحت كل إجابة.</a:t>
            </a:r>
            <a:endParaRPr lang="ar-SA" sz="1200" dirty="0"/>
          </a:p>
          <a:p>
            <a:pPr rtl="1" algn="r" indent="0" marL="0">
              <a:lnSpc>
                <a:spcPct val="120000"/>
              </a:lnSpc>
              <a:buNone/>
            </a:pPr>
            <a:endParaRPr lang="ar-SA" sz="1200" dirty="0"/>
          </a:p>
          <a:p>
            <a:pPr rtl="1" algn="r" indent="0" marL="0">
              <a:lnSpc>
                <a:spcPct val="120000"/>
              </a:lnSpc>
              <a:buNone/>
            </a:pPr>
            <a:r>
              <a:rPr lang="ar-SA" altLang="en-US" sz="1200" dirty="0">
                <a:solidFill>
                  <a:srgbClr val="1B2330"/>
                </a:solidFill>
                <a:latin typeface="Arial" pitchFamily="34" charset="0"/>
                <a:ea typeface="Arial" pitchFamily="34" charset="-122"/>
                <a:cs typeface="Arial" pitchFamily="34" charset="-120"/>
              </a:rPr>
              <a:t>حين لا يجد النظام جوابًا يقول ذلك صراحةً بدل أن يخترع، ويسجّل السؤال ضمن تقرير فجوات المعرفة الذي يوجّه الإدارة إلى ما ينقص توثيقه.</a:t>
            </a:r>
            <a:endParaRPr lang="ar-SA" sz="1200" dirty="0"/>
          </a:p>
          <a:p>
            <a:pPr rtl="1" algn="r" indent="0" marL="0">
              <a:lnSpc>
                <a:spcPct val="120000"/>
              </a:lnSpc>
              <a:buNone/>
            </a:pPr>
            <a:endParaRPr lang="ar-SA" sz="1200" dirty="0"/>
          </a:p>
          <a:p>
            <a:pPr rtl="1" algn="r" indent="0" marL="0">
              <a:lnSpc>
                <a:spcPct val="120000"/>
              </a:lnSpc>
              <a:buNone/>
            </a:pPr>
            <a:r>
              <a:rPr lang="ar-SA" altLang="en-US" sz="1200" dirty="0">
                <a:solidFill>
                  <a:srgbClr val="1B2330"/>
                </a:solidFill>
                <a:latin typeface="Arial" pitchFamily="34" charset="0"/>
                <a:ea typeface="Arial" pitchFamily="34" charset="-122"/>
                <a:cs typeface="Arial" pitchFamily="34" charset="-120"/>
              </a:rPr>
              <a:t>المنصة متعددة المستأجرين: كل شركة معزولة عن الأخرى في قاعدة البيانات نفسها، والصلاحيات على مستوى المستند (الشركة، القسم، الدور).</a:t>
            </a:r>
            <a:endParaRPr lang="ar-SA" sz="1200" dirty="0"/>
          </a:p>
          <a:p>
            <a:pPr rtl="1" algn="r" indent="0" marL="0">
              <a:lnSpc>
                <a:spcPct val="120000"/>
              </a:lnSpc>
              <a:buNone/>
            </a:pPr>
            <a:endParaRPr lang="ar-SA" sz="1200" dirty="0"/>
          </a:p>
          <a:p>
            <a:pPr rtl="1" algn="r" indent="0" marL="0">
              <a:lnSpc>
                <a:spcPct val="120000"/>
              </a:lnSpc>
              <a:buNone/>
            </a:pPr>
            <a:r>
              <a:rPr lang="ar-SA" altLang="en-US" sz="1200" dirty="0">
                <a:solidFill>
                  <a:srgbClr val="1B2330"/>
                </a:solidFill>
                <a:latin typeface="Arial" pitchFamily="34" charset="0"/>
                <a:ea typeface="Arial" pitchFamily="34" charset="-122"/>
                <a:cs typeface="Arial" pitchFamily="34" charset="-120"/>
              </a:rPr>
              <a:t>النشاط: تطوير وتشغيل منصة سحابية (SaaS) تُباع باشتراك شهري أو سنوي لمنشآت القطاع الخاص في المملكة.</a:t>
            </a:r>
            <a:endParaRPr lang="ar-SA" sz="1200" dirty="0"/>
          </a:p>
        </p:txBody>
      </p:sp>
      <p:sp>
        <p:nvSpPr>
          <p:cNvPr id="9" name="Shape 7"/>
          <p:cNvSpPr/>
          <p:nvPr/>
        </p:nvSpPr>
        <p:spPr>
          <a:xfrm>
            <a:off x="548640" y="1325880"/>
            <a:ext cx="3200400" cy="3200400"/>
          </a:xfrm>
          <a:prstGeom prst="roundRect">
            <a:avLst>
              <a:gd name="adj" fmla="val 4286"/>
            </a:avLst>
          </a:prstGeom>
          <a:solidFill>
            <a:srgbClr val="FFFFFF"/>
          </a:solidFill>
          <a:ln w="12700">
            <a:solidFill>
              <a:srgbClr val="D9DEE7"/>
            </a:solidFill>
            <a:prstDash val="solid"/>
          </a:ln>
          <a:effectLst>
            <a:outerShdw sx="100000" sy="100000" kx="0" ky="0" algn="bl" rotWithShape="0" blurRad="76200" dist="25400" dir="5400000">
              <a:srgbClr val="000000">
                <a:alpha val="12000"/>
              </a:srgbClr>
            </a:outerShdw>
          </a:effectLst>
        </p:spPr>
      </p:sp>
      <p:sp>
        <p:nvSpPr>
          <p:cNvPr id="10" name="Shape 8"/>
          <p:cNvSpPr/>
          <p:nvPr/>
        </p:nvSpPr>
        <p:spPr>
          <a:xfrm>
            <a:off x="914400" y="1600200"/>
            <a:ext cx="2468880" cy="457200"/>
          </a:xfrm>
          <a:prstGeom prst="roundRect">
            <a:avLst>
              <a:gd name="adj" fmla="val 20000"/>
            </a:avLst>
          </a:prstGeom>
          <a:solidFill>
            <a:srgbClr val="E9EEF6"/>
          </a:solidFill>
          <a:ln w="12700">
            <a:solidFill>
              <a:srgbClr val="E9EEF6"/>
            </a:solidFill>
            <a:prstDash val="solid"/>
          </a:ln>
        </p:spPr>
      </p:sp>
      <p:sp>
        <p:nvSpPr>
          <p:cNvPr id="11" name="Text 9"/>
          <p:cNvSpPr txBox="1"/>
          <p:nvPr/>
        </p:nvSpPr>
        <p:spPr>
          <a:xfrm>
            <a:off x="1005840" y="1691640"/>
            <a:ext cx="2286000" cy="274320"/>
          </a:xfrm>
          <a:prstGeom prst="rect">
            <a:avLst/>
          </a:prstGeom>
          <a:noFill/>
          <a:ln/>
        </p:spPr>
        <p:txBody>
          <a:bodyPr wrap="square" lIns="0" tIns="0" rIns="0" bIns="0" rtlCol="0" anchor="t"/>
          <a:lstStyle/>
          <a:p>
            <a:pPr rtl="1" algn="r" indent="0" marL="0">
              <a:buNone/>
            </a:pPr>
            <a:r>
              <a:rPr lang="ar-SA" altLang="en-US" sz="1000" dirty="0">
                <a:solidFill>
                  <a:srgbClr val="1B2330"/>
                </a:solidFill>
                <a:latin typeface="Arial" pitchFamily="34" charset="0"/>
                <a:ea typeface="Arial" pitchFamily="34" charset="-122"/>
                <a:cs typeface="Arial" pitchFamily="34" charset="-120"/>
              </a:rPr>
              <a:t>كم مدة الإجازة السنوية؟</a:t>
            </a:r>
            <a:endParaRPr lang="ar-SA" sz="1000" dirty="0"/>
          </a:p>
        </p:txBody>
      </p:sp>
      <p:sp>
        <p:nvSpPr>
          <p:cNvPr id="12" name="Shape 10"/>
          <p:cNvSpPr/>
          <p:nvPr/>
        </p:nvSpPr>
        <p:spPr>
          <a:xfrm>
            <a:off x="731520" y="2240280"/>
            <a:ext cx="2834640" cy="1371600"/>
          </a:xfrm>
          <a:prstGeom prst="roundRect">
            <a:avLst>
              <a:gd name="adj" fmla="val 6667"/>
            </a:avLst>
          </a:prstGeom>
          <a:solidFill>
            <a:srgbClr val="FFFFFF"/>
          </a:solidFill>
          <a:ln w="12700">
            <a:solidFill>
              <a:srgbClr val="D9DEE7"/>
            </a:solidFill>
            <a:prstDash val="solid"/>
          </a:ln>
        </p:spPr>
      </p:sp>
      <p:sp>
        <p:nvSpPr>
          <p:cNvPr id="13" name="Text 11"/>
          <p:cNvSpPr txBox="1"/>
          <p:nvPr/>
        </p:nvSpPr>
        <p:spPr>
          <a:xfrm>
            <a:off x="868680" y="2331720"/>
            <a:ext cx="2560320" cy="640080"/>
          </a:xfrm>
          <a:prstGeom prst="rect">
            <a:avLst/>
          </a:prstGeom>
          <a:noFill/>
          <a:ln/>
        </p:spPr>
        <p:txBody>
          <a:bodyPr wrap="square" lIns="0" tIns="0" rIns="0" bIns="0" rtlCol="0" anchor="t"/>
          <a:lstStyle/>
          <a:p>
            <a:pPr rtl="1" algn="r" indent="0" marL="0">
              <a:lnSpc>
                <a:spcPct val="115000"/>
              </a:lnSpc>
              <a:buNone/>
            </a:pPr>
            <a:r>
              <a:rPr lang="ar-SA" altLang="en-US" sz="1000" dirty="0">
                <a:solidFill>
                  <a:srgbClr val="1B2330"/>
                </a:solidFill>
                <a:latin typeface="Arial" pitchFamily="34" charset="0"/>
                <a:ea typeface="Arial" pitchFamily="34" charset="-122"/>
                <a:cs typeface="Arial" pitchFamily="34" charset="-120"/>
              </a:rPr>
              <a:t>٣٠ يومًا بعد إتمام خمس سنوات من الخدمة، و٢١ يومًا قبل ذلك.</a:t>
            </a:r>
            <a:endParaRPr lang="ar-SA" sz="1000" dirty="0"/>
          </a:p>
        </p:txBody>
      </p:sp>
      <p:sp>
        <p:nvSpPr>
          <p:cNvPr id="14" name="Shape 12"/>
          <p:cNvSpPr/>
          <p:nvPr/>
        </p:nvSpPr>
        <p:spPr>
          <a:xfrm>
            <a:off x="1737360" y="3108960"/>
            <a:ext cx="1691640" cy="292608"/>
          </a:xfrm>
          <a:prstGeom prst="roundRect">
            <a:avLst>
              <a:gd name="adj" fmla="val 50000"/>
            </a:avLst>
          </a:prstGeom>
          <a:solidFill>
            <a:srgbClr val="E9EEF6"/>
          </a:solidFill>
          <a:ln w="12700">
            <a:solidFill>
              <a:srgbClr val="E9EEF6"/>
            </a:solidFill>
            <a:prstDash val="solid"/>
          </a:ln>
        </p:spPr>
      </p:sp>
      <p:sp>
        <p:nvSpPr>
          <p:cNvPr id="15" name="Text 13"/>
          <p:cNvSpPr txBox="1"/>
          <p:nvPr/>
        </p:nvSpPr>
        <p:spPr>
          <a:xfrm>
            <a:off x="1783080" y="3154680"/>
            <a:ext cx="1600200" cy="228600"/>
          </a:xfrm>
          <a:prstGeom prst="rect">
            <a:avLst/>
          </a:prstGeom>
          <a:noFill/>
          <a:ln/>
        </p:spPr>
        <p:txBody>
          <a:bodyPr wrap="square" lIns="0" tIns="0" rIns="0" bIns="0" rtlCol="0" anchor="t"/>
          <a:lstStyle/>
          <a:p>
            <a:pPr rtl="1" algn="ctr" indent="0" marL="0">
              <a:buNone/>
            </a:pPr>
            <a:r>
              <a:rPr lang="ar-SA" altLang="en-US" sz="800" dirty="0">
                <a:solidFill>
                  <a:srgbClr val="1E3967"/>
                </a:solidFill>
                <a:latin typeface="Arial" pitchFamily="34" charset="0"/>
                <a:ea typeface="Arial" pitchFamily="34" charset="-122"/>
                <a:cs typeface="Arial" pitchFamily="34" charset="-120"/>
              </a:rPr>
              <a:t>لائحة الموارد البشرية · ص ١٢</a:t>
            </a:r>
            <a:endParaRPr lang="ar-SA" sz="800" dirty="0"/>
          </a:p>
        </p:txBody>
      </p:sp>
      <p:sp>
        <p:nvSpPr>
          <p:cNvPr id="16" name="Text 14"/>
          <p:cNvSpPr txBox="1"/>
          <p:nvPr/>
        </p:nvSpPr>
        <p:spPr>
          <a:xfrm>
            <a:off x="868680" y="3154680"/>
            <a:ext cx="822960" cy="228600"/>
          </a:xfrm>
          <a:prstGeom prst="rect">
            <a:avLst/>
          </a:prstGeom>
          <a:noFill/>
          <a:ln/>
        </p:spPr>
        <p:txBody>
          <a:bodyPr wrap="square" lIns="0" tIns="0" rIns="0" bIns="0" rtlCol="0" anchor="t"/>
          <a:lstStyle/>
          <a:p>
            <a:pPr rtl="1" algn="l" indent="0" marL="0">
              <a:buNone/>
            </a:pPr>
            <a:r>
              <a:rPr lang="ar-SA" altLang="en-US" sz="800" b="1" dirty="0">
                <a:solidFill>
                  <a:srgbClr val="1E7F4F"/>
                </a:solidFill>
                <a:latin typeface="Arial" pitchFamily="34" charset="0"/>
                <a:ea typeface="Arial" pitchFamily="34" charset="-122"/>
                <a:cs typeface="Arial" pitchFamily="34" charset="-120"/>
              </a:rPr>
              <a:t>ثقة عالية ✓</a:t>
            </a:r>
            <a:endParaRPr lang="ar-SA" sz="800" dirty="0"/>
          </a:p>
        </p:txBody>
      </p:sp>
      <p:sp>
        <p:nvSpPr>
          <p:cNvPr id="17" name="Shape 15"/>
          <p:cNvSpPr/>
          <p:nvPr/>
        </p:nvSpPr>
        <p:spPr>
          <a:xfrm>
            <a:off x="731520" y="3840480"/>
            <a:ext cx="2834640" cy="411480"/>
          </a:xfrm>
          <a:prstGeom prst="roundRect">
            <a:avLst>
              <a:gd name="adj" fmla="val 22222"/>
            </a:avLst>
          </a:prstGeom>
          <a:solidFill>
            <a:srgbClr val="FFFFFF"/>
          </a:solidFill>
          <a:ln w="12700">
            <a:solidFill>
              <a:srgbClr val="D9DEE7"/>
            </a:solidFill>
            <a:prstDash val="solid"/>
          </a:ln>
        </p:spPr>
      </p:sp>
      <p:sp>
        <p:nvSpPr>
          <p:cNvPr id="18" name="Text 16"/>
          <p:cNvSpPr txBox="1"/>
          <p:nvPr/>
        </p:nvSpPr>
        <p:spPr>
          <a:xfrm>
            <a:off x="868680" y="3931920"/>
            <a:ext cx="2560320" cy="228600"/>
          </a:xfrm>
          <a:prstGeom prst="rect">
            <a:avLst/>
          </a:prstGeom>
          <a:noFill/>
          <a:ln/>
        </p:spPr>
        <p:txBody>
          <a:bodyPr wrap="square" lIns="0" tIns="0" rIns="0" bIns="0" rtlCol="0" anchor="t"/>
          <a:lstStyle/>
          <a:p>
            <a:pPr rtl="1" algn="r" indent="0" marL="0">
              <a:buNone/>
            </a:pPr>
            <a:r>
              <a:rPr lang="ar-SA" altLang="en-US" sz="900" dirty="0">
                <a:solidFill>
                  <a:srgbClr val="5B6573"/>
                </a:solidFill>
                <a:latin typeface="Arial" pitchFamily="34" charset="0"/>
                <a:ea typeface="Arial" pitchFamily="34" charset="-122"/>
                <a:cs typeface="Arial" pitchFamily="34" charset="-120"/>
              </a:rPr>
              <a:t>اسأل عن سياسة أو إجراء…</a:t>
            </a:r>
            <a:endParaRPr lang="ar-SA"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88720" y="320040"/>
            <a:ext cx="7406640" cy="548640"/>
          </a:xfrm>
          <a:prstGeom prst="rect">
            <a:avLst/>
          </a:prstGeom>
          <a:noFill/>
          <a:ln/>
        </p:spPr>
        <p:txBody>
          <a:bodyPr wrap="square" lIns="0" tIns="0" rIns="0" bIns="0" rtlCol="0" anchor="t"/>
          <a:lstStyle/>
          <a:p>
            <a:pPr rtl="1" algn="r" indent="0" marL="0">
              <a:buNone/>
            </a:pPr>
            <a:r>
              <a:rPr lang="ar-SA" altLang="en-US" sz="2800" b="1" dirty="0">
                <a:solidFill>
                  <a:srgbClr val="1E3967"/>
                </a:solidFill>
                <a:latin typeface="Arial" pitchFamily="34" charset="0"/>
                <a:ea typeface="Arial" pitchFamily="34" charset="-122"/>
                <a:cs typeface="Arial" pitchFamily="34" charset="-120"/>
              </a:rPr>
              <a:t>القيمة المضافة والحلول الأساسية</a:t>
            </a:r>
            <a:endParaRPr lang="ar-SA" sz="2800" dirty="0"/>
          </a:p>
        </p:txBody>
      </p:sp>
      <p:sp>
        <p:nvSpPr>
          <p:cNvPr id="3" name="Text 1"/>
          <p:cNvSpPr txBox="1"/>
          <p:nvPr/>
        </p:nvSpPr>
        <p:spPr>
          <a:xfrm>
            <a:off x="548640" y="868680"/>
            <a:ext cx="8046720" cy="274320"/>
          </a:xfrm>
          <a:prstGeom prst="rect">
            <a:avLst/>
          </a:prstGeom>
          <a:noFill/>
          <a:ln/>
        </p:spPr>
        <p:txBody>
          <a:bodyPr wrap="square" lIns="0" tIns="0" rIns="0" bIns="0" rtlCol="0" anchor="t"/>
          <a:lstStyle/>
          <a:p>
            <a:pPr algn="r" indent="0" marL="0">
              <a:buNone/>
            </a:pPr>
            <a:r>
              <a:rPr lang="en-US" altLang="en-US" sz="1100" dirty="0">
                <a:solidFill>
                  <a:srgbClr val="5B6573"/>
                </a:solidFill>
                <a:latin typeface="Arial" pitchFamily="34" charset="0"/>
                <a:ea typeface="Arial" pitchFamily="34" charset="-122"/>
                <a:cs typeface="Arial" pitchFamily="34" charset="-120"/>
              </a:rPr>
              <a:t>Value &amp; core solutions</a:t>
            </a:r>
            <a:endParaRPr lang="en-US" sz="1100" dirty="0"/>
          </a:p>
        </p:txBody>
      </p:sp>
      <p:sp>
        <p:nvSpPr>
          <p:cNvPr id="4" name="Shape 2"/>
          <p:cNvSpPr/>
          <p:nvPr/>
        </p:nvSpPr>
        <p:spPr>
          <a:xfrm>
            <a:off x="548640" y="347472"/>
            <a:ext cx="411480" cy="411480"/>
          </a:xfrm>
          <a:prstGeom prst="roundRect">
            <a:avLst>
              <a:gd name="adj" fmla="val 25000"/>
            </a:avLst>
          </a:prstGeom>
          <a:solidFill>
            <a:srgbClr val="1E3967"/>
          </a:solidFill>
          <a:ln/>
        </p:spPr>
      </p:sp>
      <p:sp>
        <p:nvSpPr>
          <p:cNvPr id="5" name="Shape 3"/>
          <p:cNvSpPr/>
          <p:nvPr/>
        </p:nvSpPr>
        <p:spPr>
          <a:xfrm>
            <a:off x="622706" y="396850"/>
            <a:ext cx="213970" cy="213970"/>
          </a:xfrm>
          <a:prstGeom prst="diamond">
            <a:avLst/>
          </a:prstGeom>
          <a:solidFill>
            <a:srgbClr val="C9A24C"/>
          </a:solidFill>
          <a:ln w="12700">
            <a:solidFill>
              <a:srgbClr val="C9A24C"/>
            </a:solidFill>
            <a:prstDash val="solid"/>
          </a:ln>
        </p:spPr>
      </p:sp>
      <p:sp>
        <p:nvSpPr>
          <p:cNvPr id="6" name="Shape 4"/>
          <p:cNvSpPr/>
          <p:nvPr/>
        </p:nvSpPr>
        <p:spPr>
          <a:xfrm>
            <a:off x="795528" y="586130"/>
            <a:ext cx="106985" cy="106985"/>
          </a:xfrm>
          <a:prstGeom prst="diamond">
            <a:avLst/>
          </a:prstGeom>
          <a:solidFill>
            <a:srgbClr val="FFFFFF">
              <a:alpha val="75000"/>
            </a:srgbClr>
          </a:solidFill>
          <a:ln w="12700">
            <a:solidFill>
              <a:srgbClr val="FFFFFF">
                <a:alpha val="75000"/>
              </a:srgbClr>
            </a:solidFill>
            <a:prstDash val="solid"/>
          </a:ln>
        </p:spPr>
      </p:sp>
      <p:sp>
        <p:nvSpPr>
          <p:cNvPr id="7" name="Text 5"/>
          <p:cNvSpPr txBox="1"/>
          <p:nvPr/>
        </p:nvSpPr>
        <p:spPr>
          <a:xfrm>
            <a:off x="548640" y="4754880"/>
            <a:ext cx="2743200" cy="228600"/>
          </a:xfrm>
          <a:prstGeom prst="rect">
            <a:avLst/>
          </a:prstGeom>
          <a:noFill/>
          <a:ln/>
        </p:spPr>
        <p:txBody>
          <a:bodyPr wrap="square" lIns="0" tIns="0" rIns="0" bIns="0" rtlCol="0" anchor="t"/>
          <a:lstStyle/>
          <a:p>
            <a:pPr rtl="1" algn="l" indent="0" marL="0">
              <a:buNone/>
            </a:pPr>
            <a:r>
              <a:rPr lang="ar-SA" altLang="en-US" sz="900" dirty="0">
                <a:solidFill>
                  <a:srgbClr val="5B6573"/>
                </a:solidFill>
                <a:latin typeface="Arial" pitchFamily="34" charset="0"/>
                <a:ea typeface="Arial" pitchFamily="34" charset="-122"/>
                <a:cs typeface="Arial" pitchFamily="34" charset="-120"/>
              </a:rPr>
              <a:t>بديهة · ملف المشروع</a:t>
            </a:r>
            <a:endParaRPr lang="ar-SA" sz="900" dirty="0"/>
          </a:p>
        </p:txBody>
      </p:sp>
      <p:sp>
        <p:nvSpPr>
          <p:cNvPr id="8" name="Shape 6"/>
          <p:cNvSpPr/>
          <p:nvPr/>
        </p:nvSpPr>
        <p:spPr>
          <a:xfrm>
            <a:off x="4663440" y="1325880"/>
            <a:ext cx="3931920" cy="3291840"/>
          </a:xfrm>
          <a:prstGeom prst="roundRect">
            <a:avLst>
              <a:gd name="adj" fmla="val 3333"/>
            </a:avLst>
          </a:prstGeom>
          <a:solidFill>
            <a:srgbClr val="E9EEF6"/>
          </a:solidFill>
          <a:ln w="12700">
            <a:solidFill>
              <a:srgbClr val="E9EEF6"/>
            </a:solidFill>
            <a:prstDash val="solid"/>
          </a:ln>
        </p:spPr>
      </p:sp>
      <p:sp>
        <p:nvSpPr>
          <p:cNvPr id="9" name="Text 7"/>
          <p:cNvSpPr txBox="1"/>
          <p:nvPr/>
        </p:nvSpPr>
        <p:spPr>
          <a:xfrm>
            <a:off x="4846320" y="1463040"/>
            <a:ext cx="3566160" cy="320040"/>
          </a:xfrm>
          <a:prstGeom prst="rect">
            <a:avLst/>
          </a:prstGeom>
          <a:noFill/>
          <a:ln/>
        </p:spPr>
        <p:txBody>
          <a:bodyPr wrap="square" lIns="0" tIns="0" rIns="0" bIns="0" rtlCol="0" anchor="t"/>
          <a:lstStyle/>
          <a:p>
            <a:pPr rtl="1" algn="r" indent="0" marL="0">
              <a:buNone/>
            </a:pPr>
            <a:r>
              <a:rPr lang="ar-SA" altLang="en-US" sz="1400" b="1" dirty="0">
                <a:solidFill>
                  <a:srgbClr val="1E3967"/>
                </a:solidFill>
                <a:latin typeface="Arial" pitchFamily="34" charset="0"/>
                <a:ea typeface="Arial" pitchFamily="34" charset="-122"/>
                <a:cs typeface="Arial" pitchFamily="34" charset="-120"/>
              </a:rPr>
              <a:t>القيمة المضافة</a:t>
            </a:r>
            <a:endParaRPr lang="ar-SA" sz="1400" dirty="0"/>
          </a:p>
        </p:txBody>
      </p:sp>
      <p:sp>
        <p:nvSpPr>
          <p:cNvPr id="10" name="Text 8"/>
          <p:cNvSpPr txBox="1"/>
          <p:nvPr/>
        </p:nvSpPr>
        <p:spPr>
          <a:xfrm>
            <a:off x="4846320" y="1828800"/>
            <a:ext cx="3566160" cy="2651760"/>
          </a:xfrm>
          <a:prstGeom prst="rect">
            <a:avLst/>
          </a:prstGeom>
          <a:noFill/>
          <a:ln/>
        </p:spPr>
        <p:txBody>
          <a:bodyPr wrap="square" lIns="0" tIns="0" rIns="0" bIns="0" rtlCol="0" anchor="t"/>
          <a:lstStyle/>
          <a:p>
            <a:pPr rtl="1" algn="r" indent="0" marL="0">
              <a:lnSpc>
                <a:spcPct val="115000"/>
              </a:lnSpc>
              <a:buNone/>
            </a:pPr>
            <a:r>
              <a:rPr lang="ar-SA" altLang="en-US" sz="1150" dirty="0">
                <a:solidFill>
                  <a:srgbClr val="1B2330"/>
                </a:solidFill>
                <a:latin typeface="Arial" pitchFamily="34" charset="0"/>
                <a:ea typeface="Arial" pitchFamily="34" charset="-122"/>
                <a:cs typeface="Arial" pitchFamily="34" charset="-120"/>
              </a:rPr>
              <a:t>• جواب موثّق في ثوانٍ بدل سؤال زميل أو البحث في عشرات الملفات.</a:t>
            </a:r>
            <a:endParaRPr lang="ar-SA" sz="1150" dirty="0"/>
          </a:p>
          <a:p>
            <a:pPr rtl="1" algn="r" indent="0" marL="0">
              <a:lnSpc>
                <a:spcPct val="115000"/>
              </a:lnSpc>
              <a:buNone/>
            </a:pPr>
            <a:endParaRPr lang="ar-SA" sz="1150" dirty="0"/>
          </a:p>
          <a:p>
            <a:pPr rtl="1" algn="r" indent="0" marL="0">
              <a:lnSpc>
                <a:spcPct val="115000"/>
              </a:lnSpc>
              <a:buNone/>
            </a:pPr>
            <a:r>
              <a:rPr lang="ar-SA" altLang="en-US" sz="1150" dirty="0">
                <a:solidFill>
                  <a:srgbClr val="1B2330"/>
                </a:solidFill>
                <a:latin typeface="Arial" pitchFamily="34" charset="0"/>
                <a:ea typeface="Arial" pitchFamily="34" charset="-122"/>
                <a:cs typeface="Arial" pitchFamily="34" charset="-120"/>
              </a:rPr>
              <a:t>• توقّف تكرار الأسئلة نفسها على الموارد البشرية والعمليات.</a:t>
            </a:r>
            <a:endParaRPr lang="ar-SA" sz="1150" dirty="0"/>
          </a:p>
          <a:p>
            <a:pPr rtl="1" algn="r" indent="0" marL="0">
              <a:lnSpc>
                <a:spcPct val="115000"/>
              </a:lnSpc>
              <a:buNone/>
            </a:pPr>
            <a:endParaRPr lang="ar-SA" sz="1150" dirty="0"/>
          </a:p>
          <a:p>
            <a:pPr rtl="1" algn="r" indent="0" marL="0">
              <a:lnSpc>
                <a:spcPct val="115000"/>
              </a:lnSpc>
              <a:buNone/>
            </a:pPr>
            <a:r>
              <a:rPr lang="ar-SA" altLang="en-US" sz="1150" dirty="0">
                <a:solidFill>
                  <a:srgbClr val="1B2330"/>
                </a:solidFill>
                <a:latin typeface="Arial" pitchFamily="34" charset="0"/>
                <a:ea typeface="Arial" pitchFamily="34" charset="-122"/>
                <a:cs typeface="Arial" pitchFamily="34" charset="-120"/>
              </a:rPr>
              <a:t>• إجابات لا تخترع: المصدر تحت كل جواب، والأرقام مدقَّقة.</a:t>
            </a:r>
            <a:endParaRPr lang="ar-SA" sz="1150" dirty="0"/>
          </a:p>
          <a:p>
            <a:pPr rtl="1" algn="r" indent="0" marL="0">
              <a:lnSpc>
                <a:spcPct val="115000"/>
              </a:lnSpc>
              <a:buNone/>
            </a:pPr>
            <a:endParaRPr lang="ar-SA" sz="1150" dirty="0"/>
          </a:p>
          <a:p>
            <a:pPr rtl="1" algn="r" indent="0" marL="0">
              <a:lnSpc>
                <a:spcPct val="115000"/>
              </a:lnSpc>
              <a:buNone/>
            </a:pPr>
            <a:r>
              <a:rPr lang="ar-SA" altLang="en-US" sz="1150" dirty="0">
                <a:solidFill>
                  <a:srgbClr val="1B2330"/>
                </a:solidFill>
                <a:latin typeface="Arial" pitchFamily="34" charset="0"/>
                <a:ea typeface="Arial" pitchFamily="34" charset="-122"/>
                <a:cs typeface="Arial" pitchFamily="34" charset="-120"/>
              </a:rPr>
              <a:t>• رؤية للإدارة: ما يُسأل، وما لا جواب له، وأي مستند يُستشهد به.</a:t>
            </a:r>
            <a:endParaRPr lang="ar-SA" sz="1150" dirty="0"/>
          </a:p>
          <a:p>
            <a:pPr rtl="1" algn="r" indent="0" marL="0">
              <a:lnSpc>
                <a:spcPct val="115000"/>
              </a:lnSpc>
              <a:buNone/>
            </a:pPr>
            <a:endParaRPr lang="ar-SA" sz="1150" dirty="0"/>
          </a:p>
          <a:p>
            <a:pPr rtl="1" algn="r" indent="0" marL="0">
              <a:lnSpc>
                <a:spcPct val="115000"/>
              </a:lnSpc>
              <a:buNone/>
            </a:pPr>
            <a:r>
              <a:rPr lang="ar-SA" altLang="en-US" sz="1150" dirty="0">
                <a:solidFill>
                  <a:srgbClr val="1B2330"/>
                </a:solidFill>
                <a:latin typeface="Arial" pitchFamily="34" charset="0"/>
                <a:ea typeface="Arial" pitchFamily="34" charset="-122"/>
                <a:cs typeface="Arial" pitchFamily="34" charset="-120"/>
              </a:rPr>
              <a:t>• الأرشيف الممسوح ضوئيًا يصير قابلًا للسؤال.</a:t>
            </a:r>
            <a:endParaRPr lang="ar-SA" sz="1150" dirty="0"/>
          </a:p>
        </p:txBody>
      </p:sp>
      <p:sp>
        <p:nvSpPr>
          <p:cNvPr id="11" name="Shape 9"/>
          <p:cNvSpPr/>
          <p:nvPr/>
        </p:nvSpPr>
        <p:spPr>
          <a:xfrm>
            <a:off x="548640" y="1325880"/>
            <a:ext cx="3931920" cy="3291840"/>
          </a:xfrm>
          <a:prstGeom prst="roundRect">
            <a:avLst>
              <a:gd name="adj" fmla="val 3333"/>
            </a:avLst>
          </a:prstGeom>
          <a:solidFill>
            <a:srgbClr val="FFFFFF"/>
          </a:solidFill>
          <a:ln w="12700">
            <a:solidFill>
              <a:srgbClr val="FFFFFF"/>
            </a:solidFill>
            <a:prstDash val="solid"/>
          </a:ln>
        </p:spPr>
      </p:sp>
      <p:sp>
        <p:nvSpPr>
          <p:cNvPr id="12" name="Text 10"/>
          <p:cNvSpPr txBox="1"/>
          <p:nvPr/>
        </p:nvSpPr>
        <p:spPr>
          <a:xfrm>
            <a:off x="731520" y="1463040"/>
            <a:ext cx="3566160" cy="320040"/>
          </a:xfrm>
          <a:prstGeom prst="rect">
            <a:avLst/>
          </a:prstGeom>
          <a:noFill/>
          <a:ln/>
        </p:spPr>
        <p:txBody>
          <a:bodyPr wrap="square" lIns="0" tIns="0" rIns="0" bIns="0" rtlCol="0" anchor="t"/>
          <a:lstStyle/>
          <a:p>
            <a:pPr rtl="1" algn="r" indent="0" marL="0">
              <a:buNone/>
            </a:pPr>
            <a:r>
              <a:rPr lang="ar-SA" altLang="en-US" sz="1400" b="1" dirty="0">
                <a:solidFill>
                  <a:srgbClr val="1E3967"/>
                </a:solidFill>
                <a:latin typeface="Arial" pitchFamily="34" charset="0"/>
                <a:ea typeface="Arial" pitchFamily="34" charset="-122"/>
                <a:cs typeface="Arial" pitchFamily="34" charset="-120"/>
              </a:rPr>
              <a:t>الحلول الأساسية</a:t>
            </a:r>
            <a:endParaRPr lang="ar-SA" sz="1400" dirty="0"/>
          </a:p>
        </p:txBody>
      </p:sp>
      <p:sp>
        <p:nvSpPr>
          <p:cNvPr id="13" name="Text 11"/>
          <p:cNvSpPr txBox="1"/>
          <p:nvPr/>
        </p:nvSpPr>
        <p:spPr>
          <a:xfrm>
            <a:off x="731520" y="1828800"/>
            <a:ext cx="3566160" cy="2651760"/>
          </a:xfrm>
          <a:prstGeom prst="rect">
            <a:avLst/>
          </a:prstGeom>
          <a:noFill/>
          <a:ln/>
        </p:spPr>
        <p:txBody>
          <a:bodyPr wrap="square" lIns="0" tIns="0" rIns="0" bIns="0" rtlCol="0" anchor="t"/>
          <a:lstStyle/>
          <a:p>
            <a:pPr rtl="1" algn="r" indent="0" marL="0">
              <a:lnSpc>
                <a:spcPct val="115000"/>
              </a:lnSpc>
              <a:buNone/>
            </a:pPr>
            <a:r>
              <a:rPr lang="ar-SA" altLang="en-US" sz="1150" dirty="0">
                <a:solidFill>
                  <a:srgbClr val="1B2330"/>
                </a:solidFill>
                <a:latin typeface="Arial" pitchFamily="34" charset="0"/>
                <a:ea typeface="Arial" pitchFamily="34" charset="-122"/>
                <a:cs typeface="Arial" pitchFamily="34" charset="-120"/>
              </a:rPr>
              <a:t>• المساعد الذكي: سؤال وجواب من مستندات الشركة مع المصادر وشارة الثقة.</a:t>
            </a:r>
            <a:endParaRPr lang="ar-SA" sz="1150" dirty="0"/>
          </a:p>
          <a:p>
            <a:pPr rtl="1" algn="r" indent="0" marL="0">
              <a:lnSpc>
                <a:spcPct val="115000"/>
              </a:lnSpc>
              <a:buNone/>
            </a:pPr>
            <a:endParaRPr lang="ar-SA" sz="1150" dirty="0"/>
          </a:p>
          <a:p>
            <a:pPr rtl="1" algn="r" indent="0" marL="0">
              <a:lnSpc>
                <a:spcPct val="115000"/>
              </a:lnSpc>
              <a:buNone/>
            </a:pPr>
            <a:r>
              <a:rPr lang="ar-SA" altLang="en-US" sz="1150" dirty="0">
                <a:solidFill>
                  <a:srgbClr val="1B2330"/>
                </a:solidFill>
                <a:latin typeface="Arial" pitchFamily="34" charset="0"/>
                <a:ea typeface="Arial" pitchFamily="34" charset="-122"/>
                <a:cs typeface="Arial" pitchFamily="34" charset="-120"/>
              </a:rPr>
              <a:t>• قاعدة المعرفة: تصنيفات وصلاحيات على مستوى المستند.</a:t>
            </a:r>
            <a:endParaRPr lang="ar-SA" sz="1150" dirty="0"/>
          </a:p>
          <a:p>
            <a:pPr rtl="1" algn="r" indent="0" marL="0">
              <a:lnSpc>
                <a:spcPct val="115000"/>
              </a:lnSpc>
              <a:buNone/>
            </a:pPr>
            <a:endParaRPr lang="ar-SA" sz="1150" dirty="0"/>
          </a:p>
          <a:p>
            <a:pPr rtl="1" algn="r" indent="0" marL="0">
              <a:lnSpc>
                <a:spcPct val="115000"/>
              </a:lnSpc>
              <a:buNone/>
            </a:pPr>
            <a:r>
              <a:rPr lang="ar-SA" altLang="en-US" sz="1150" dirty="0">
                <a:solidFill>
                  <a:srgbClr val="1B2330"/>
                </a:solidFill>
                <a:latin typeface="Arial" pitchFamily="34" charset="0"/>
                <a:ea typeface="Arial" pitchFamily="34" charset="-122"/>
                <a:cs typeface="Arial" pitchFamily="34" charset="-120"/>
              </a:rPr>
              <a:t>• فجوات المعرفة: الأسئلة بلا جواب تتحول إلى خطة توثيق مع مسودة مقترحة.</a:t>
            </a:r>
            <a:endParaRPr lang="ar-SA" sz="1150" dirty="0"/>
          </a:p>
          <a:p>
            <a:pPr rtl="1" algn="r" indent="0" marL="0">
              <a:lnSpc>
                <a:spcPct val="115000"/>
              </a:lnSpc>
              <a:buNone/>
            </a:pPr>
            <a:endParaRPr lang="ar-SA" sz="1150" dirty="0"/>
          </a:p>
          <a:p>
            <a:pPr rtl="1" algn="r" indent="0" marL="0">
              <a:lnSpc>
                <a:spcPct val="115000"/>
              </a:lnSpc>
              <a:buNone/>
            </a:pPr>
            <a:r>
              <a:rPr lang="ar-SA" altLang="en-US" sz="1150" dirty="0">
                <a:solidFill>
                  <a:srgbClr val="1B2330"/>
                </a:solidFill>
                <a:latin typeface="Arial" pitchFamily="34" charset="0"/>
                <a:ea typeface="Arial" pitchFamily="34" charset="-122"/>
                <a:cs typeface="Arial" pitchFamily="34" charset="-120"/>
              </a:rPr>
              <a:t>• التحليلات: الاستخدام وجودة الإجابات والتكلفة لكل شركة وقسم.</a:t>
            </a:r>
            <a:endParaRPr lang="ar-SA" sz="1150" dirty="0"/>
          </a:p>
          <a:p>
            <a:pPr rtl="1" algn="r" indent="0" marL="0">
              <a:lnSpc>
                <a:spcPct val="115000"/>
              </a:lnSpc>
              <a:buNone/>
            </a:pPr>
            <a:endParaRPr lang="ar-SA" sz="1150" dirty="0"/>
          </a:p>
          <a:p>
            <a:pPr rtl="1" algn="r" indent="0" marL="0">
              <a:lnSpc>
                <a:spcPct val="115000"/>
              </a:lnSpc>
              <a:buNone/>
            </a:pPr>
            <a:r>
              <a:rPr lang="ar-SA" altLang="en-US" sz="1150" dirty="0">
                <a:solidFill>
                  <a:srgbClr val="1B2330"/>
                </a:solidFill>
                <a:latin typeface="Arial" pitchFamily="34" charset="0"/>
                <a:ea typeface="Arial" pitchFamily="34" charset="-122"/>
                <a:cs typeface="Arial" pitchFamily="34" charset="-120"/>
              </a:rPr>
              <a:t>• قنوات: الويب وواتساب، بنفس الصلاحيات.</a:t>
            </a:r>
            <a:endParaRPr lang="ar-SA" sz="1150" dirty="0"/>
          </a:p>
        </p:txBody>
      </p:sp>
      <p:sp>
        <p:nvSpPr>
          <p:cNvPr id="14" name="Shape 12"/>
          <p:cNvSpPr/>
          <p:nvPr/>
        </p:nvSpPr>
        <p:spPr>
          <a:xfrm>
            <a:off x="548640" y="1325880"/>
            <a:ext cx="3931920" cy="3291840"/>
          </a:xfrm>
          <a:prstGeom prst="roundRect">
            <a:avLst>
              <a:gd name="adj" fmla="val 3333"/>
            </a:avLst>
          </a:prstGeom>
          <a:solidFill>
            <a:srgbClr val="FFFFFF">
              <a:alpha val="0"/>
            </a:srgbClr>
          </a:solidFill>
          <a:ln w="12700">
            <a:solidFill>
              <a:srgbClr val="D9DEE7"/>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88720" y="320040"/>
            <a:ext cx="7406640" cy="548640"/>
          </a:xfrm>
          <a:prstGeom prst="rect">
            <a:avLst/>
          </a:prstGeom>
          <a:noFill/>
          <a:ln/>
        </p:spPr>
        <p:txBody>
          <a:bodyPr wrap="square" lIns="0" tIns="0" rIns="0" bIns="0" rtlCol="0" anchor="t"/>
          <a:lstStyle/>
          <a:p>
            <a:pPr rtl="1" algn="r" indent="0" marL="0">
              <a:buNone/>
            </a:pPr>
            <a:r>
              <a:rPr lang="ar-SA" altLang="en-US" sz="2800" b="1" dirty="0">
                <a:solidFill>
                  <a:srgbClr val="1E3967"/>
                </a:solidFill>
                <a:latin typeface="Arial" pitchFamily="34" charset="0"/>
                <a:ea typeface="Arial" pitchFamily="34" charset="-122"/>
                <a:cs typeface="Arial" pitchFamily="34" charset="-120"/>
              </a:rPr>
              <a:t>الابتكار والتقنية</a:t>
            </a:r>
            <a:endParaRPr lang="ar-SA" sz="2800" dirty="0"/>
          </a:p>
        </p:txBody>
      </p:sp>
      <p:sp>
        <p:nvSpPr>
          <p:cNvPr id="3" name="Text 1"/>
          <p:cNvSpPr txBox="1"/>
          <p:nvPr/>
        </p:nvSpPr>
        <p:spPr>
          <a:xfrm>
            <a:off x="548640" y="868680"/>
            <a:ext cx="8046720" cy="274320"/>
          </a:xfrm>
          <a:prstGeom prst="rect">
            <a:avLst/>
          </a:prstGeom>
          <a:noFill/>
          <a:ln/>
        </p:spPr>
        <p:txBody>
          <a:bodyPr wrap="square" lIns="0" tIns="0" rIns="0" bIns="0" rtlCol="0" anchor="t"/>
          <a:lstStyle/>
          <a:p>
            <a:pPr algn="r" indent="0" marL="0">
              <a:buNone/>
            </a:pPr>
            <a:r>
              <a:rPr lang="en-US" altLang="en-US" sz="1100" dirty="0">
                <a:solidFill>
                  <a:srgbClr val="5B6573"/>
                </a:solidFill>
                <a:latin typeface="Arial" pitchFamily="34" charset="0"/>
                <a:ea typeface="Arial" pitchFamily="34" charset="-122"/>
                <a:cs typeface="Arial" pitchFamily="34" charset="-120"/>
              </a:rPr>
              <a:t>Innovation</a:t>
            </a:r>
            <a:endParaRPr lang="en-US" sz="1100" dirty="0"/>
          </a:p>
        </p:txBody>
      </p:sp>
      <p:sp>
        <p:nvSpPr>
          <p:cNvPr id="4" name="Shape 2"/>
          <p:cNvSpPr/>
          <p:nvPr/>
        </p:nvSpPr>
        <p:spPr>
          <a:xfrm>
            <a:off x="548640" y="347472"/>
            <a:ext cx="411480" cy="411480"/>
          </a:xfrm>
          <a:prstGeom prst="roundRect">
            <a:avLst>
              <a:gd name="adj" fmla="val 25000"/>
            </a:avLst>
          </a:prstGeom>
          <a:solidFill>
            <a:srgbClr val="1E3967"/>
          </a:solidFill>
          <a:ln/>
        </p:spPr>
      </p:sp>
      <p:sp>
        <p:nvSpPr>
          <p:cNvPr id="5" name="Shape 3"/>
          <p:cNvSpPr/>
          <p:nvPr/>
        </p:nvSpPr>
        <p:spPr>
          <a:xfrm>
            <a:off x="622706" y="396850"/>
            <a:ext cx="213970" cy="213970"/>
          </a:xfrm>
          <a:prstGeom prst="diamond">
            <a:avLst/>
          </a:prstGeom>
          <a:solidFill>
            <a:srgbClr val="C9A24C"/>
          </a:solidFill>
          <a:ln w="12700">
            <a:solidFill>
              <a:srgbClr val="C9A24C"/>
            </a:solidFill>
            <a:prstDash val="solid"/>
          </a:ln>
        </p:spPr>
      </p:sp>
      <p:sp>
        <p:nvSpPr>
          <p:cNvPr id="6" name="Shape 4"/>
          <p:cNvSpPr/>
          <p:nvPr/>
        </p:nvSpPr>
        <p:spPr>
          <a:xfrm>
            <a:off x="795528" y="586130"/>
            <a:ext cx="106985" cy="106985"/>
          </a:xfrm>
          <a:prstGeom prst="diamond">
            <a:avLst/>
          </a:prstGeom>
          <a:solidFill>
            <a:srgbClr val="FFFFFF">
              <a:alpha val="75000"/>
            </a:srgbClr>
          </a:solidFill>
          <a:ln w="12700">
            <a:solidFill>
              <a:srgbClr val="FFFFFF">
                <a:alpha val="75000"/>
              </a:srgbClr>
            </a:solidFill>
            <a:prstDash val="solid"/>
          </a:ln>
        </p:spPr>
      </p:sp>
      <p:sp>
        <p:nvSpPr>
          <p:cNvPr id="7" name="Text 5"/>
          <p:cNvSpPr txBox="1"/>
          <p:nvPr/>
        </p:nvSpPr>
        <p:spPr>
          <a:xfrm>
            <a:off x="548640" y="4754880"/>
            <a:ext cx="2743200" cy="228600"/>
          </a:xfrm>
          <a:prstGeom prst="rect">
            <a:avLst/>
          </a:prstGeom>
          <a:noFill/>
          <a:ln/>
        </p:spPr>
        <p:txBody>
          <a:bodyPr wrap="square" lIns="0" tIns="0" rIns="0" bIns="0" rtlCol="0" anchor="t"/>
          <a:lstStyle/>
          <a:p>
            <a:pPr rtl="1" algn="l" indent="0" marL="0">
              <a:buNone/>
            </a:pPr>
            <a:r>
              <a:rPr lang="ar-SA" altLang="en-US" sz="900" dirty="0">
                <a:solidFill>
                  <a:srgbClr val="5B6573"/>
                </a:solidFill>
                <a:latin typeface="Arial" pitchFamily="34" charset="0"/>
                <a:ea typeface="Arial" pitchFamily="34" charset="-122"/>
                <a:cs typeface="Arial" pitchFamily="34" charset="-120"/>
              </a:rPr>
              <a:t>بديهة · ملف المشروع</a:t>
            </a:r>
            <a:endParaRPr lang="ar-SA" sz="900" dirty="0"/>
          </a:p>
        </p:txBody>
      </p:sp>
      <p:sp>
        <p:nvSpPr>
          <p:cNvPr id="8" name="Shape 6"/>
          <p:cNvSpPr/>
          <p:nvPr/>
        </p:nvSpPr>
        <p:spPr>
          <a:xfrm>
            <a:off x="548640" y="1325880"/>
            <a:ext cx="8046720" cy="1051560"/>
          </a:xfrm>
          <a:prstGeom prst="roundRect">
            <a:avLst>
              <a:gd name="adj" fmla="val 10435"/>
            </a:avLst>
          </a:prstGeom>
          <a:solidFill>
            <a:srgbClr val="1E3967"/>
          </a:solidFill>
          <a:ln w="12700">
            <a:solidFill>
              <a:srgbClr val="1E3967"/>
            </a:solidFill>
            <a:prstDash val="solid"/>
          </a:ln>
        </p:spPr>
      </p:sp>
      <p:sp>
        <p:nvSpPr>
          <p:cNvPr id="9" name="Text 7"/>
          <p:cNvSpPr txBox="1"/>
          <p:nvPr/>
        </p:nvSpPr>
        <p:spPr>
          <a:xfrm>
            <a:off x="731520" y="1417320"/>
            <a:ext cx="7680960" cy="274320"/>
          </a:xfrm>
          <a:prstGeom prst="rect">
            <a:avLst/>
          </a:prstGeom>
          <a:noFill/>
          <a:ln/>
        </p:spPr>
        <p:txBody>
          <a:bodyPr wrap="square" lIns="0" tIns="0" rIns="0" bIns="0" rtlCol="0" anchor="t"/>
          <a:lstStyle/>
          <a:p>
            <a:pPr rtl="1" algn="r" indent="0" marL="0">
              <a:buNone/>
            </a:pPr>
            <a:r>
              <a:rPr lang="ar-SA" altLang="en-US" sz="1300" b="1" dirty="0">
                <a:solidFill>
                  <a:srgbClr val="C9A24C"/>
                </a:solidFill>
                <a:latin typeface="Arial" pitchFamily="34" charset="0"/>
                <a:ea typeface="Arial" pitchFamily="34" charset="-122"/>
                <a:cs typeface="Arial" pitchFamily="34" charset="-120"/>
              </a:rPr>
              <a:t>الابتكار الجوهري</a:t>
            </a:r>
            <a:endParaRPr lang="ar-SA" sz="1300" dirty="0"/>
          </a:p>
        </p:txBody>
      </p:sp>
      <p:sp>
        <p:nvSpPr>
          <p:cNvPr id="10" name="Text 8"/>
          <p:cNvSpPr txBox="1"/>
          <p:nvPr/>
        </p:nvSpPr>
        <p:spPr>
          <a:xfrm>
            <a:off x="731520" y="1719072"/>
            <a:ext cx="7680960" cy="594360"/>
          </a:xfrm>
          <a:prstGeom prst="rect">
            <a:avLst/>
          </a:prstGeom>
          <a:noFill/>
          <a:ln/>
        </p:spPr>
        <p:txBody>
          <a:bodyPr wrap="square" lIns="0" tIns="0" rIns="0" bIns="0" rtlCol="0" anchor="t"/>
          <a:lstStyle/>
          <a:p>
            <a:pPr rtl="1" algn="r" indent="0" marL="0">
              <a:lnSpc>
                <a:spcPct val="115000"/>
              </a:lnSpc>
              <a:buNone/>
            </a:pPr>
            <a:r>
              <a:rPr lang="ar-SA" altLang="en-US" sz="1150" dirty="0">
                <a:solidFill>
                  <a:srgbClr val="FFFFFF"/>
                </a:solidFill>
                <a:latin typeface="Arial" pitchFamily="34" charset="0"/>
                <a:ea typeface="Arial" pitchFamily="34" charset="-122"/>
                <a:cs typeface="Arial" pitchFamily="34" charset="-120"/>
              </a:rPr>
              <a:t>العربية قيد تصميم لا طبقة ترجمة: خط معالجة كامل مبني للمستندات العربية، من إصلاح تشوّه حروف PDF إلى الاسترجاع الصرفي، يليه مدقّق حتمي لا يستطيع الهلوسة لأنه لا يستنتج، بل يقارن كل رقم بنص مصدره.</a:t>
            </a:r>
            <a:endParaRPr lang="ar-SA" sz="1150" dirty="0"/>
          </a:p>
        </p:txBody>
      </p:sp>
      <p:sp>
        <p:nvSpPr>
          <p:cNvPr id="11" name="Shape 9"/>
          <p:cNvSpPr/>
          <p:nvPr/>
        </p:nvSpPr>
        <p:spPr>
          <a:xfrm>
            <a:off x="6720840" y="2606040"/>
            <a:ext cx="1920240" cy="2011680"/>
          </a:xfrm>
          <a:prstGeom prst="roundRect">
            <a:avLst>
              <a:gd name="adj" fmla="val 5714"/>
            </a:avLst>
          </a:prstGeom>
          <a:solidFill>
            <a:srgbClr val="E9EEF6"/>
          </a:solidFill>
          <a:ln w="12700">
            <a:solidFill>
              <a:srgbClr val="E9EEF6"/>
            </a:solidFill>
            <a:prstDash val="solid"/>
          </a:ln>
        </p:spPr>
      </p:sp>
      <p:sp>
        <p:nvSpPr>
          <p:cNvPr id="12" name="Text 10"/>
          <p:cNvSpPr txBox="1"/>
          <p:nvPr/>
        </p:nvSpPr>
        <p:spPr>
          <a:xfrm>
            <a:off x="6903720" y="2743200"/>
            <a:ext cx="1554480" cy="320040"/>
          </a:xfrm>
          <a:prstGeom prst="rect">
            <a:avLst/>
          </a:prstGeom>
          <a:noFill/>
          <a:ln/>
        </p:spPr>
        <p:txBody>
          <a:bodyPr wrap="square" lIns="0" tIns="0" rIns="0" bIns="0" rtlCol="0" anchor="t"/>
          <a:lstStyle/>
          <a:p>
            <a:pPr rtl="1" algn="r" indent="0" marL="0">
              <a:buNone/>
            </a:pPr>
            <a:r>
              <a:rPr lang="ar-SA" altLang="en-US" sz="1250" b="1" dirty="0">
                <a:solidFill>
                  <a:srgbClr val="1E3967"/>
                </a:solidFill>
                <a:latin typeface="Arial" pitchFamily="34" charset="0"/>
                <a:ea typeface="Arial" pitchFamily="34" charset="-122"/>
                <a:cs typeface="Arial" pitchFamily="34" charset="-120"/>
              </a:rPr>
              <a:t>إصلاح PDF العربي</a:t>
            </a:r>
            <a:endParaRPr lang="ar-SA" sz="1250" dirty="0"/>
          </a:p>
        </p:txBody>
      </p:sp>
      <p:sp>
        <p:nvSpPr>
          <p:cNvPr id="13" name="Text 11"/>
          <p:cNvSpPr txBox="1"/>
          <p:nvPr/>
        </p:nvSpPr>
        <p:spPr>
          <a:xfrm>
            <a:off x="6903720" y="3108960"/>
            <a:ext cx="1554480" cy="1371600"/>
          </a:xfrm>
          <a:prstGeom prst="rect">
            <a:avLst/>
          </a:prstGeom>
          <a:noFill/>
          <a:ln/>
        </p:spPr>
        <p:txBody>
          <a:bodyPr wrap="square" lIns="0" tIns="0" rIns="0" bIns="0" rtlCol="0" anchor="t"/>
          <a:lstStyle/>
          <a:p>
            <a:pPr rtl="1" algn="r" indent="0" marL="0">
              <a:lnSpc>
                <a:spcPct val="115000"/>
              </a:lnSpc>
              <a:buNone/>
            </a:pPr>
            <a:r>
              <a:rPr lang="ar-SA" altLang="en-US" sz="1000" dirty="0">
                <a:solidFill>
                  <a:srgbClr val="1B2330"/>
                </a:solidFill>
                <a:latin typeface="Arial" pitchFamily="34" charset="0"/>
                <a:ea typeface="Arial" pitchFamily="34" charset="-122"/>
                <a:cs typeface="Arial" pitchFamily="34" charset="-120"/>
              </a:rPr>
              <a:t>كشف تشوّه الحروف الشائع في ملفات PDF العربية وإصلاحه قبل الفهرسة.</a:t>
            </a:r>
            <a:endParaRPr lang="ar-SA" sz="1000" dirty="0"/>
          </a:p>
        </p:txBody>
      </p:sp>
      <p:sp>
        <p:nvSpPr>
          <p:cNvPr id="14" name="Shape 12"/>
          <p:cNvSpPr/>
          <p:nvPr/>
        </p:nvSpPr>
        <p:spPr>
          <a:xfrm>
            <a:off x="4663440" y="2606040"/>
            <a:ext cx="1920240" cy="2011680"/>
          </a:xfrm>
          <a:prstGeom prst="roundRect">
            <a:avLst>
              <a:gd name="adj" fmla="val 5714"/>
            </a:avLst>
          </a:prstGeom>
          <a:solidFill>
            <a:srgbClr val="E9EEF6"/>
          </a:solidFill>
          <a:ln w="12700">
            <a:solidFill>
              <a:srgbClr val="E9EEF6"/>
            </a:solidFill>
            <a:prstDash val="solid"/>
          </a:ln>
        </p:spPr>
      </p:sp>
      <p:sp>
        <p:nvSpPr>
          <p:cNvPr id="15" name="Text 13"/>
          <p:cNvSpPr txBox="1"/>
          <p:nvPr/>
        </p:nvSpPr>
        <p:spPr>
          <a:xfrm>
            <a:off x="4846320" y="2743200"/>
            <a:ext cx="1554480" cy="320040"/>
          </a:xfrm>
          <a:prstGeom prst="rect">
            <a:avLst/>
          </a:prstGeom>
          <a:noFill/>
          <a:ln/>
        </p:spPr>
        <p:txBody>
          <a:bodyPr wrap="square" lIns="0" tIns="0" rIns="0" bIns="0" rtlCol="0" anchor="t"/>
          <a:lstStyle/>
          <a:p>
            <a:pPr rtl="1" algn="r" indent="0" marL="0">
              <a:buNone/>
            </a:pPr>
            <a:r>
              <a:rPr lang="ar-SA" altLang="en-US" sz="1250" b="1" dirty="0">
                <a:solidFill>
                  <a:srgbClr val="1E3967"/>
                </a:solidFill>
                <a:latin typeface="Arial" pitchFamily="34" charset="0"/>
                <a:ea typeface="Arial" pitchFamily="34" charset="-122"/>
                <a:cs typeface="Arial" pitchFamily="34" charset="-120"/>
              </a:rPr>
              <a:t>استرجاع صرفي</a:t>
            </a:r>
            <a:endParaRPr lang="ar-SA" sz="1250" dirty="0"/>
          </a:p>
        </p:txBody>
      </p:sp>
      <p:sp>
        <p:nvSpPr>
          <p:cNvPr id="16" name="Text 14"/>
          <p:cNvSpPr txBox="1"/>
          <p:nvPr/>
        </p:nvSpPr>
        <p:spPr>
          <a:xfrm>
            <a:off x="4846320" y="3108960"/>
            <a:ext cx="1554480" cy="1371600"/>
          </a:xfrm>
          <a:prstGeom prst="rect">
            <a:avLst/>
          </a:prstGeom>
          <a:noFill/>
          <a:ln/>
        </p:spPr>
        <p:txBody>
          <a:bodyPr wrap="square" lIns="0" tIns="0" rIns="0" bIns="0" rtlCol="0" anchor="t"/>
          <a:lstStyle/>
          <a:p>
            <a:pPr rtl="1" algn="r" indent="0" marL="0">
              <a:lnSpc>
                <a:spcPct val="115000"/>
              </a:lnSpc>
              <a:buNone/>
            </a:pPr>
            <a:r>
              <a:rPr lang="ar-SA" altLang="en-US" sz="1000" dirty="0">
                <a:solidFill>
                  <a:srgbClr val="1B2330"/>
                </a:solidFill>
                <a:latin typeface="Arial" pitchFamily="34" charset="0"/>
                <a:ea typeface="Arial" pitchFamily="34" charset="-122"/>
                <a:cs typeface="Arial" pitchFamily="34" charset="-120"/>
              </a:rPr>
              <a:t>تطبيع وتجذير عربي داخل قاعدة البيانات، مدمج مع البحث الدلالي.</a:t>
            </a:r>
            <a:endParaRPr lang="ar-SA" sz="1000" dirty="0"/>
          </a:p>
        </p:txBody>
      </p:sp>
      <p:sp>
        <p:nvSpPr>
          <p:cNvPr id="17" name="Shape 15"/>
          <p:cNvSpPr/>
          <p:nvPr/>
        </p:nvSpPr>
        <p:spPr>
          <a:xfrm>
            <a:off x="2606040" y="2606040"/>
            <a:ext cx="1920240" cy="2011680"/>
          </a:xfrm>
          <a:prstGeom prst="roundRect">
            <a:avLst>
              <a:gd name="adj" fmla="val 5714"/>
            </a:avLst>
          </a:prstGeom>
          <a:solidFill>
            <a:srgbClr val="E9EEF6"/>
          </a:solidFill>
          <a:ln w="12700">
            <a:solidFill>
              <a:srgbClr val="E9EEF6"/>
            </a:solidFill>
            <a:prstDash val="solid"/>
          </a:ln>
        </p:spPr>
      </p:sp>
      <p:sp>
        <p:nvSpPr>
          <p:cNvPr id="18" name="Text 16"/>
          <p:cNvSpPr txBox="1"/>
          <p:nvPr/>
        </p:nvSpPr>
        <p:spPr>
          <a:xfrm>
            <a:off x="2788920" y="2743200"/>
            <a:ext cx="1554480" cy="320040"/>
          </a:xfrm>
          <a:prstGeom prst="rect">
            <a:avLst/>
          </a:prstGeom>
          <a:noFill/>
          <a:ln/>
        </p:spPr>
        <p:txBody>
          <a:bodyPr wrap="square" lIns="0" tIns="0" rIns="0" bIns="0" rtlCol="0" anchor="t"/>
          <a:lstStyle/>
          <a:p>
            <a:pPr rtl="1" algn="r" indent="0" marL="0">
              <a:buNone/>
            </a:pPr>
            <a:r>
              <a:rPr lang="ar-SA" altLang="en-US" sz="1250" b="1" dirty="0">
                <a:solidFill>
                  <a:srgbClr val="1E3967"/>
                </a:solidFill>
                <a:latin typeface="Arial" pitchFamily="34" charset="0"/>
                <a:ea typeface="Arial" pitchFamily="34" charset="-122"/>
                <a:cs typeface="Arial" pitchFamily="34" charset="-120"/>
              </a:rPr>
              <a:t>تدقيق قبل العرض</a:t>
            </a:r>
            <a:endParaRPr lang="ar-SA" sz="1250" dirty="0"/>
          </a:p>
        </p:txBody>
      </p:sp>
      <p:sp>
        <p:nvSpPr>
          <p:cNvPr id="19" name="Text 17"/>
          <p:cNvSpPr txBox="1"/>
          <p:nvPr/>
        </p:nvSpPr>
        <p:spPr>
          <a:xfrm>
            <a:off x="2788920" y="3108960"/>
            <a:ext cx="1554480" cy="1371600"/>
          </a:xfrm>
          <a:prstGeom prst="rect">
            <a:avLst/>
          </a:prstGeom>
          <a:noFill/>
          <a:ln/>
        </p:spPr>
        <p:txBody>
          <a:bodyPr wrap="square" lIns="0" tIns="0" rIns="0" bIns="0" rtlCol="0" anchor="t"/>
          <a:lstStyle/>
          <a:p>
            <a:pPr rtl="1" algn="r" indent="0" marL="0">
              <a:lnSpc>
                <a:spcPct val="115000"/>
              </a:lnSpc>
              <a:buNone/>
            </a:pPr>
            <a:r>
              <a:rPr lang="ar-SA" altLang="en-US" sz="1000" dirty="0">
                <a:solidFill>
                  <a:srgbClr val="1B2330"/>
                </a:solidFill>
                <a:latin typeface="Arial" pitchFamily="34" charset="0"/>
                <a:ea typeface="Arial" pitchFamily="34" charset="-122"/>
                <a:cs typeface="Arial" pitchFamily="34" charset="-120"/>
              </a:rPr>
              <a:t>المُدد والمبالغ تُفحص ضد المصدر، وما لا أصل له يظهر عليه تحذير.</a:t>
            </a:r>
            <a:endParaRPr lang="ar-SA" sz="1000" dirty="0"/>
          </a:p>
        </p:txBody>
      </p:sp>
      <p:sp>
        <p:nvSpPr>
          <p:cNvPr id="20" name="Shape 18"/>
          <p:cNvSpPr/>
          <p:nvPr/>
        </p:nvSpPr>
        <p:spPr>
          <a:xfrm>
            <a:off x="548640" y="2606040"/>
            <a:ext cx="1920240" cy="2011680"/>
          </a:xfrm>
          <a:prstGeom prst="roundRect">
            <a:avLst>
              <a:gd name="adj" fmla="val 5714"/>
            </a:avLst>
          </a:prstGeom>
          <a:solidFill>
            <a:srgbClr val="E9EEF6"/>
          </a:solidFill>
          <a:ln w="12700">
            <a:solidFill>
              <a:srgbClr val="E9EEF6"/>
            </a:solidFill>
            <a:prstDash val="solid"/>
          </a:ln>
        </p:spPr>
      </p:sp>
      <p:sp>
        <p:nvSpPr>
          <p:cNvPr id="21" name="Text 19"/>
          <p:cNvSpPr txBox="1"/>
          <p:nvPr/>
        </p:nvSpPr>
        <p:spPr>
          <a:xfrm>
            <a:off x="731520" y="2743200"/>
            <a:ext cx="1554480" cy="320040"/>
          </a:xfrm>
          <a:prstGeom prst="rect">
            <a:avLst/>
          </a:prstGeom>
          <a:noFill/>
          <a:ln/>
        </p:spPr>
        <p:txBody>
          <a:bodyPr wrap="square" lIns="0" tIns="0" rIns="0" bIns="0" rtlCol="0" anchor="t"/>
          <a:lstStyle/>
          <a:p>
            <a:pPr rtl="1" algn="r" indent="0" marL="0">
              <a:buNone/>
            </a:pPr>
            <a:r>
              <a:rPr lang="ar-SA" altLang="en-US" sz="1250" b="1" dirty="0">
                <a:solidFill>
                  <a:srgbClr val="1E3967"/>
                </a:solidFill>
                <a:latin typeface="Arial" pitchFamily="34" charset="0"/>
                <a:ea typeface="Arial" pitchFamily="34" charset="-122"/>
                <a:cs typeface="Arial" pitchFamily="34" charset="-120"/>
              </a:rPr>
              <a:t>عزل مُثبَت</a:t>
            </a:r>
            <a:endParaRPr lang="ar-SA" sz="1250" dirty="0"/>
          </a:p>
        </p:txBody>
      </p:sp>
      <p:sp>
        <p:nvSpPr>
          <p:cNvPr id="22" name="Text 20"/>
          <p:cNvSpPr txBox="1"/>
          <p:nvPr/>
        </p:nvSpPr>
        <p:spPr>
          <a:xfrm>
            <a:off x="731520" y="3108960"/>
            <a:ext cx="1554480" cy="1371600"/>
          </a:xfrm>
          <a:prstGeom prst="rect">
            <a:avLst/>
          </a:prstGeom>
          <a:noFill/>
          <a:ln/>
        </p:spPr>
        <p:txBody>
          <a:bodyPr wrap="square" lIns="0" tIns="0" rIns="0" bIns="0" rtlCol="0" anchor="t"/>
          <a:lstStyle/>
          <a:p>
            <a:pPr rtl="1" algn="r" indent="0" marL="0">
              <a:lnSpc>
                <a:spcPct val="115000"/>
              </a:lnSpc>
              <a:buNone/>
            </a:pPr>
            <a:r>
              <a:rPr lang="ar-SA" altLang="en-US" sz="1000" dirty="0">
                <a:solidFill>
                  <a:srgbClr val="1B2330"/>
                </a:solidFill>
                <a:latin typeface="Arial" pitchFamily="34" charset="0"/>
                <a:ea typeface="Arial" pitchFamily="34" charset="-122"/>
                <a:cs typeface="Arial" pitchFamily="34" charset="-120"/>
              </a:rPr>
              <a:t>حرّاس العزل تُعطَّل عمدًا في بناء اختباري ويجب أن تفشل الاختبارات، وهي تفشل.</a:t>
            </a:r>
            <a:endParaRPr lang="ar-SA"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88720" y="320040"/>
            <a:ext cx="7406640" cy="548640"/>
          </a:xfrm>
          <a:prstGeom prst="rect">
            <a:avLst/>
          </a:prstGeom>
          <a:noFill/>
          <a:ln/>
        </p:spPr>
        <p:txBody>
          <a:bodyPr wrap="square" lIns="0" tIns="0" rIns="0" bIns="0" rtlCol="0" anchor="t"/>
          <a:lstStyle/>
          <a:p>
            <a:pPr rtl="1" algn="r" indent="0" marL="0">
              <a:buNone/>
            </a:pPr>
            <a:r>
              <a:rPr lang="ar-SA" altLang="en-US" sz="2800" b="1" dirty="0">
                <a:solidFill>
                  <a:srgbClr val="1E3967"/>
                </a:solidFill>
                <a:latin typeface="Arial" pitchFamily="34" charset="0"/>
                <a:ea typeface="Arial" pitchFamily="34" charset="-122"/>
                <a:cs typeface="Arial" pitchFamily="34" charset="-120"/>
              </a:rPr>
              <a:t>نموذج العمل والسوق والخطة التشغيلية</a:t>
            </a:r>
            <a:endParaRPr lang="ar-SA" sz="2800" dirty="0"/>
          </a:p>
        </p:txBody>
      </p:sp>
      <p:sp>
        <p:nvSpPr>
          <p:cNvPr id="3" name="Text 1"/>
          <p:cNvSpPr txBox="1"/>
          <p:nvPr/>
        </p:nvSpPr>
        <p:spPr>
          <a:xfrm>
            <a:off x="548640" y="868680"/>
            <a:ext cx="8046720" cy="274320"/>
          </a:xfrm>
          <a:prstGeom prst="rect">
            <a:avLst/>
          </a:prstGeom>
          <a:noFill/>
          <a:ln/>
        </p:spPr>
        <p:txBody>
          <a:bodyPr wrap="square" lIns="0" tIns="0" rIns="0" bIns="0" rtlCol="0" anchor="t"/>
          <a:lstStyle/>
          <a:p>
            <a:pPr algn="r" indent="0" marL="0">
              <a:buNone/>
            </a:pPr>
            <a:r>
              <a:rPr lang="en-US" altLang="en-US" sz="1100" dirty="0">
                <a:solidFill>
                  <a:srgbClr val="5B6573"/>
                </a:solidFill>
                <a:latin typeface="Arial" pitchFamily="34" charset="0"/>
                <a:ea typeface="Arial" pitchFamily="34" charset="-122"/>
                <a:cs typeface="Arial" pitchFamily="34" charset="-120"/>
              </a:rPr>
              <a:t>Business model · market · operating plan</a:t>
            </a:r>
            <a:endParaRPr lang="en-US" sz="1100" dirty="0"/>
          </a:p>
        </p:txBody>
      </p:sp>
      <p:sp>
        <p:nvSpPr>
          <p:cNvPr id="4" name="Shape 2"/>
          <p:cNvSpPr/>
          <p:nvPr/>
        </p:nvSpPr>
        <p:spPr>
          <a:xfrm>
            <a:off x="548640" y="347472"/>
            <a:ext cx="411480" cy="411480"/>
          </a:xfrm>
          <a:prstGeom prst="roundRect">
            <a:avLst>
              <a:gd name="adj" fmla="val 25000"/>
            </a:avLst>
          </a:prstGeom>
          <a:solidFill>
            <a:srgbClr val="1E3967"/>
          </a:solidFill>
          <a:ln/>
        </p:spPr>
      </p:sp>
      <p:sp>
        <p:nvSpPr>
          <p:cNvPr id="5" name="Shape 3"/>
          <p:cNvSpPr/>
          <p:nvPr/>
        </p:nvSpPr>
        <p:spPr>
          <a:xfrm>
            <a:off x="622706" y="396850"/>
            <a:ext cx="213970" cy="213970"/>
          </a:xfrm>
          <a:prstGeom prst="diamond">
            <a:avLst/>
          </a:prstGeom>
          <a:solidFill>
            <a:srgbClr val="C9A24C"/>
          </a:solidFill>
          <a:ln w="12700">
            <a:solidFill>
              <a:srgbClr val="C9A24C"/>
            </a:solidFill>
            <a:prstDash val="solid"/>
          </a:ln>
        </p:spPr>
      </p:sp>
      <p:sp>
        <p:nvSpPr>
          <p:cNvPr id="6" name="Shape 4"/>
          <p:cNvSpPr/>
          <p:nvPr/>
        </p:nvSpPr>
        <p:spPr>
          <a:xfrm>
            <a:off x="795528" y="586130"/>
            <a:ext cx="106985" cy="106985"/>
          </a:xfrm>
          <a:prstGeom prst="diamond">
            <a:avLst/>
          </a:prstGeom>
          <a:solidFill>
            <a:srgbClr val="FFFFFF">
              <a:alpha val="75000"/>
            </a:srgbClr>
          </a:solidFill>
          <a:ln w="12700">
            <a:solidFill>
              <a:srgbClr val="FFFFFF">
                <a:alpha val="75000"/>
              </a:srgbClr>
            </a:solidFill>
            <a:prstDash val="solid"/>
          </a:ln>
        </p:spPr>
      </p:sp>
      <p:sp>
        <p:nvSpPr>
          <p:cNvPr id="7" name="Text 5"/>
          <p:cNvSpPr txBox="1"/>
          <p:nvPr/>
        </p:nvSpPr>
        <p:spPr>
          <a:xfrm>
            <a:off x="548640" y="4754880"/>
            <a:ext cx="2743200" cy="228600"/>
          </a:xfrm>
          <a:prstGeom prst="rect">
            <a:avLst/>
          </a:prstGeom>
          <a:noFill/>
          <a:ln/>
        </p:spPr>
        <p:txBody>
          <a:bodyPr wrap="square" lIns="0" tIns="0" rIns="0" bIns="0" rtlCol="0" anchor="t"/>
          <a:lstStyle/>
          <a:p>
            <a:pPr rtl="1" algn="l" indent="0" marL="0">
              <a:buNone/>
            </a:pPr>
            <a:r>
              <a:rPr lang="ar-SA" altLang="en-US" sz="900" dirty="0">
                <a:solidFill>
                  <a:srgbClr val="5B6573"/>
                </a:solidFill>
                <a:latin typeface="Arial" pitchFamily="34" charset="0"/>
                <a:ea typeface="Arial" pitchFamily="34" charset="-122"/>
                <a:cs typeface="Arial" pitchFamily="34" charset="-120"/>
              </a:rPr>
              <a:t>بديهة · ملف المشروع</a:t>
            </a:r>
            <a:endParaRPr lang="ar-SA" sz="900" dirty="0"/>
          </a:p>
        </p:txBody>
      </p:sp>
      <p:sp>
        <p:nvSpPr>
          <p:cNvPr id="8" name="Shape 6"/>
          <p:cNvSpPr/>
          <p:nvPr/>
        </p:nvSpPr>
        <p:spPr>
          <a:xfrm>
            <a:off x="4663440" y="1325880"/>
            <a:ext cx="3931920" cy="1554480"/>
          </a:xfrm>
          <a:prstGeom prst="roundRect">
            <a:avLst>
              <a:gd name="adj" fmla="val 7059"/>
            </a:avLst>
          </a:prstGeom>
          <a:solidFill>
            <a:srgbClr val="E9EEF6"/>
          </a:solidFill>
          <a:ln w="12700">
            <a:solidFill>
              <a:srgbClr val="E9EEF6"/>
            </a:solidFill>
            <a:prstDash val="solid"/>
          </a:ln>
        </p:spPr>
      </p:sp>
      <p:sp>
        <p:nvSpPr>
          <p:cNvPr id="9" name="Text 7"/>
          <p:cNvSpPr txBox="1"/>
          <p:nvPr/>
        </p:nvSpPr>
        <p:spPr>
          <a:xfrm>
            <a:off x="4846320" y="1463040"/>
            <a:ext cx="3566160" cy="320040"/>
          </a:xfrm>
          <a:prstGeom prst="rect">
            <a:avLst/>
          </a:prstGeom>
          <a:noFill/>
          <a:ln/>
        </p:spPr>
        <p:txBody>
          <a:bodyPr wrap="square" lIns="0" tIns="0" rIns="0" bIns="0" rtlCol="0" anchor="t"/>
          <a:lstStyle/>
          <a:p>
            <a:pPr rtl="1" algn="r" indent="0" marL="0">
              <a:buNone/>
            </a:pPr>
            <a:r>
              <a:rPr lang="ar-SA" altLang="en-US" sz="1300" b="1" dirty="0">
                <a:solidFill>
                  <a:srgbClr val="1E3967"/>
                </a:solidFill>
                <a:latin typeface="Arial" pitchFamily="34" charset="0"/>
                <a:ea typeface="Arial" pitchFamily="34" charset="-122"/>
                <a:cs typeface="Arial" pitchFamily="34" charset="-120"/>
              </a:rPr>
              <a:t>نموذج الإيرادات</a:t>
            </a:r>
            <a:endParaRPr lang="ar-SA" sz="1300" dirty="0"/>
          </a:p>
        </p:txBody>
      </p:sp>
      <p:sp>
        <p:nvSpPr>
          <p:cNvPr id="10" name="Text 8"/>
          <p:cNvSpPr txBox="1"/>
          <p:nvPr/>
        </p:nvSpPr>
        <p:spPr>
          <a:xfrm>
            <a:off x="4846320" y="1828800"/>
            <a:ext cx="3566160" cy="914400"/>
          </a:xfrm>
          <a:prstGeom prst="rect">
            <a:avLst/>
          </a:prstGeom>
          <a:noFill/>
          <a:ln/>
        </p:spPr>
        <p:txBody>
          <a:bodyPr wrap="square" lIns="0" tIns="0" rIns="0" bIns="0" rtlCol="0" anchor="t"/>
          <a:lstStyle/>
          <a:p>
            <a:pPr rtl="1" algn="r" indent="0" marL="0">
              <a:lnSpc>
                <a:spcPct val="115000"/>
              </a:lnSpc>
              <a:buNone/>
            </a:pPr>
            <a:r>
              <a:rPr lang="ar-SA" altLang="en-US" sz="1000" dirty="0">
                <a:solidFill>
                  <a:srgbClr val="1B2330"/>
                </a:solidFill>
                <a:latin typeface="Arial" pitchFamily="34" charset="0"/>
                <a:ea typeface="Arial" pitchFamily="34" charset="-122"/>
                <a:cs typeface="Arial" pitchFamily="34" charset="-120"/>
              </a:rPr>
              <a:t>اشتراك شهري أو سنوي حسب الحجم:</a:t>
            </a:r>
            <a:endParaRPr lang="ar-SA" sz="1000" dirty="0"/>
          </a:p>
          <a:p>
            <a:pPr rtl="1" algn="r" indent="0" marL="0">
              <a:lnSpc>
                <a:spcPct val="115000"/>
              </a:lnSpc>
              <a:buNone/>
            </a:pPr>
            <a:r>
              <a:rPr lang="ar-SA" altLang="en-US" sz="1000" dirty="0">
                <a:solidFill>
                  <a:srgbClr val="1B2330"/>
                </a:solidFill>
                <a:latin typeface="Arial" pitchFamily="34" charset="0"/>
                <a:ea typeface="Arial" pitchFamily="34" charset="-122"/>
                <a:cs typeface="Arial" pitchFamily="34" charset="-120"/>
              </a:rPr>
              <a:t>• الأساسية ٨٩٩ ريال/شهر</a:t>
            </a:r>
            <a:endParaRPr lang="ar-SA" sz="1000" dirty="0"/>
          </a:p>
          <a:p>
            <a:pPr rtl="1" algn="r" indent="0" marL="0">
              <a:lnSpc>
                <a:spcPct val="115000"/>
              </a:lnSpc>
              <a:buNone/>
            </a:pPr>
            <a:r>
              <a:rPr lang="ar-SA" altLang="en-US" sz="1000" dirty="0">
                <a:solidFill>
                  <a:srgbClr val="1B2330"/>
                </a:solidFill>
                <a:latin typeface="Arial" pitchFamily="34" charset="0"/>
                <a:ea typeface="Arial" pitchFamily="34" charset="-122"/>
                <a:cs typeface="Arial" pitchFamily="34" charset="-120"/>
              </a:rPr>
              <a:t>• النمو ٢٬٤٩٩ ريال/شهر</a:t>
            </a:r>
            <a:endParaRPr lang="ar-SA" sz="1000" dirty="0"/>
          </a:p>
          <a:p>
            <a:pPr rtl="1" algn="r" indent="0" marL="0">
              <a:lnSpc>
                <a:spcPct val="115000"/>
              </a:lnSpc>
              <a:buNone/>
            </a:pPr>
            <a:r>
              <a:rPr lang="ar-SA" altLang="en-US" sz="1000" dirty="0">
                <a:solidFill>
                  <a:srgbClr val="1B2330"/>
                </a:solidFill>
                <a:latin typeface="Arial" pitchFamily="34" charset="0"/>
                <a:ea typeface="Arial" pitchFamily="34" charset="-122"/>
                <a:cs typeface="Arial" pitchFamily="34" charset="-120"/>
              </a:rPr>
              <a:t>• الأعمال ٥٬٩٩٩ ريال/شهر</a:t>
            </a:r>
            <a:endParaRPr lang="ar-SA" sz="1000" dirty="0"/>
          </a:p>
          <a:p>
            <a:pPr rtl="1" algn="r" indent="0" marL="0">
              <a:lnSpc>
                <a:spcPct val="115000"/>
              </a:lnSpc>
              <a:buNone/>
            </a:pPr>
            <a:r>
              <a:rPr lang="ar-SA" altLang="en-US" sz="1000" dirty="0">
                <a:solidFill>
                  <a:srgbClr val="1B2330"/>
                </a:solidFill>
                <a:latin typeface="Arial" pitchFamily="34" charset="0"/>
                <a:ea typeface="Arial" pitchFamily="34" charset="-122"/>
                <a:cs typeface="Arial" pitchFamily="34" charset="-120"/>
              </a:rPr>
              <a:t>تجربة مجانية ٧ أيام. الحدود بعدد المستخدمين والمستندات والأسئلة.</a:t>
            </a:r>
            <a:endParaRPr lang="ar-SA" sz="1000" dirty="0"/>
          </a:p>
        </p:txBody>
      </p:sp>
      <p:sp>
        <p:nvSpPr>
          <p:cNvPr id="11" name="Shape 9"/>
          <p:cNvSpPr/>
          <p:nvPr/>
        </p:nvSpPr>
        <p:spPr>
          <a:xfrm>
            <a:off x="548640" y="1325880"/>
            <a:ext cx="3931920" cy="1554480"/>
          </a:xfrm>
          <a:prstGeom prst="roundRect">
            <a:avLst>
              <a:gd name="adj" fmla="val 7059"/>
            </a:avLst>
          </a:prstGeom>
          <a:solidFill>
            <a:srgbClr val="E9EEF6"/>
          </a:solidFill>
          <a:ln w="12700">
            <a:solidFill>
              <a:srgbClr val="E9EEF6"/>
            </a:solidFill>
            <a:prstDash val="solid"/>
          </a:ln>
        </p:spPr>
      </p:sp>
      <p:sp>
        <p:nvSpPr>
          <p:cNvPr id="12" name="Text 10"/>
          <p:cNvSpPr txBox="1"/>
          <p:nvPr/>
        </p:nvSpPr>
        <p:spPr>
          <a:xfrm>
            <a:off x="731520" y="1463040"/>
            <a:ext cx="3566160" cy="320040"/>
          </a:xfrm>
          <a:prstGeom prst="rect">
            <a:avLst/>
          </a:prstGeom>
          <a:noFill/>
          <a:ln/>
        </p:spPr>
        <p:txBody>
          <a:bodyPr wrap="square" lIns="0" tIns="0" rIns="0" bIns="0" rtlCol="0" anchor="t"/>
          <a:lstStyle/>
          <a:p>
            <a:pPr rtl="1" algn="r" indent="0" marL="0">
              <a:buNone/>
            </a:pPr>
            <a:r>
              <a:rPr lang="ar-SA" altLang="en-US" sz="1300" b="1" dirty="0">
                <a:solidFill>
                  <a:srgbClr val="1E3967"/>
                </a:solidFill>
                <a:latin typeface="Arial" pitchFamily="34" charset="0"/>
                <a:ea typeface="Arial" pitchFamily="34" charset="-122"/>
                <a:cs typeface="Arial" pitchFamily="34" charset="-120"/>
              </a:rPr>
              <a:t>مصادر إضافية</a:t>
            </a:r>
            <a:endParaRPr lang="ar-SA" sz="1300" dirty="0"/>
          </a:p>
        </p:txBody>
      </p:sp>
      <p:sp>
        <p:nvSpPr>
          <p:cNvPr id="13" name="Text 11"/>
          <p:cNvSpPr txBox="1"/>
          <p:nvPr/>
        </p:nvSpPr>
        <p:spPr>
          <a:xfrm>
            <a:off x="731520" y="1828800"/>
            <a:ext cx="3566160" cy="914400"/>
          </a:xfrm>
          <a:prstGeom prst="rect">
            <a:avLst/>
          </a:prstGeom>
          <a:noFill/>
          <a:ln/>
        </p:spPr>
        <p:txBody>
          <a:bodyPr wrap="square" lIns="0" tIns="0" rIns="0" bIns="0" rtlCol="0" anchor="t"/>
          <a:lstStyle/>
          <a:p>
            <a:pPr rtl="1" algn="r" indent="0" marL="0">
              <a:lnSpc>
                <a:spcPct val="115000"/>
              </a:lnSpc>
              <a:buNone/>
            </a:pPr>
            <a:r>
              <a:rPr lang="ar-SA" altLang="en-US" sz="1000" dirty="0">
                <a:solidFill>
                  <a:srgbClr val="1B2330"/>
                </a:solidFill>
                <a:latin typeface="Arial" pitchFamily="34" charset="0"/>
                <a:ea typeface="Arial" pitchFamily="34" charset="-122"/>
                <a:cs typeface="Arial" pitchFamily="34" charset="-120"/>
              </a:rPr>
              <a:t>• تهيئة وترحيل الأرشيف (رسوم لمرة واحدة)</a:t>
            </a:r>
            <a:endParaRPr lang="ar-SA" sz="1000" dirty="0"/>
          </a:p>
          <a:p>
            <a:pPr rtl="1" algn="r" indent="0" marL="0">
              <a:lnSpc>
                <a:spcPct val="115000"/>
              </a:lnSpc>
              <a:buNone/>
            </a:pPr>
            <a:r>
              <a:rPr lang="ar-SA" altLang="en-US" sz="1000" dirty="0">
                <a:solidFill>
                  <a:srgbClr val="1B2330"/>
                </a:solidFill>
                <a:latin typeface="Arial" pitchFamily="34" charset="0"/>
                <a:ea typeface="Arial" pitchFamily="34" charset="-122"/>
                <a:cs typeface="Arial" pitchFamily="34" charset="-120"/>
              </a:rPr>
              <a:t>• حزم قراءة ضوئية للأرشيفات الكبيرة</a:t>
            </a:r>
            <a:endParaRPr lang="ar-SA" sz="1000" dirty="0"/>
          </a:p>
          <a:p>
            <a:pPr rtl="1" algn="r" indent="0" marL="0">
              <a:lnSpc>
                <a:spcPct val="115000"/>
              </a:lnSpc>
              <a:buNone/>
            </a:pPr>
            <a:r>
              <a:rPr lang="ar-SA" altLang="en-US" sz="1000" dirty="0">
                <a:solidFill>
                  <a:srgbClr val="1B2330"/>
                </a:solidFill>
                <a:latin typeface="Arial" pitchFamily="34" charset="0"/>
                <a:ea typeface="Arial" pitchFamily="34" charset="-122"/>
                <a:cs typeface="Arial" pitchFamily="34" charset="-120"/>
              </a:rPr>
              <a:t>• قناة شركاء: مكاتب استشارات الموارد البشرية والمحاماة كموزّعين</a:t>
            </a:r>
            <a:endParaRPr lang="ar-SA" sz="1000" dirty="0"/>
          </a:p>
          <a:p>
            <a:pPr rtl="1" algn="r" indent="0" marL="0">
              <a:lnSpc>
                <a:spcPct val="115000"/>
              </a:lnSpc>
              <a:buNone/>
            </a:pPr>
            <a:r>
              <a:rPr lang="ar-SA" altLang="en-US" sz="1000" dirty="0">
                <a:solidFill>
                  <a:srgbClr val="1B2330"/>
                </a:solidFill>
                <a:latin typeface="Arial" pitchFamily="34" charset="0"/>
                <a:ea typeface="Arial" pitchFamily="34" charset="-122"/>
                <a:cs typeface="Arial" pitchFamily="34" charset="-120"/>
              </a:rPr>
              <a:t>• متطلبات عملاء الحجم الأكبر (SSO، تكاملات)</a:t>
            </a:r>
            <a:endParaRPr lang="ar-SA" sz="1000" dirty="0"/>
          </a:p>
        </p:txBody>
      </p:sp>
      <p:sp>
        <p:nvSpPr>
          <p:cNvPr id="14" name="Shape 12"/>
          <p:cNvSpPr/>
          <p:nvPr/>
        </p:nvSpPr>
        <p:spPr>
          <a:xfrm>
            <a:off x="4663440" y="3017520"/>
            <a:ext cx="3931920" cy="1554480"/>
          </a:xfrm>
          <a:prstGeom prst="roundRect">
            <a:avLst>
              <a:gd name="adj" fmla="val 7059"/>
            </a:avLst>
          </a:prstGeom>
          <a:solidFill>
            <a:srgbClr val="FFFFFF"/>
          </a:solidFill>
          <a:ln w="12700">
            <a:solidFill>
              <a:srgbClr val="FFFFFF"/>
            </a:solidFill>
            <a:prstDash val="solid"/>
          </a:ln>
        </p:spPr>
      </p:sp>
      <p:sp>
        <p:nvSpPr>
          <p:cNvPr id="15" name="Text 13"/>
          <p:cNvSpPr txBox="1"/>
          <p:nvPr/>
        </p:nvSpPr>
        <p:spPr>
          <a:xfrm>
            <a:off x="4846320" y="3154680"/>
            <a:ext cx="3566160" cy="320040"/>
          </a:xfrm>
          <a:prstGeom prst="rect">
            <a:avLst/>
          </a:prstGeom>
          <a:noFill/>
          <a:ln/>
        </p:spPr>
        <p:txBody>
          <a:bodyPr wrap="square" lIns="0" tIns="0" rIns="0" bIns="0" rtlCol="0" anchor="t"/>
          <a:lstStyle/>
          <a:p>
            <a:pPr rtl="1" algn="r" indent="0" marL="0">
              <a:buNone/>
            </a:pPr>
            <a:r>
              <a:rPr lang="ar-SA" altLang="en-US" sz="1300" b="1" dirty="0">
                <a:solidFill>
                  <a:srgbClr val="1E3967"/>
                </a:solidFill>
                <a:latin typeface="Arial" pitchFamily="34" charset="0"/>
                <a:ea typeface="Arial" pitchFamily="34" charset="-122"/>
                <a:cs typeface="Arial" pitchFamily="34" charset="-120"/>
              </a:rPr>
              <a:t>السوق المستهدف</a:t>
            </a:r>
            <a:endParaRPr lang="ar-SA" sz="1300" dirty="0"/>
          </a:p>
        </p:txBody>
      </p:sp>
      <p:sp>
        <p:nvSpPr>
          <p:cNvPr id="16" name="Text 14"/>
          <p:cNvSpPr txBox="1"/>
          <p:nvPr/>
        </p:nvSpPr>
        <p:spPr>
          <a:xfrm>
            <a:off x="4846320" y="3520440"/>
            <a:ext cx="3566160" cy="914400"/>
          </a:xfrm>
          <a:prstGeom prst="rect">
            <a:avLst/>
          </a:prstGeom>
          <a:noFill/>
          <a:ln/>
        </p:spPr>
        <p:txBody>
          <a:bodyPr wrap="square" lIns="0" tIns="0" rIns="0" bIns="0" rtlCol="0" anchor="t"/>
          <a:lstStyle/>
          <a:p>
            <a:pPr rtl="1" algn="r" indent="0" marL="0">
              <a:lnSpc>
                <a:spcPct val="115000"/>
              </a:lnSpc>
              <a:buNone/>
            </a:pPr>
            <a:r>
              <a:rPr lang="ar-SA" altLang="en-US" sz="1000" dirty="0">
                <a:solidFill>
                  <a:srgbClr val="1B2330"/>
                </a:solidFill>
                <a:latin typeface="Arial" pitchFamily="34" charset="0"/>
                <a:ea typeface="Arial" pitchFamily="34" charset="-122"/>
                <a:cs typeface="Arial" pitchFamily="34" charset="-120"/>
              </a:rPr>
              <a:t>المنشآت الصغيرة والمتوسطة في المملكة (٢٠ إلى ٥٠٠ موظف) ذات اللوائح والإجراءات الكثيفة: التجزئة والخدمات اللوجستية والرعاية الصحية والخدمات المهنية. الدخول عبر إدارات الموارد البشرية والعمليات.</a:t>
            </a:r>
            <a:endParaRPr lang="ar-SA" sz="1000" dirty="0"/>
          </a:p>
        </p:txBody>
      </p:sp>
      <p:sp>
        <p:nvSpPr>
          <p:cNvPr id="17" name="Shape 15"/>
          <p:cNvSpPr/>
          <p:nvPr/>
        </p:nvSpPr>
        <p:spPr>
          <a:xfrm>
            <a:off x="4663440" y="3017520"/>
            <a:ext cx="3931920" cy="1554480"/>
          </a:xfrm>
          <a:prstGeom prst="roundRect">
            <a:avLst>
              <a:gd name="adj" fmla="val 7059"/>
            </a:avLst>
          </a:prstGeom>
          <a:solidFill>
            <a:srgbClr val="FFFFFF">
              <a:alpha val="0"/>
            </a:srgbClr>
          </a:solidFill>
          <a:ln w="12700">
            <a:solidFill>
              <a:srgbClr val="D9DEE7"/>
            </a:solidFill>
            <a:prstDash val="solid"/>
          </a:ln>
        </p:spPr>
      </p:sp>
      <p:sp>
        <p:nvSpPr>
          <p:cNvPr id="18" name="Shape 16"/>
          <p:cNvSpPr/>
          <p:nvPr/>
        </p:nvSpPr>
        <p:spPr>
          <a:xfrm>
            <a:off x="548640" y="3017520"/>
            <a:ext cx="3931920" cy="1554480"/>
          </a:xfrm>
          <a:prstGeom prst="roundRect">
            <a:avLst>
              <a:gd name="adj" fmla="val 7059"/>
            </a:avLst>
          </a:prstGeom>
          <a:solidFill>
            <a:srgbClr val="FFFFFF"/>
          </a:solidFill>
          <a:ln w="12700">
            <a:solidFill>
              <a:srgbClr val="FFFFFF"/>
            </a:solidFill>
            <a:prstDash val="solid"/>
          </a:ln>
        </p:spPr>
      </p:sp>
      <p:sp>
        <p:nvSpPr>
          <p:cNvPr id="19" name="Text 17"/>
          <p:cNvSpPr txBox="1"/>
          <p:nvPr/>
        </p:nvSpPr>
        <p:spPr>
          <a:xfrm>
            <a:off x="731520" y="3154680"/>
            <a:ext cx="3566160" cy="320040"/>
          </a:xfrm>
          <a:prstGeom prst="rect">
            <a:avLst/>
          </a:prstGeom>
          <a:noFill/>
          <a:ln/>
        </p:spPr>
        <p:txBody>
          <a:bodyPr wrap="square" lIns="0" tIns="0" rIns="0" bIns="0" rtlCol="0" anchor="t"/>
          <a:lstStyle/>
          <a:p>
            <a:pPr rtl="1" algn="r" indent="0" marL="0">
              <a:buNone/>
            </a:pPr>
            <a:r>
              <a:rPr lang="ar-SA" altLang="en-US" sz="1300" b="1" dirty="0">
                <a:solidFill>
                  <a:srgbClr val="1E3967"/>
                </a:solidFill>
                <a:latin typeface="Arial" pitchFamily="34" charset="0"/>
                <a:ea typeface="Arial" pitchFamily="34" charset="-122"/>
                <a:cs typeface="Arial" pitchFamily="34" charset="-120"/>
              </a:rPr>
              <a:t>الخطة التشغيلية</a:t>
            </a:r>
            <a:endParaRPr lang="ar-SA" sz="1300" dirty="0"/>
          </a:p>
        </p:txBody>
      </p:sp>
      <p:sp>
        <p:nvSpPr>
          <p:cNvPr id="20" name="Text 18"/>
          <p:cNvSpPr txBox="1"/>
          <p:nvPr/>
        </p:nvSpPr>
        <p:spPr>
          <a:xfrm>
            <a:off x="731520" y="3520440"/>
            <a:ext cx="3566160" cy="914400"/>
          </a:xfrm>
          <a:prstGeom prst="rect">
            <a:avLst/>
          </a:prstGeom>
          <a:noFill/>
          <a:ln/>
        </p:spPr>
        <p:txBody>
          <a:bodyPr wrap="square" lIns="0" tIns="0" rIns="0" bIns="0" rtlCol="0" anchor="t"/>
          <a:lstStyle/>
          <a:p>
            <a:pPr rtl="1" algn="r" indent="0" marL="0">
              <a:lnSpc>
                <a:spcPct val="115000"/>
              </a:lnSpc>
              <a:buNone/>
            </a:pPr>
            <a:r>
              <a:rPr lang="ar-SA" altLang="en-US" sz="1000" dirty="0">
                <a:solidFill>
                  <a:srgbClr val="1B2330"/>
                </a:solidFill>
                <a:latin typeface="Arial" pitchFamily="34" charset="0"/>
                <a:ea typeface="Arial" pitchFamily="34" charset="-122"/>
                <a:cs typeface="Arial" pitchFamily="34" charset="-120"/>
              </a:rPr>
              <a:t>• السنة ١: الإثبات، ٣ تجارب ثم ٥ عملاء يدفعون</a:t>
            </a:r>
            <a:endParaRPr lang="ar-SA" sz="1000" dirty="0"/>
          </a:p>
          <a:p>
            <a:pPr rtl="1" algn="r" indent="0" marL="0">
              <a:lnSpc>
                <a:spcPct val="115000"/>
              </a:lnSpc>
              <a:buNone/>
            </a:pPr>
            <a:r>
              <a:rPr lang="ar-SA" altLang="en-US" sz="1000" dirty="0">
                <a:solidFill>
                  <a:srgbClr val="1B2330"/>
                </a:solidFill>
                <a:latin typeface="Arial" pitchFamily="34" charset="0"/>
                <a:ea typeface="Arial" pitchFamily="34" charset="-122"/>
                <a:cs typeface="Arial" pitchFamily="34" charset="-120"/>
              </a:rPr>
              <a:t>• السنة ٢: التكرار، مسؤول بيع وقناة شركاء</a:t>
            </a:r>
            <a:endParaRPr lang="ar-SA" sz="1000" dirty="0"/>
          </a:p>
          <a:p>
            <a:pPr rtl="1" algn="r" indent="0" marL="0">
              <a:lnSpc>
                <a:spcPct val="115000"/>
              </a:lnSpc>
              <a:buNone/>
            </a:pPr>
            <a:r>
              <a:rPr lang="ar-SA" altLang="en-US" sz="1000" dirty="0">
                <a:solidFill>
                  <a:srgbClr val="1B2330"/>
                </a:solidFill>
                <a:latin typeface="Arial" pitchFamily="34" charset="0"/>
                <a:ea typeface="Arial" pitchFamily="34" charset="-122"/>
                <a:cs typeface="Arial" pitchFamily="34" charset="-120"/>
              </a:rPr>
              <a:t>• السنة ٣: التعميق، تكاملات وشهادة أمنية</a:t>
            </a:r>
            <a:endParaRPr lang="ar-SA" sz="1000" dirty="0"/>
          </a:p>
          <a:p>
            <a:pPr rtl="1" algn="r" indent="0" marL="0">
              <a:lnSpc>
                <a:spcPct val="115000"/>
              </a:lnSpc>
              <a:buNone/>
            </a:pPr>
            <a:r>
              <a:rPr lang="ar-SA" altLang="en-US" sz="1000" dirty="0">
                <a:solidFill>
                  <a:srgbClr val="1B2330"/>
                </a:solidFill>
                <a:latin typeface="Arial" pitchFamily="34" charset="0"/>
                <a:ea typeface="Arial" pitchFamily="34" charset="-122"/>
                <a:cs typeface="Arial" pitchFamily="34" charset="-120"/>
              </a:rPr>
              <a:t>• السنتان ٤ و٥: التوسع الجغرافي (الشريحة ١٠)</a:t>
            </a:r>
            <a:endParaRPr lang="ar-SA" sz="1000" dirty="0"/>
          </a:p>
        </p:txBody>
      </p:sp>
      <p:sp>
        <p:nvSpPr>
          <p:cNvPr id="21" name="Shape 19"/>
          <p:cNvSpPr/>
          <p:nvPr/>
        </p:nvSpPr>
        <p:spPr>
          <a:xfrm>
            <a:off x="548640" y="3017520"/>
            <a:ext cx="3931920" cy="1554480"/>
          </a:xfrm>
          <a:prstGeom prst="roundRect">
            <a:avLst>
              <a:gd name="adj" fmla="val 7059"/>
            </a:avLst>
          </a:prstGeom>
          <a:solidFill>
            <a:srgbClr val="FFFFFF">
              <a:alpha val="0"/>
            </a:srgbClr>
          </a:solidFill>
          <a:ln w="12700">
            <a:solidFill>
              <a:srgbClr val="D9DEE7"/>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88720" y="320040"/>
            <a:ext cx="7406640" cy="548640"/>
          </a:xfrm>
          <a:prstGeom prst="rect">
            <a:avLst/>
          </a:prstGeom>
          <a:noFill/>
          <a:ln/>
        </p:spPr>
        <p:txBody>
          <a:bodyPr wrap="square" lIns="0" tIns="0" rIns="0" bIns="0" rtlCol="0" anchor="t"/>
          <a:lstStyle/>
          <a:p>
            <a:pPr rtl="1" algn="r" indent="0" marL="0">
              <a:buNone/>
            </a:pPr>
            <a:r>
              <a:rPr lang="ar-SA" altLang="en-US" sz="2800" b="1" dirty="0">
                <a:solidFill>
                  <a:srgbClr val="1E3967"/>
                </a:solidFill>
                <a:latin typeface="Arial" pitchFamily="34" charset="0"/>
                <a:ea typeface="Arial" pitchFamily="34" charset="-122"/>
                <a:cs typeface="Arial" pitchFamily="34" charset="-120"/>
              </a:rPr>
              <a:t>المالية والتوظيف لخمس سنوات</a:t>
            </a:r>
            <a:endParaRPr lang="ar-SA" sz="2800" dirty="0"/>
          </a:p>
        </p:txBody>
      </p:sp>
      <p:sp>
        <p:nvSpPr>
          <p:cNvPr id="3" name="Text 1"/>
          <p:cNvSpPr txBox="1"/>
          <p:nvPr/>
        </p:nvSpPr>
        <p:spPr>
          <a:xfrm>
            <a:off x="548640" y="868680"/>
            <a:ext cx="8046720" cy="274320"/>
          </a:xfrm>
          <a:prstGeom prst="rect">
            <a:avLst/>
          </a:prstGeom>
          <a:noFill/>
          <a:ln/>
        </p:spPr>
        <p:txBody>
          <a:bodyPr wrap="square" lIns="0" tIns="0" rIns="0" bIns="0" rtlCol="0" anchor="t"/>
          <a:lstStyle/>
          <a:p>
            <a:pPr algn="r" indent="0" marL="0">
              <a:buNone/>
            </a:pPr>
            <a:r>
              <a:rPr lang="en-US" altLang="en-US" sz="1100" dirty="0">
                <a:solidFill>
                  <a:srgbClr val="5B6573"/>
                </a:solidFill>
                <a:latin typeface="Arial" pitchFamily="34" charset="0"/>
                <a:ea typeface="Arial" pitchFamily="34" charset="-122"/>
                <a:cs typeface="Arial" pitchFamily="34" charset="-120"/>
              </a:rPr>
              <a:t>Five-year financial &amp; hiring plan</a:t>
            </a:r>
            <a:endParaRPr lang="en-US" sz="1100" dirty="0"/>
          </a:p>
        </p:txBody>
      </p:sp>
      <p:sp>
        <p:nvSpPr>
          <p:cNvPr id="4" name="Shape 2"/>
          <p:cNvSpPr/>
          <p:nvPr/>
        </p:nvSpPr>
        <p:spPr>
          <a:xfrm>
            <a:off x="548640" y="347472"/>
            <a:ext cx="411480" cy="411480"/>
          </a:xfrm>
          <a:prstGeom prst="roundRect">
            <a:avLst>
              <a:gd name="adj" fmla="val 25000"/>
            </a:avLst>
          </a:prstGeom>
          <a:solidFill>
            <a:srgbClr val="1E3967"/>
          </a:solidFill>
          <a:ln/>
        </p:spPr>
      </p:sp>
      <p:sp>
        <p:nvSpPr>
          <p:cNvPr id="5" name="Shape 3"/>
          <p:cNvSpPr/>
          <p:nvPr/>
        </p:nvSpPr>
        <p:spPr>
          <a:xfrm>
            <a:off x="622706" y="396850"/>
            <a:ext cx="213970" cy="213970"/>
          </a:xfrm>
          <a:prstGeom prst="diamond">
            <a:avLst/>
          </a:prstGeom>
          <a:solidFill>
            <a:srgbClr val="C9A24C"/>
          </a:solidFill>
          <a:ln w="12700">
            <a:solidFill>
              <a:srgbClr val="C9A24C"/>
            </a:solidFill>
            <a:prstDash val="solid"/>
          </a:ln>
        </p:spPr>
      </p:sp>
      <p:sp>
        <p:nvSpPr>
          <p:cNvPr id="6" name="Shape 4"/>
          <p:cNvSpPr/>
          <p:nvPr/>
        </p:nvSpPr>
        <p:spPr>
          <a:xfrm>
            <a:off x="795528" y="586130"/>
            <a:ext cx="106985" cy="106985"/>
          </a:xfrm>
          <a:prstGeom prst="diamond">
            <a:avLst/>
          </a:prstGeom>
          <a:solidFill>
            <a:srgbClr val="FFFFFF">
              <a:alpha val="75000"/>
            </a:srgbClr>
          </a:solidFill>
          <a:ln w="12700">
            <a:solidFill>
              <a:srgbClr val="FFFFFF">
                <a:alpha val="75000"/>
              </a:srgbClr>
            </a:solidFill>
            <a:prstDash val="solid"/>
          </a:ln>
        </p:spPr>
      </p:sp>
      <p:sp>
        <p:nvSpPr>
          <p:cNvPr id="7" name="Text 5"/>
          <p:cNvSpPr txBox="1"/>
          <p:nvPr/>
        </p:nvSpPr>
        <p:spPr>
          <a:xfrm>
            <a:off x="548640" y="4754880"/>
            <a:ext cx="2743200" cy="228600"/>
          </a:xfrm>
          <a:prstGeom prst="rect">
            <a:avLst/>
          </a:prstGeom>
          <a:noFill/>
          <a:ln/>
        </p:spPr>
        <p:txBody>
          <a:bodyPr wrap="square" lIns="0" tIns="0" rIns="0" bIns="0" rtlCol="0" anchor="t"/>
          <a:lstStyle/>
          <a:p>
            <a:pPr rtl="1" algn="l" indent="0" marL="0">
              <a:buNone/>
            </a:pPr>
            <a:r>
              <a:rPr lang="ar-SA" altLang="en-US" sz="900" dirty="0">
                <a:solidFill>
                  <a:srgbClr val="5B6573"/>
                </a:solidFill>
                <a:latin typeface="Arial" pitchFamily="34" charset="0"/>
                <a:ea typeface="Arial" pitchFamily="34" charset="-122"/>
                <a:cs typeface="Arial" pitchFamily="34" charset="-120"/>
              </a:rPr>
              <a:t>بديهة · ملف المشروع</a:t>
            </a:r>
            <a:endParaRPr lang="ar-SA" sz="900" dirty="0"/>
          </a:p>
        </p:txBody>
      </p:sp>
      <p:sp>
        <p:nvSpPr>
          <p:cNvPr id="8" name="Text 6"/>
          <p:cNvSpPr txBox="1"/>
          <p:nvPr/>
        </p:nvSpPr>
        <p:spPr>
          <a:xfrm>
            <a:off x="2926080" y="1280160"/>
            <a:ext cx="5669280" cy="365760"/>
          </a:xfrm>
          <a:prstGeom prst="rect">
            <a:avLst/>
          </a:prstGeom>
          <a:noFill/>
          <a:ln/>
        </p:spPr>
        <p:txBody>
          <a:bodyPr wrap="square" lIns="0" tIns="0" rIns="0" bIns="0" rtlCol="0" anchor="t"/>
          <a:lstStyle/>
          <a:p>
            <a:pPr rtl="1" algn="r" indent="0" marL="0">
              <a:buNone/>
            </a:pPr>
            <a:r>
              <a:rPr lang="ar-SA" altLang="en-US" sz="1000" dirty="0">
                <a:solidFill>
                  <a:srgbClr val="5B6573"/>
                </a:solidFill>
                <a:latin typeface="Arial" pitchFamily="34" charset="0"/>
                <a:ea typeface="Arial" pitchFamily="34" charset="-122"/>
                <a:cs typeface="Arial" pitchFamily="34" charset="-120"/>
              </a:rPr>
              <a:t>الإيراد السنوي المتوقع (مليون ريال). الحد الأدنى السيناريو المتحفّظ والأعلى الأساسي؛ السنتان ٤ و٥ امتداد بنفس الوتيرة.</a:t>
            </a:r>
            <a:endParaRPr lang="ar-SA" sz="1000" dirty="0"/>
          </a:p>
        </p:txBody>
      </p:sp>
      <p:graphicFrame>
        <p:nvGraphicFramePr>
          <p:cNvPr id="9" name="Chart 0" descr=""/>
          <p:cNvGraphicFramePr/>
          <p:nvPr/>
        </p:nvGraphicFramePr>
        <p:xfrm>
          <a:off x="2926080" y="1645920"/>
          <a:ext cx="5669280" cy="292608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548640" y="1280160"/>
            <a:ext cx="2194560" cy="3291840"/>
          </a:xfrm>
          <a:prstGeom prst="roundRect">
            <a:avLst>
              <a:gd name="adj" fmla="val 5000"/>
            </a:avLst>
          </a:prstGeom>
          <a:solidFill>
            <a:srgbClr val="E9EEF6"/>
          </a:solidFill>
          <a:ln w="12700">
            <a:solidFill>
              <a:srgbClr val="E9EEF6"/>
            </a:solidFill>
            <a:prstDash val="solid"/>
          </a:ln>
        </p:spPr>
      </p:sp>
      <p:sp>
        <p:nvSpPr>
          <p:cNvPr id="11" name="Text 8"/>
          <p:cNvSpPr txBox="1"/>
          <p:nvPr/>
        </p:nvSpPr>
        <p:spPr>
          <a:xfrm>
            <a:off x="731520" y="1417320"/>
            <a:ext cx="1828800" cy="320040"/>
          </a:xfrm>
          <a:prstGeom prst="rect">
            <a:avLst/>
          </a:prstGeom>
          <a:noFill/>
          <a:ln/>
        </p:spPr>
        <p:txBody>
          <a:bodyPr wrap="square" lIns="0" tIns="0" rIns="0" bIns="0" rtlCol="0" anchor="t"/>
          <a:lstStyle/>
          <a:p>
            <a:pPr rtl="1" algn="r" indent="0" marL="0">
              <a:buNone/>
            </a:pPr>
            <a:r>
              <a:rPr lang="ar-SA" altLang="en-US" sz="1400" b="1" dirty="0">
                <a:solidFill>
                  <a:srgbClr val="1E3967"/>
                </a:solidFill>
                <a:latin typeface="Arial" pitchFamily="34" charset="0"/>
                <a:ea typeface="Arial" pitchFamily="34" charset="-122"/>
                <a:cs typeface="Arial" pitchFamily="34" charset="-120"/>
              </a:rPr>
              <a:t>الفريق نهاية كل سنة</a:t>
            </a:r>
            <a:endParaRPr lang="ar-SA" sz="1400" dirty="0"/>
          </a:p>
        </p:txBody>
      </p:sp>
      <p:sp>
        <p:nvSpPr>
          <p:cNvPr id="12" name="Text 9"/>
          <p:cNvSpPr txBox="1"/>
          <p:nvPr/>
        </p:nvSpPr>
        <p:spPr>
          <a:xfrm>
            <a:off x="2057400" y="1783080"/>
            <a:ext cx="548640" cy="411480"/>
          </a:xfrm>
          <a:prstGeom prst="rect">
            <a:avLst/>
          </a:prstGeom>
          <a:noFill/>
          <a:ln/>
        </p:spPr>
        <p:txBody>
          <a:bodyPr wrap="square" lIns="0" tIns="0" rIns="0" bIns="0" rtlCol="0" anchor="ctr"/>
          <a:lstStyle/>
          <a:p>
            <a:pPr rtl="1" algn="ctr" indent="0" marL="0">
              <a:buNone/>
            </a:pPr>
            <a:r>
              <a:rPr lang="ar-SA" altLang="en-US" sz="2000" b="1" dirty="0">
                <a:solidFill>
                  <a:srgbClr val="1E3967"/>
                </a:solidFill>
                <a:latin typeface="Arial" pitchFamily="34" charset="0"/>
                <a:ea typeface="Arial" pitchFamily="34" charset="-122"/>
                <a:cs typeface="Arial" pitchFamily="34" charset="-120"/>
              </a:rPr>
              <a:t>١</a:t>
            </a:r>
            <a:endParaRPr lang="ar-SA" sz="2000" dirty="0"/>
          </a:p>
        </p:txBody>
      </p:sp>
      <p:sp>
        <p:nvSpPr>
          <p:cNvPr id="13" name="Text 10"/>
          <p:cNvSpPr txBox="1"/>
          <p:nvPr/>
        </p:nvSpPr>
        <p:spPr>
          <a:xfrm>
            <a:off x="685800" y="1801368"/>
            <a:ext cx="1325880" cy="182880"/>
          </a:xfrm>
          <a:prstGeom prst="rect">
            <a:avLst/>
          </a:prstGeom>
          <a:noFill/>
          <a:ln/>
        </p:spPr>
        <p:txBody>
          <a:bodyPr wrap="square" lIns="0" tIns="0" rIns="0" bIns="0" rtlCol="0" anchor="t"/>
          <a:lstStyle/>
          <a:p>
            <a:pPr rtl="1" algn="r" indent="0" marL="0">
              <a:buNone/>
            </a:pPr>
            <a:r>
              <a:rPr lang="ar-SA" altLang="en-US" sz="800" dirty="0">
                <a:solidFill>
                  <a:srgbClr val="5B6573"/>
                </a:solidFill>
                <a:latin typeface="Arial" pitchFamily="34" charset="0"/>
                <a:ea typeface="Arial" pitchFamily="34" charset="-122"/>
                <a:cs typeface="Arial" pitchFamily="34" charset="-120"/>
              </a:rPr>
              <a:t>السنة ١</a:t>
            </a:r>
            <a:endParaRPr lang="ar-SA" sz="800" dirty="0"/>
          </a:p>
        </p:txBody>
      </p:sp>
      <p:sp>
        <p:nvSpPr>
          <p:cNvPr id="14" name="Text 11"/>
          <p:cNvSpPr txBox="1"/>
          <p:nvPr/>
        </p:nvSpPr>
        <p:spPr>
          <a:xfrm>
            <a:off x="685800" y="1965960"/>
            <a:ext cx="1325880" cy="228600"/>
          </a:xfrm>
          <a:prstGeom prst="rect">
            <a:avLst/>
          </a:prstGeom>
          <a:noFill/>
          <a:ln/>
        </p:spPr>
        <p:txBody>
          <a:bodyPr wrap="square" lIns="0" tIns="0" rIns="0" bIns="0" rtlCol="0" anchor="t"/>
          <a:lstStyle/>
          <a:p>
            <a:pPr rtl="1" algn="r" indent="0" marL="0">
              <a:buNone/>
            </a:pPr>
            <a:r>
              <a:rPr lang="ar-SA" altLang="en-US" sz="950" dirty="0">
                <a:solidFill>
                  <a:srgbClr val="1B2330"/>
                </a:solidFill>
                <a:latin typeface="Arial" pitchFamily="34" charset="0"/>
                <a:ea typeface="Arial" pitchFamily="34" charset="-122"/>
                <a:cs typeface="Arial" pitchFamily="34" charset="-120"/>
              </a:rPr>
              <a:t>المؤسِّسة</a:t>
            </a:r>
            <a:endParaRPr lang="ar-SA" sz="950" dirty="0"/>
          </a:p>
        </p:txBody>
      </p:sp>
      <p:sp>
        <p:nvSpPr>
          <p:cNvPr id="15" name="Text 12"/>
          <p:cNvSpPr txBox="1"/>
          <p:nvPr/>
        </p:nvSpPr>
        <p:spPr>
          <a:xfrm>
            <a:off x="2057400" y="2313432"/>
            <a:ext cx="548640" cy="411480"/>
          </a:xfrm>
          <a:prstGeom prst="rect">
            <a:avLst/>
          </a:prstGeom>
          <a:noFill/>
          <a:ln/>
        </p:spPr>
        <p:txBody>
          <a:bodyPr wrap="square" lIns="0" tIns="0" rIns="0" bIns="0" rtlCol="0" anchor="ctr"/>
          <a:lstStyle/>
          <a:p>
            <a:pPr rtl="1" algn="ctr" indent="0" marL="0">
              <a:buNone/>
            </a:pPr>
            <a:r>
              <a:rPr lang="ar-SA" altLang="en-US" sz="2000" b="1" dirty="0">
                <a:solidFill>
                  <a:srgbClr val="1E3967"/>
                </a:solidFill>
                <a:latin typeface="Arial" pitchFamily="34" charset="0"/>
                <a:ea typeface="Arial" pitchFamily="34" charset="-122"/>
                <a:cs typeface="Arial" pitchFamily="34" charset="-120"/>
              </a:rPr>
              <a:t>٢</a:t>
            </a:r>
            <a:endParaRPr lang="ar-SA" sz="2000" dirty="0"/>
          </a:p>
        </p:txBody>
      </p:sp>
      <p:sp>
        <p:nvSpPr>
          <p:cNvPr id="16" name="Text 13"/>
          <p:cNvSpPr txBox="1"/>
          <p:nvPr/>
        </p:nvSpPr>
        <p:spPr>
          <a:xfrm>
            <a:off x="685800" y="2331720"/>
            <a:ext cx="1325880" cy="182880"/>
          </a:xfrm>
          <a:prstGeom prst="rect">
            <a:avLst/>
          </a:prstGeom>
          <a:noFill/>
          <a:ln/>
        </p:spPr>
        <p:txBody>
          <a:bodyPr wrap="square" lIns="0" tIns="0" rIns="0" bIns="0" rtlCol="0" anchor="t"/>
          <a:lstStyle/>
          <a:p>
            <a:pPr rtl="1" algn="r" indent="0" marL="0">
              <a:buNone/>
            </a:pPr>
            <a:r>
              <a:rPr lang="ar-SA" altLang="en-US" sz="800" dirty="0">
                <a:solidFill>
                  <a:srgbClr val="5B6573"/>
                </a:solidFill>
                <a:latin typeface="Arial" pitchFamily="34" charset="0"/>
                <a:ea typeface="Arial" pitchFamily="34" charset="-122"/>
                <a:cs typeface="Arial" pitchFamily="34" charset="-120"/>
              </a:rPr>
              <a:t>السنة ٢</a:t>
            </a:r>
            <a:endParaRPr lang="ar-SA" sz="800" dirty="0"/>
          </a:p>
        </p:txBody>
      </p:sp>
      <p:sp>
        <p:nvSpPr>
          <p:cNvPr id="17" name="Text 14"/>
          <p:cNvSpPr txBox="1"/>
          <p:nvPr/>
        </p:nvSpPr>
        <p:spPr>
          <a:xfrm>
            <a:off x="685800" y="2496312"/>
            <a:ext cx="1325880" cy="228600"/>
          </a:xfrm>
          <a:prstGeom prst="rect">
            <a:avLst/>
          </a:prstGeom>
          <a:noFill/>
          <a:ln/>
        </p:spPr>
        <p:txBody>
          <a:bodyPr wrap="square" lIns="0" tIns="0" rIns="0" bIns="0" rtlCol="0" anchor="t"/>
          <a:lstStyle/>
          <a:p>
            <a:pPr rtl="1" algn="r" indent="0" marL="0">
              <a:buNone/>
            </a:pPr>
            <a:r>
              <a:rPr lang="ar-SA" altLang="en-US" sz="950" dirty="0">
                <a:solidFill>
                  <a:srgbClr val="1B2330"/>
                </a:solidFill>
                <a:latin typeface="Arial" pitchFamily="34" charset="0"/>
                <a:ea typeface="Arial" pitchFamily="34" charset="-122"/>
                <a:cs typeface="Arial" pitchFamily="34" charset="-120"/>
              </a:rPr>
              <a:t>+ مسؤول بيع</a:t>
            </a:r>
            <a:endParaRPr lang="ar-SA" sz="950" dirty="0"/>
          </a:p>
        </p:txBody>
      </p:sp>
      <p:sp>
        <p:nvSpPr>
          <p:cNvPr id="18" name="Text 15"/>
          <p:cNvSpPr txBox="1"/>
          <p:nvPr/>
        </p:nvSpPr>
        <p:spPr>
          <a:xfrm>
            <a:off x="2057400" y="2843784"/>
            <a:ext cx="548640" cy="411480"/>
          </a:xfrm>
          <a:prstGeom prst="rect">
            <a:avLst/>
          </a:prstGeom>
          <a:noFill/>
          <a:ln/>
        </p:spPr>
        <p:txBody>
          <a:bodyPr wrap="square" lIns="0" tIns="0" rIns="0" bIns="0" rtlCol="0" anchor="ctr"/>
          <a:lstStyle/>
          <a:p>
            <a:pPr rtl="1" algn="ctr" indent="0" marL="0">
              <a:buNone/>
            </a:pPr>
            <a:r>
              <a:rPr lang="ar-SA" altLang="en-US" sz="2000" b="1" dirty="0">
                <a:solidFill>
                  <a:srgbClr val="1E3967"/>
                </a:solidFill>
                <a:latin typeface="Arial" pitchFamily="34" charset="0"/>
                <a:ea typeface="Arial" pitchFamily="34" charset="-122"/>
                <a:cs typeface="Arial" pitchFamily="34" charset="-120"/>
              </a:rPr>
              <a:t>٣–٤</a:t>
            </a:r>
            <a:endParaRPr lang="ar-SA" sz="2000" dirty="0"/>
          </a:p>
        </p:txBody>
      </p:sp>
      <p:sp>
        <p:nvSpPr>
          <p:cNvPr id="19" name="Text 16"/>
          <p:cNvSpPr txBox="1"/>
          <p:nvPr/>
        </p:nvSpPr>
        <p:spPr>
          <a:xfrm>
            <a:off x="685800" y="2862072"/>
            <a:ext cx="1325880" cy="182880"/>
          </a:xfrm>
          <a:prstGeom prst="rect">
            <a:avLst/>
          </a:prstGeom>
          <a:noFill/>
          <a:ln/>
        </p:spPr>
        <p:txBody>
          <a:bodyPr wrap="square" lIns="0" tIns="0" rIns="0" bIns="0" rtlCol="0" anchor="t"/>
          <a:lstStyle/>
          <a:p>
            <a:pPr rtl="1" algn="r" indent="0" marL="0">
              <a:buNone/>
            </a:pPr>
            <a:r>
              <a:rPr lang="ar-SA" altLang="en-US" sz="800" dirty="0">
                <a:solidFill>
                  <a:srgbClr val="5B6573"/>
                </a:solidFill>
                <a:latin typeface="Arial" pitchFamily="34" charset="0"/>
                <a:ea typeface="Arial" pitchFamily="34" charset="-122"/>
                <a:cs typeface="Arial" pitchFamily="34" charset="-120"/>
              </a:rPr>
              <a:t>السنة ٣</a:t>
            </a:r>
            <a:endParaRPr lang="ar-SA" sz="800" dirty="0"/>
          </a:p>
        </p:txBody>
      </p:sp>
      <p:sp>
        <p:nvSpPr>
          <p:cNvPr id="20" name="Text 17"/>
          <p:cNvSpPr txBox="1"/>
          <p:nvPr/>
        </p:nvSpPr>
        <p:spPr>
          <a:xfrm>
            <a:off x="685800" y="3026664"/>
            <a:ext cx="1325880" cy="228600"/>
          </a:xfrm>
          <a:prstGeom prst="rect">
            <a:avLst/>
          </a:prstGeom>
          <a:noFill/>
          <a:ln/>
        </p:spPr>
        <p:txBody>
          <a:bodyPr wrap="square" lIns="0" tIns="0" rIns="0" bIns="0" rtlCol="0" anchor="t"/>
          <a:lstStyle/>
          <a:p>
            <a:pPr rtl="1" algn="r" indent="0" marL="0">
              <a:buNone/>
            </a:pPr>
            <a:r>
              <a:rPr lang="ar-SA" altLang="en-US" sz="950" dirty="0">
                <a:solidFill>
                  <a:srgbClr val="1B2330"/>
                </a:solidFill>
                <a:latin typeface="Arial" pitchFamily="34" charset="0"/>
                <a:ea typeface="Arial" pitchFamily="34" charset="-122"/>
                <a:cs typeface="Arial" pitchFamily="34" charset="-120"/>
              </a:rPr>
              <a:t>+ نجاح عملاء، مهندس</a:t>
            </a:r>
            <a:endParaRPr lang="ar-SA" sz="950" dirty="0"/>
          </a:p>
        </p:txBody>
      </p:sp>
      <p:sp>
        <p:nvSpPr>
          <p:cNvPr id="21" name="Text 18"/>
          <p:cNvSpPr txBox="1"/>
          <p:nvPr/>
        </p:nvSpPr>
        <p:spPr>
          <a:xfrm>
            <a:off x="2057400" y="3374136"/>
            <a:ext cx="548640" cy="411480"/>
          </a:xfrm>
          <a:prstGeom prst="rect">
            <a:avLst/>
          </a:prstGeom>
          <a:noFill/>
          <a:ln/>
        </p:spPr>
        <p:txBody>
          <a:bodyPr wrap="square" lIns="0" tIns="0" rIns="0" bIns="0" rtlCol="0" anchor="ctr"/>
          <a:lstStyle/>
          <a:p>
            <a:pPr rtl="1" algn="ctr" indent="0" marL="0">
              <a:buNone/>
            </a:pPr>
            <a:r>
              <a:rPr lang="ar-SA" altLang="en-US" sz="2000" b="1" dirty="0">
                <a:solidFill>
                  <a:srgbClr val="1E3967"/>
                </a:solidFill>
                <a:latin typeface="Arial" pitchFamily="34" charset="0"/>
                <a:ea typeface="Arial" pitchFamily="34" charset="-122"/>
                <a:cs typeface="Arial" pitchFamily="34" charset="-120"/>
              </a:rPr>
              <a:t>٥</a:t>
            </a:r>
            <a:endParaRPr lang="ar-SA" sz="2000" dirty="0"/>
          </a:p>
        </p:txBody>
      </p:sp>
      <p:sp>
        <p:nvSpPr>
          <p:cNvPr id="22" name="Text 19"/>
          <p:cNvSpPr txBox="1"/>
          <p:nvPr/>
        </p:nvSpPr>
        <p:spPr>
          <a:xfrm>
            <a:off x="685800" y="3392424"/>
            <a:ext cx="1325880" cy="182880"/>
          </a:xfrm>
          <a:prstGeom prst="rect">
            <a:avLst/>
          </a:prstGeom>
          <a:noFill/>
          <a:ln/>
        </p:spPr>
        <p:txBody>
          <a:bodyPr wrap="square" lIns="0" tIns="0" rIns="0" bIns="0" rtlCol="0" anchor="t"/>
          <a:lstStyle/>
          <a:p>
            <a:pPr rtl="1" algn="r" indent="0" marL="0">
              <a:buNone/>
            </a:pPr>
            <a:r>
              <a:rPr lang="ar-SA" altLang="en-US" sz="800" dirty="0">
                <a:solidFill>
                  <a:srgbClr val="5B6573"/>
                </a:solidFill>
                <a:latin typeface="Arial" pitchFamily="34" charset="0"/>
                <a:ea typeface="Arial" pitchFamily="34" charset="-122"/>
                <a:cs typeface="Arial" pitchFamily="34" charset="-120"/>
              </a:rPr>
              <a:t>السنة ٤</a:t>
            </a:r>
            <a:endParaRPr lang="ar-SA" sz="800" dirty="0"/>
          </a:p>
        </p:txBody>
      </p:sp>
      <p:sp>
        <p:nvSpPr>
          <p:cNvPr id="23" name="Text 20"/>
          <p:cNvSpPr txBox="1"/>
          <p:nvPr/>
        </p:nvSpPr>
        <p:spPr>
          <a:xfrm>
            <a:off x="685800" y="3557016"/>
            <a:ext cx="1325880" cy="228600"/>
          </a:xfrm>
          <a:prstGeom prst="rect">
            <a:avLst/>
          </a:prstGeom>
          <a:noFill/>
          <a:ln/>
        </p:spPr>
        <p:txBody>
          <a:bodyPr wrap="square" lIns="0" tIns="0" rIns="0" bIns="0" rtlCol="0" anchor="t"/>
          <a:lstStyle/>
          <a:p>
            <a:pPr rtl="1" algn="r" indent="0" marL="0">
              <a:buNone/>
            </a:pPr>
            <a:r>
              <a:rPr lang="ar-SA" altLang="en-US" sz="950" dirty="0">
                <a:solidFill>
                  <a:srgbClr val="1B2330"/>
                </a:solidFill>
                <a:latin typeface="Arial" pitchFamily="34" charset="0"/>
                <a:ea typeface="Arial" pitchFamily="34" charset="-122"/>
                <a:cs typeface="Arial" pitchFamily="34" charset="-120"/>
              </a:rPr>
              <a:t>+ مبيعات ثانٍ</a:t>
            </a:r>
            <a:endParaRPr lang="ar-SA" sz="950" dirty="0"/>
          </a:p>
        </p:txBody>
      </p:sp>
      <p:sp>
        <p:nvSpPr>
          <p:cNvPr id="24" name="Text 21"/>
          <p:cNvSpPr txBox="1"/>
          <p:nvPr/>
        </p:nvSpPr>
        <p:spPr>
          <a:xfrm>
            <a:off x="2057400" y="3904488"/>
            <a:ext cx="548640" cy="411480"/>
          </a:xfrm>
          <a:prstGeom prst="rect">
            <a:avLst/>
          </a:prstGeom>
          <a:noFill/>
          <a:ln/>
        </p:spPr>
        <p:txBody>
          <a:bodyPr wrap="square" lIns="0" tIns="0" rIns="0" bIns="0" rtlCol="0" anchor="ctr"/>
          <a:lstStyle/>
          <a:p>
            <a:pPr rtl="1" algn="ctr" indent="0" marL="0">
              <a:buNone/>
            </a:pPr>
            <a:r>
              <a:rPr lang="ar-SA" altLang="en-US" sz="2000" b="1" dirty="0">
                <a:solidFill>
                  <a:srgbClr val="1E3967"/>
                </a:solidFill>
                <a:latin typeface="Arial" pitchFamily="34" charset="0"/>
                <a:ea typeface="Arial" pitchFamily="34" charset="-122"/>
                <a:cs typeface="Arial" pitchFamily="34" charset="-120"/>
              </a:rPr>
              <a:t>٦–٧</a:t>
            </a:r>
            <a:endParaRPr lang="ar-SA" sz="2000" dirty="0"/>
          </a:p>
        </p:txBody>
      </p:sp>
      <p:sp>
        <p:nvSpPr>
          <p:cNvPr id="25" name="Text 22"/>
          <p:cNvSpPr txBox="1"/>
          <p:nvPr/>
        </p:nvSpPr>
        <p:spPr>
          <a:xfrm>
            <a:off x="685800" y="3922776"/>
            <a:ext cx="1325880" cy="182880"/>
          </a:xfrm>
          <a:prstGeom prst="rect">
            <a:avLst/>
          </a:prstGeom>
          <a:noFill/>
          <a:ln/>
        </p:spPr>
        <p:txBody>
          <a:bodyPr wrap="square" lIns="0" tIns="0" rIns="0" bIns="0" rtlCol="0" anchor="t"/>
          <a:lstStyle/>
          <a:p>
            <a:pPr rtl="1" algn="r" indent="0" marL="0">
              <a:buNone/>
            </a:pPr>
            <a:r>
              <a:rPr lang="ar-SA" altLang="en-US" sz="800" dirty="0">
                <a:solidFill>
                  <a:srgbClr val="5B6573"/>
                </a:solidFill>
                <a:latin typeface="Arial" pitchFamily="34" charset="0"/>
                <a:ea typeface="Arial" pitchFamily="34" charset="-122"/>
                <a:cs typeface="Arial" pitchFamily="34" charset="-120"/>
              </a:rPr>
              <a:t>السنة ٥</a:t>
            </a:r>
            <a:endParaRPr lang="ar-SA" sz="800" dirty="0"/>
          </a:p>
        </p:txBody>
      </p:sp>
      <p:sp>
        <p:nvSpPr>
          <p:cNvPr id="26" name="Text 23"/>
          <p:cNvSpPr txBox="1"/>
          <p:nvPr/>
        </p:nvSpPr>
        <p:spPr>
          <a:xfrm>
            <a:off x="685800" y="4087368"/>
            <a:ext cx="1325880" cy="228600"/>
          </a:xfrm>
          <a:prstGeom prst="rect">
            <a:avLst/>
          </a:prstGeom>
          <a:noFill/>
          <a:ln/>
        </p:spPr>
        <p:txBody>
          <a:bodyPr wrap="square" lIns="0" tIns="0" rIns="0" bIns="0" rtlCol="0" anchor="t"/>
          <a:lstStyle/>
          <a:p>
            <a:pPr rtl="1" algn="r" indent="0" marL="0">
              <a:buNone/>
            </a:pPr>
            <a:r>
              <a:rPr lang="ar-SA" altLang="en-US" sz="950" dirty="0">
                <a:solidFill>
                  <a:srgbClr val="1B2330"/>
                </a:solidFill>
                <a:latin typeface="Arial" pitchFamily="34" charset="0"/>
                <a:ea typeface="Arial" pitchFamily="34" charset="-122"/>
                <a:cs typeface="Arial" pitchFamily="34" charset="-120"/>
              </a:rPr>
              <a:t>+ مهندس، دعم</a:t>
            </a:r>
            <a:endParaRPr lang="ar-SA"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88720" y="320040"/>
            <a:ext cx="7406640" cy="548640"/>
          </a:xfrm>
          <a:prstGeom prst="rect">
            <a:avLst/>
          </a:prstGeom>
          <a:noFill/>
          <a:ln/>
        </p:spPr>
        <p:txBody>
          <a:bodyPr wrap="square" lIns="0" tIns="0" rIns="0" bIns="0" rtlCol="0" anchor="t"/>
          <a:lstStyle/>
          <a:p>
            <a:pPr rtl="1" algn="r" indent="0" marL="0">
              <a:buNone/>
            </a:pPr>
            <a:r>
              <a:rPr lang="ar-SA" altLang="en-US" sz="2800" b="1" dirty="0">
                <a:solidFill>
                  <a:srgbClr val="1E3967"/>
                </a:solidFill>
                <a:latin typeface="Arial" pitchFamily="34" charset="0"/>
                <a:ea typeface="Arial" pitchFamily="34" charset="-122"/>
                <a:cs typeface="Arial" pitchFamily="34" charset="-120"/>
              </a:rPr>
              <a:t>خطة التوسع</a:t>
            </a:r>
            <a:endParaRPr lang="ar-SA" sz="2800" dirty="0"/>
          </a:p>
        </p:txBody>
      </p:sp>
      <p:sp>
        <p:nvSpPr>
          <p:cNvPr id="3" name="Text 1"/>
          <p:cNvSpPr txBox="1"/>
          <p:nvPr/>
        </p:nvSpPr>
        <p:spPr>
          <a:xfrm>
            <a:off x="548640" y="868680"/>
            <a:ext cx="8046720" cy="274320"/>
          </a:xfrm>
          <a:prstGeom prst="rect">
            <a:avLst/>
          </a:prstGeom>
          <a:noFill/>
          <a:ln/>
        </p:spPr>
        <p:txBody>
          <a:bodyPr wrap="square" lIns="0" tIns="0" rIns="0" bIns="0" rtlCol="0" anchor="t"/>
          <a:lstStyle/>
          <a:p>
            <a:pPr algn="r" indent="0" marL="0">
              <a:buNone/>
            </a:pPr>
            <a:r>
              <a:rPr lang="en-US" altLang="en-US" sz="1100" dirty="0">
                <a:solidFill>
                  <a:srgbClr val="5B6573"/>
                </a:solidFill>
                <a:latin typeface="Arial" pitchFamily="34" charset="0"/>
                <a:ea typeface="Arial" pitchFamily="34" charset="-122"/>
                <a:cs typeface="Arial" pitchFamily="34" charset="-120"/>
              </a:rPr>
              <a:t>Expansion plan</a:t>
            </a:r>
            <a:endParaRPr lang="en-US" sz="1100" dirty="0"/>
          </a:p>
        </p:txBody>
      </p:sp>
      <p:sp>
        <p:nvSpPr>
          <p:cNvPr id="4" name="Shape 2"/>
          <p:cNvSpPr/>
          <p:nvPr/>
        </p:nvSpPr>
        <p:spPr>
          <a:xfrm>
            <a:off x="548640" y="347472"/>
            <a:ext cx="411480" cy="411480"/>
          </a:xfrm>
          <a:prstGeom prst="roundRect">
            <a:avLst>
              <a:gd name="adj" fmla="val 25000"/>
            </a:avLst>
          </a:prstGeom>
          <a:solidFill>
            <a:srgbClr val="1E3967"/>
          </a:solidFill>
          <a:ln/>
        </p:spPr>
      </p:sp>
      <p:sp>
        <p:nvSpPr>
          <p:cNvPr id="5" name="Shape 3"/>
          <p:cNvSpPr/>
          <p:nvPr/>
        </p:nvSpPr>
        <p:spPr>
          <a:xfrm>
            <a:off x="622706" y="396850"/>
            <a:ext cx="213970" cy="213970"/>
          </a:xfrm>
          <a:prstGeom prst="diamond">
            <a:avLst/>
          </a:prstGeom>
          <a:solidFill>
            <a:srgbClr val="C9A24C"/>
          </a:solidFill>
          <a:ln w="12700">
            <a:solidFill>
              <a:srgbClr val="C9A24C"/>
            </a:solidFill>
            <a:prstDash val="solid"/>
          </a:ln>
        </p:spPr>
      </p:sp>
      <p:sp>
        <p:nvSpPr>
          <p:cNvPr id="6" name="Shape 4"/>
          <p:cNvSpPr/>
          <p:nvPr/>
        </p:nvSpPr>
        <p:spPr>
          <a:xfrm>
            <a:off x="795528" y="586130"/>
            <a:ext cx="106985" cy="106985"/>
          </a:xfrm>
          <a:prstGeom prst="diamond">
            <a:avLst/>
          </a:prstGeom>
          <a:solidFill>
            <a:srgbClr val="FFFFFF">
              <a:alpha val="75000"/>
            </a:srgbClr>
          </a:solidFill>
          <a:ln w="12700">
            <a:solidFill>
              <a:srgbClr val="FFFFFF">
                <a:alpha val="75000"/>
              </a:srgbClr>
            </a:solidFill>
            <a:prstDash val="solid"/>
          </a:ln>
        </p:spPr>
      </p:sp>
      <p:sp>
        <p:nvSpPr>
          <p:cNvPr id="7" name="Text 5"/>
          <p:cNvSpPr txBox="1"/>
          <p:nvPr/>
        </p:nvSpPr>
        <p:spPr>
          <a:xfrm>
            <a:off x="548640" y="4754880"/>
            <a:ext cx="2743200" cy="228600"/>
          </a:xfrm>
          <a:prstGeom prst="rect">
            <a:avLst/>
          </a:prstGeom>
          <a:noFill/>
          <a:ln/>
        </p:spPr>
        <p:txBody>
          <a:bodyPr wrap="square" lIns="0" tIns="0" rIns="0" bIns="0" rtlCol="0" anchor="t"/>
          <a:lstStyle/>
          <a:p>
            <a:pPr rtl="1" algn="l" indent="0" marL="0">
              <a:buNone/>
            </a:pPr>
            <a:r>
              <a:rPr lang="ar-SA" altLang="en-US" sz="900" dirty="0">
                <a:solidFill>
                  <a:srgbClr val="5B6573"/>
                </a:solidFill>
                <a:latin typeface="Arial" pitchFamily="34" charset="0"/>
                <a:ea typeface="Arial" pitchFamily="34" charset="-122"/>
                <a:cs typeface="Arial" pitchFamily="34" charset="-120"/>
              </a:rPr>
              <a:t>بديهة · ملف المشروع</a:t>
            </a:r>
            <a:endParaRPr lang="ar-SA" sz="900" dirty="0"/>
          </a:p>
        </p:txBody>
      </p:sp>
      <p:sp>
        <p:nvSpPr>
          <p:cNvPr id="8" name="Shape 6"/>
          <p:cNvSpPr/>
          <p:nvPr/>
        </p:nvSpPr>
        <p:spPr>
          <a:xfrm>
            <a:off x="1097280" y="2148840"/>
            <a:ext cx="6949440" cy="0"/>
          </a:xfrm>
          <a:prstGeom prst="line">
            <a:avLst/>
          </a:prstGeom>
          <a:noFill/>
          <a:ln w="25400">
            <a:solidFill>
              <a:srgbClr val="C9A24C"/>
            </a:solidFill>
            <a:prstDash val="solid"/>
          </a:ln>
        </p:spPr>
      </p:sp>
      <p:sp>
        <p:nvSpPr>
          <p:cNvPr id="9" name="Shape 7"/>
          <p:cNvSpPr/>
          <p:nvPr/>
        </p:nvSpPr>
        <p:spPr>
          <a:xfrm>
            <a:off x="7132320" y="1965960"/>
            <a:ext cx="365760" cy="365760"/>
          </a:xfrm>
          <a:prstGeom prst="ellipse">
            <a:avLst/>
          </a:prstGeom>
          <a:solidFill>
            <a:srgbClr val="C9A24C"/>
          </a:solidFill>
          <a:ln w="25400">
            <a:solidFill>
              <a:srgbClr val="C9A24C"/>
            </a:solidFill>
            <a:prstDash val="solid"/>
          </a:ln>
        </p:spPr>
      </p:sp>
      <p:sp>
        <p:nvSpPr>
          <p:cNvPr id="10" name="Text 8"/>
          <p:cNvSpPr txBox="1"/>
          <p:nvPr/>
        </p:nvSpPr>
        <p:spPr>
          <a:xfrm>
            <a:off x="6035040" y="1463040"/>
            <a:ext cx="2560320" cy="274320"/>
          </a:xfrm>
          <a:prstGeom prst="rect">
            <a:avLst/>
          </a:prstGeom>
          <a:noFill/>
          <a:ln/>
        </p:spPr>
        <p:txBody>
          <a:bodyPr wrap="square" lIns="0" tIns="0" rIns="0" bIns="0" rtlCol="0" anchor="t"/>
          <a:lstStyle/>
          <a:p>
            <a:pPr rtl="1" algn="ctr" indent="0" marL="0">
              <a:buNone/>
            </a:pPr>
            <a:r>
              <a:rPr lang="ar-SA" altLang="en-US" sz="1000" dirty="0">
                <a:solidFill>
                  <a:srgbClr val="5B6573"/>
                </a:solidFill>
                <a:latin typeface="Arial" pitchFamily="34" charset="0"/>
                <a:ea typeface="Arial" pitchFamily="34" charset="-122"/>
                <a:cs typeface="Arial" pitchFamily="34" charset="-120"/>
              </a:rPr>
              <a:t>السنوات ١ إلى ٣</a:t>
            </a:r>
            <a:endParaRPr lang="ar-SA" sz="1000" dirty="0"/>
          </a:p>
        </p:txBody>
      </p:sp>
      <p:sp>
        <p:nvSpPr>
          <p:cNvPr id="11" name="Text 9"/>
          <p:cNvSpPr txBox="1"/>
          <p:nvPr/>
        </p:nvSpPr>
        <p:spPr>
          <a:xfrm>
            <a:off x="6035040" y="2514600"/>
            <a:ext cx="2560320" cy="365760"/>
          </a:xfrm>
          <a:prstGeom prst="rect">
            <a:avLst/>
          </a:prstGeom>
          <a:noFill/>
          <a:ln/>
        </p:spPr>
        <p:txBody>
          <a:bodyPr wrap="square" lIns="0" tIns="0" rIns="0" bIns="0" rtlCol="0" anchor="t"/>
          <a:lstStyle/>
          <a:p>
            <a:pPr rtl="1" algn="ctr" indent="0" marL="0">
              <a:buNone/>
            </a:pPr>
            <a:r>
              <a:rPr lang="ar-SA" altLang="en-US" sz="1600" b="1" dirty="0">
                <a:solidFill>
                  <a:srgbClr val="1E3967"/>
                </a:solidFill>
                <a:latin typeface="Arial" pitchFamily="34" charset="0"/>
                <a:ea typeface="Arial" pitchFamily="34" charset="-122"/>
                <a:cs typeface="Arial" pitchFamily="34" charset="-120"/>
              </a:rPr>
              <a:t>داخل المملكة</a:t>
            </a:r>
            <a:endParaRPr lang="ar-SA" sz="1600" dirty="0"/>
          </a:p>
        </p:txBody>
      </p:sp>
      <p:sp>
        <p:nvSpPr>
          <p:cNvPr id="12" name="Text 10"/>
          <p:cNvSpPr txBox="1"/>
          <p:nvPr/>
        </p:nvSpPr>
        <p:spPr>
          <a:xfrm>
            <a:off x="6126480" y="2926080"/>
            <a:ext cx="2377440" cy="1463040"/>
          </a:xfrm>
          <a:prstGeom prst="rect">
            <a:avLst/>
          </a:prstGeom>
          <a:noFill/>
          <a:ln/>
        </p:spPr>
        <p:txBody>
          <a:bodyPr wrap="square" lIns="0" tIns="0" rIns="0" bIns="0" rtlCol="0" anchor="t"/>
          <a:lstStyle/>
          <a:p>
            <a:pPr rtl="1" algn="r" indent="0" marL="0">
              <a:lnSpc>
                <a:spcPct val="115000"/>
              </a:lnSpc>
              <a:buNone/>
            </a:pPr>
            <a:r>
              <a:rPr lang="ar-SA" altLang="en-US" sz="1050" dirty="0">
                <a:solidFill>
                  <a:srgbClr val="1B2330"/>
                </a:solidFill>
                <a:latin typeface="Arial" pitchFamily="34" charset="0"/>
                <a:ea typeface="Arial" pitchFamily="34" charset="-122"/>
                <a:cs typeface="Arial" pitchFamily="34" charset="-120"/>
              </a:rPr>
              <a:t>الرياض ثم جدة والدمام. بيع مباشر وقناة شركاء، وبناء المراجع والشهادة الأمنية. المنشأة والفريق والاستضافة في المملكة.</a:t>
            </a:r>
            <a:endParaRPr lang="ar-SA" sz="1050" dirty="0"/>
          </a:p>
        </p:txBody>
      </p:sp>
      <p:sp>
        <p:nvSpPr>
          <p:cNvPr id="13" name="Shape 11"/>
          <p:cNvSpPr/>
          <p:nvPr/>
        </p:nvSpPr>
        <p:spPr>
          <a:xfrm>
            <a:off x="4389120" y="1965960"/>
            <a:ext cx="365760" cy="365760"/>
          </a:xfrm>
          <a:prstGeom prst="ellipse">
            <a:avLst/>
          </a:prstGeom>
          <a:solidFill>
            <a:srgbClr val="FFFFFF"/>
          </a:solidFill>
          <a:ln w="25400">
            <a:solidFill>
              <a:srgbClr val="C9A24C"/>
            </a:solidFill>
            <a:prstDash val="solid"/>
          </a:ln>
        </p:spPr>
      </p:sp>
      <p:sp>
        <p:nvSpPr>
          <p:cNvPr id="14" name="Text 12"/>
          <p:cNvSpPr txBox="1"/>
          <p:nvPr/>
        </p:nvSpPr>
        <p:spPr>
          <a:xfrm>
            <a:off x="3291840" y="1463040"/>
            <a:ext cx="2560320" cy="274320"/>
          </a:xfrm>
          <a:prstGeom prst="rect">
            <a:avLst/>
          </a:prstGeom>
          <a:noFill/>
          <a:ln/>
        </p:spPr>
        <p:txBody>
          <a:bodyPr wrap="square" lIns="0" tIns="0" rIns="0" bIns="0" rtlCol="0" anchor="t"/>
          <a:lstStyle/>
          <a:p>
            <a:pPr rtl="1" algn="ctr" indent="0" marL="0">
              <a:buNone/>
            </a:pPr>
            <a:r>
              <a:rPr lang="ar-SA" altLang="en-US" sz="1000" dirty="0">
                <a:solidFill>
                  <a:srgbClr val="5B6573"/>
                </a:solidFill>
                <a:latin typeface="Arial" pitchFamily="34" charset="0"/>
                <a:ea typeface="Arial" pitchFamily="34" charset="-122"/>
                <a:cs typeface="Arial" pitchFamily="34" charset="-120"/>
              </a:rPr>
              <a:t>السنتان ٤ و٥</a:t>
            </a:r>
            <a:endParaRPr lang="ar-SA" sz="1000" dirty="0"/>
          </a:p>
        </p:txBody>
      </p:sp>
      <p:sp>
        <p:nvSpPr>
          <p:cNvPr id="15" name="Text 13"/>
          <p:cNvSpPr txBox="1"/>
          <p:nvPr/>
        </p:nvSpPr>
        <p:spPr>
          <a:xfrm>
            <a:off x="3291840" y="2514600"/>
            <a:ext cx="2560320" cy="365760"/>
          </a:xfrm>
          <a:prstGeom prst="rect">
            <a:avLst/>
          </a:prstGeom>
          <a:noFill/>
          <a:ln/>
        </p:spPr>
        <p:txBody>
          <a:bodyPr wrap="square" lIns="0" tIns="0" rIns="0" bIns="0" rtlCol="0" anchor="t"/>
          <a:lstStyle/>
          <a:p>
            <a:pPr rtl="1" algn="ctr" indent="0" marL="0">
              <a:buNone/>
            </a:pPr>
            <a:r>
              <a:rPr lang="ar-SA" altLang="en-US" sz="1600" b="1" dirty="0">
                <a:solidFill>
                  <a:srgbClr val="1E3967"/>
                </a:solidFill>
                <a:latin typeface="Arial" pitchFamily="34" charset="0"/>
                <a:ea typeface="Arial" pitchFamily="34" charset="-122"/>
                <a:cs typeface="Arial" pitchFamily="34" charset="-120"/>
              </a:rPr>
              <a:t>دول الخليج</a:t>
            </a:r>
            <a:endParaRPr lang="ar-SA" sz="1600" dirty="0"/>
          </a:p>
        </p:txBody>
      </p:sp>
      <p:sp>
        <p:nvSpPr>
          <p:cNvPr id="16" name="Text 14"/>
          <p:cNvSpPr txBox="1"/>
          <p:nvPr/>
        </p:nvSpPr>
        <p:spPr>
          <a:xfrm>
            <a:off x="3383280" y="2926080"/>
            <a:ext cx="2377440" cy="1463040"/>
          </a:xfrm>
          <a:prstGeom prst="rect">
            <a:avLst/>
          </a:prstGeom>
          <a:noFill/>
          <a:ln/>
        </p:spPr>
        <p:txBody>
          <a:bodyPr wrap="square" lIns="0" tIns="0" rIns="0" bIns="0" rtlCol="0" anchor="t"/>
          <a:lstStyle/>
          <a:p>
            <a:pPr rtl="1" algn="r" indent="0" marL="0">
              <a:lnSpc>
                <a:spcPct val="115000"/>
              </a:lnSpc>
              <a:buNone/>
            </a:pPr>
            <a:r>
              <a:rPr lang="ar-SA" altLang="en-US" sz="1050" dirty="0">
                <a:solidFill>
                  <a:srgbClr val="1B2330"/>
                </a:solidFill>
                <a:latin typeface="Arial" pitchFamily="34" charset="0"/>
                <a:ea typeface="Arial" pitchFamily="34" charset="-122"/>
                <a:cs typeface="Arial" pitchFamily="34" charset="-120"/>
              </a:rPr>
              <a:t>الإمارات وقطر والكويت عبر شركاء محليين، بالمنتج نفسه واللغة نفسها، مع خيار استضافة إقليمية.</a:t>
            </a:r>
            <a:endParaRPr lang="ar-SA" sz="1050" dirty="0"/>
          </a:p>
        </p:txBody>
      </p:sp>
      <p:sp>
        <p:nvSpPr>
          <p:cNvPr id="17" name="Shape 15"/>
          <p:cNvSpPr/>
          <p:nvPr/>
        </p:nvSpPr>
        <p:spPr>
          <a:xfrm>
            <a:off x="1645920" y="1965960"/>
            <a:ext cx="365760" cy="365760"/>
          </a:xfrm>
          <a:prstGeom prst="ellipse">
            <a:avLst/>
          </a:prstGeom>
          <a:solidFill>
            <a:srgbClr val="FFFFFF"/>
          </a:solidFill>
          <a:ln w="25400">
            <a:solidFill>
              <a:srgbClr val="C9A24C"/>
            </a:solidFill>
            <a:prstDash val="solid"/>
          </a:ln>
        </p:spPr>
      </p:sp>
      <p:sp>
        <p:nvSpPr>
          <p:cNvPr id="18" name="Text 16"/>
          <p:cNvSpPr txBox="1"/>
          <p:nvPr/>
        </p:nvSpPr>
        <p:spPr>
          <a:xfrm>
            <a:off x="548640" y="1463040"/>
            <a:ext cx="2560320" cy="274320"/>
          </a:xfrm>
          <a:prstGeom prst="rect">
            <a:avLst/>
          </a:prstGeom>
          <a:noFill/>
          <a:ln/>
        </p:spPr>
        <p:txBody>
          <a:bodyPr wrap="square" lIns="0" tIns="0" rIns="0" bIns="0" rtlCol="0" anchor="t"/>
          <a:lstStyle/>
          <a:p>
            <a:pPr rtl="1" algn="ctr" indent="0" marL="0">
              <a:buNone/>
            </a:pPr>
            <a:r>
              <a:rPr lang="ar-SA" altLang="en-US" sz="1000" dirty="0">
                <a:solidFill>
                  <a:srgbClr val="5B6573"/>
                </a:solidFill>
                <a:latin typeface="Arial" pitchFamily="34" charset="0"/>
                <a:ea typeface="Arial" pitchFamily="34" charset="-122"/>
                <a:cs typeface="Arial" pitchFamily="34" charset="-120"/>
              </a:rPr>
              <a:t>بعد السنة ٥</a:t>
            </a:r>
            <a:endParaRPr lang="ar-SA" sz="1000" dirty="0"/>
          </a:p>
        </p:txBody>
      </p:sp>
      <p:sp>
        <p:nvSpPr>
          <p:cNvPr id="19" name="Text 17"/>
          <p:cNvSpPr txBox="1"/>
          <p:nvPr/>
        </p:nvSpPr>
        <p:spPr>
          <a:xfrm>
            <a:off x="548640" y="2514600"/>
            <a:ext cx="2560320" cy="365760"/>
          </a:xfrm>
          <a:prstGeom prst="rect">
            <a:avLst/>
          </a:prstGeom>
          <a:noFill/>
          <a:ln/>
        </p:spPr>
        <p:txBody>
          <a:bodyPr wrap="square" lIns="0" tIns="0" rIns="0" bIns="0" rtlCol="0" anchor="t"/>
          <a:lstStyle/>
          <a:p>
            <a:pPr rtl="1" algn="ctr" indent="0" marL="0">
              <a:buNone/>
            </a:pPr>
            <a:r>
              <a:rPr lang="ar-SA" altLang="en-US" sz="1600" b="1" dirty="0">
                <a:solidFill>
                  <a:srgbClr val="1E3967"/>
                </a:solidFill>
                <a:latin typeface="Arial" pitchFamily="34" charset="0"/>
                <a:ea typeface="Arial" pitchFamily="34" charset="-122"/>
                <a:cs typeface="Arial" pitchFamily="34" charset="-120"/>
              </a:rPr>
              <a:t>الأسواق الناطقة بالعربية</a:t>
            </a:r>
            <a:endParaRPr lang="ar-SA" sz="1600" dirty="0"/>
          </a:p>
        </p:txBody>
      </p:sp>
      <p:sp>
        <p:nvSpPr>
          <p:cNvPr id="20" name="Text 18"/>
          <p:cNvSpPr txBox="1"/>
          <p:nvPr/>
        </p:nvSpPr>
        <p:spPr>
          <a:xfrm>
            <a:off x="640080" y="2926080"/>
            <a:ext cx="2377440" cy="1463040"/>
          </a:xfrm>
          <a:prstGeom prst="rect">
            <a:avLst/>
          </a:prstGeom>
          <a:noFill/>
          <a:ln/>
        </p:spPr>
        <p:txBody>
          <a:bodyPr wrap="square" lIns="0" tIns="0" rIns="0" bIns="0" rtlCol="0" anchor="t"/>
          <a:lstStyle/>
          <a:p>
            <a:pPr rtl="1" algn="r" indent="0" marL="0">
              <a:lnSpc>
                <a:spcPct val="115000"/>
              </a:lnSpc>
              <a:buNone/>
            </a:pPr>
            <a:r>
              <a:rPr lang="ar-SA" altLang="en-US" sz="1050" dirty="0">
                <a:solidFill>
                  <a:srgbClr val="1B2330"/>
                </a:solidFill>
                <a:latin typeface="Arial" pitchFamily="34" charset="0"/>
                <a:ea typeface="Arial" pitchFamily="34" charset="-122"/>
                <a:cs typeface="Arial" pitchFamily="34" charset="-120"/>
              </a:rPr>
              <a:t>مصر والأردن والمغرب العربي حيث لا يوجد بديل عربي أولًا، وبمعايير أمان مبنية للمؤسسات.</a:t>
            </a:r>
            <a:endParaRPr lang="ar-SA" sz="1050" dirty="0"/>
          </a:p>
        </p:txBody>
      </p:sp>
      <p:sp>
        <p:nvSpPr>
          <p:cNvPr id="21" name="Text 19"/>
          <p:cNvSpPr txBox="1"/>
          <p:nvPr/>
        </p:nvSpPr>
        <p:spPr>
          <a:xfrm>
            <a:off x="548640" y="4389120"/>
            <a:ext cx="8046720" cy="274320"/>
          </a:xfrm>
          <a:prstGeom prst="rect">
            <a:avLst/>
          </a:prstGeom>
          <a:noFill/>
          <a:ln/>
        </p:spPr>
        <p:txBody>
          <a:bodyPr wrap="square" lIns="0" tIns="0" rIns="0" bIns="0" rtlCol="0" anchor="t"/>
          <a:lstStyle/>
          <a:p>
            <a:pPr rtl="1" algn="r" indent="0" marL="0">
              <a:buNone/>
            </a:pPr>
            <a:r>
              <a:rPr lang="ar-SA" altLang="en-US" sz="1000" dirty="0">
                <a:solidFill>
                  <a:srgbClr val="5B6573"/>
                </a:solidFill>
                <a:latin typeface="Arial" pitchFamily="34" charset="0"/>
                <a:ea typeface="Arial" pitchFamily="34" charset="-122"/>
                <a:cs typeface="Arial" pitchFamily="34" charset="-120"/>
              </a:rPr>
              <a:t>الاستثمار في الاقتصاد السعودي أولًا: التأسيس والتوظيف والاستضافة والعملاء الأوائل كلهم داخل المملكة قبل أي توسع.</a:t>
            </a:r>
            <a:endParaRPr lang="ar-SA"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2026-09-07T01:01:44Z</dcterms:created>
  <dcterms:modified xsi:type="dcterms:W3CDTF">2026-09-07T01:01:44Z</dcterms:modified>
</cp:coreProperties>
</file>