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افتحي بالجملة: «كل شركة عندها الجواب مكتوب — والوصول إليه يمرّ بموظف مشغول». ثم أشيري إلى المثال: هذا سؤال حقيقي وجوابه الحقيقي من نظام العمل، بمصدره وصفحته.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اسألي الحاضرين: «كم مرة أجبتم السؤال نفسه هذا الشهر؟» ثم السطر الأخير: مسألة الذكاء الاصطناعي ليست هل يدخل — بل هل يدخل بضوابط أم من الباب الخلفي.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أكّدي أن البداية لا تحتاج شيئًا منهم غير الملفات الموجودة أصلًا. الخطوة الرابعة ملوّنة لأنها الفرق: الجواب لا يأتي وحده — يأتي بمصدره.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هي التموضع كله. المنافس يعطي جوابًا ويطلب الثقة — نحن نعطي الجواب ومعه طريق التحقق منه في ثلاثين ثانية. والعمود الثالث يجيب سؤالهم قبل أن يسألوه: «وإذا غلط؟»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اشرحي الحلقة بمثال: موظف سأل عن بدل السكن ولا توجد سياسة مكتوبة — يظهر السؤال عندكم، تكتبون الجواب مرة واحدة، ومن سأل يصله إشعار. بعد شهر: تقرير بما ينقص توثيقكم مرتبًا بالأهمية.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لحظة البيع الحقيقية. اطلبي منهم لائحة قبل الاجتماع بيوم وجهّزيها، ودعيهم يكتبون السؤال بأيديهم. وإن سأل مسؤول التقنية عن الأمان: العزل بين الشركات مفروض داخل قاعدة البيانات نفسها ومُثبَت بأكثر من مئتي اختبار، ونرسل التقرير التقني الكامل لمن يطلبه — جواب دقيقة واحدة، ولا شريحة 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تفاوضي على السعر في الاجتماع الأول — الهدف الوحيد هو بدء التجربة. وإن سُئلتِ عن السعر قولي الأرقام بثقة: أقل من راتب متدرّب، مقابل استرجاع وقت أغلى موظفيكم.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أنهي الاجتماع بسؤال مباشر: «أي لائحة نبدأ بها؟» — سؤال يفترض الموافقة ويجعل الخطوة التالية ملموسة. واتفقي على موعد مراجعة نهاية الأسبوع قبل مغادرة الاجتماع.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اتركي الشريحة معروضة أثناء الأسئلة. وقبل الإغلاق كرري العرض الوحيد المطلوب: تجربة أسبوع على لائحة واحدة، تجهيزها علينا بالكامل.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0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515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معرفة AI</a:t>
            </a:r>
            <a:endParaRPr lang="ar-SA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موظفوكم يسألون — مستنداتكم تجيب.</a:t>
            </a:r>
            <a:endParaRPr lang="ar-SA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900" dirty="0">
                <a:solidFill>
                  <a:srgbClr val="E8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استرجعوا وقت أغلى موظفيكم: جوابٌ فوري بالعربية من وثائق شركتكم،</a:t>
            </a:r>
            <a:endParaRPr lang="ar-SA" sz="19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900" dirty="0">
                <a:solidFill>
                  <a:srgbClr val="E8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ومعه المستند والصفحة — فلا أحد يقاطع خبيرًا ليسأله ما هو مكتوب.</a:t>
            </a:r>
            <a:endParaRPr lang="ar-SA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5852160" cy="566928"/>
          </a:xfrm>
          <a:prstGeom prst="roundRect">
            <a:avLst>
              <a:gd name="adj" fmla="val 19355"/>
            </a:avLst>
          </a:prstGeom>
          <a:solidFill>
            <a:srgbClr val="1E507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46634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مدة الإجازة السنوية؟</a:t>
            </a:r>
            <a:endParaRPr lang="ar-SA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413248"/>
            <a:ext cx="5852160" cy="868680"/>
          </a:xfrm>
          <a:prstGeom prst="roundRect">
            <a:avLst>
              <a:gd name="adj" fmla="val 12632"/>
            </a:avLst>
          </a:prstGeom>
          <a:solidFill>
            <a:srgbClr val="1B3A54"/>
          </a:solidFill>
          <a:ln w="9525">
            <a:solidFill>
              <a:srgbClr val="2A6C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54498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E8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تقل عن ٢١ يومًا، تُزاد إلى ٣٠ يومًا متى أمضى العامل خمس سنوات متصلة.</a:t>
            </a:r>
            <a:endParaRPr lang="ar-SA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5870448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E5075"/>
          </a:solidFill>
          <a:ln w="9525">
            <a:solidFill>
              <a:srgbClr val="2A6C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870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العمل · صفحة ٢٥ · ثقة عالية</a:t>
            </a:r>
            <a:endParaRPr lang="ar-SA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مرة أجبتم السؤال نفسه هذا الشهر؟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8942832" y="16916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DF3F8"/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19659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7103" y="2122871"/>
            <a:ext cx="289682" cy="2896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71432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المتكرر</a:t>
            </a:r>
            <a:endParaRPr lang="ar-SA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171432" y="3246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الموارد البشرية يشرح السياسة نفسها كل أسبوع، لأشخاص مختلفين.</a:t>
            </a:r>
            <a:endParaRPr lang="ar-SA" sz="1300" dirty="0"/>
          </a:p>
        </p:txBody>
      </p:sp>
      <p:sp>
        <p:nvSpPr>
          <p:cNvPr id="8" name="Shape 5"/>
          <p:cNvSpPr/>
          <p:nvPr/>
        </p:nvSpPr>
        <p:spPr>
          <a:xfrm>
            <a:off x="6044184" y="16916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DF3F8"/>
          </a:solidFill>
          <a:ln/>
        </p:spPr>
      </p:sp>
      <p:sp>
        <p:nvSpPr>
          <p:cNvPr id="9" name="Shape 6"/>
          <p:cNvSpPr/>
          <p:nvPr/>
        </p:nvSpPr>
        <p:spPr>
          <a:xfrm>
            <a:off x="7781544" y="19659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455" y="2122871"/>
            <a:ext cx="289682" cy="28968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72784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الجواب المتضارب</a:t>
            </a:r>
            <a:endParaRPr lang="ar-SA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272784" y="3246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الإجابة تختلف باختلاف من سُئل — ولا أحد يعرف أيّها الصحيح.</a:t>
            </a:r>
            <a:endParaRPr lang="ar-SA" sz="1300" dirty="0"/>
          </a:p>
        </p:txBody>
      </p:sp>
      <p:sp>
        <p:nvSpPr>
          <p:cNvPr id="13" name="Shape 9"/>
          <p:cNvSpPr/>
          <p:nvPr/>
        </p:nvSpPr>
        <p:spPr>
          <a:xfrm>
            <a:off x="3145536" y="16916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DF3F8"/>
          </a:solidFill>
          <a:ln/>
        </p:spPr>
      </p:sp>
      <p:sp>
        <p:nvSpPr>
          <p:cNvPr id="14" name="Shape 10"/>
          <p:cNvSpPr/>
          <p:nvPr/>
        </p:nvSpPr>
        <p:spPr>
          <a:xfrm>
            <a:off x="4882896" y="19659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807" y="2122871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74136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المعرفة التي تمشي</a:t>
            </a:r>
            <a:endParaRPr lang="ar-SA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374136" y="3246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يستقيل خبير، فيتبيّن أن نصف الإجراءات لم يكتبها أحد غيره.</a:t>
            </a:r>
            <a:endParaRPr lang="ar-SA" sz="1300" dirty="0"/>
          </a:p>
        </p:txBody>
      </p:sp>
      <p:sp>
        <p:nvSpPr>
          <p:cNvPr id="18" name="Shape 13"/>
          <p:cNvSpPr/>
          <p:nvPr/>
        </p:nvSpPr>
        <p:spPr>
          <a:xfrm>
            <a:off x="246888" y="16916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DF3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984248" y="19659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159" y="2122871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75488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الإلحاق البطيء</a:t>
            </a:r>
            <a:endParaRPr lang="ar-SA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475488" y="3246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الجديد يحتاج أسابيع ليعرف أين يجد ما يحتاجه.</a:t>
            </a:r>
            <a:endParaRPr lang="ar-SA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i="1" dirty="0">
                <a:solidFill>
                  <a:srgbClr val="1E5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وحين لا تعطونهم بديلًا آمنًا — يفتحون ChatGPT ويلصقون مستنداتكم فيه.</a:t>
            </a:r>
            <a:endParaRPr lang="ar-SA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خطوات تفصلكم عن أول جواب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8028432" y="178308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DF3F8"/>
          </a:solidFill>
          <a:ln/>
        </p:spPr>
      </p:sp>
      <p:sp>
        <p:nvSpPr>
          <p:cNvPr id="4" name="Shape 2"/>
          <p:cNvSpPr/>
          <p:nvPr/>
        </p:nvSpPr>
        <p:spPr>
          <a:xfrm>
            <a:off x="10634472" y="2057400"/>
            <a:ext cx="640080" cy="640080"/>
          </a:xfrm>
          <a:prstGeom prst="ellipse">
            <a:avLst/>
          </a:prstGeom>
          <a:solidFill>
            <a:srgbClr val="2A6C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57032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5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ارفعوا ملفاتكم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257032" y="3401568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وWord وExcel كما هي — بلا إعادة كتابة ولا تنسيق.</a:t>
            </a:r>
            <a:endParaRPr lang="ar-SA" sz="1250" dirty="0"/>
          </a:p>
        </p:txBody>
      </p:sp>
      <p:sp>
        <p:nvSpPr>
          <p:cNvPr id="8" name="Shape 6"/>
          <p:cNvSpPr/>
          <p:nvPr/>
        </p:nvSpPr>
        <p:spPr>
          <a:xfrm>
            <a:off x="4187952" y="178308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DF3F8"/>
          </a:solidFill>
          <a:ln/>
        </p:spPr>
      </p:sp>
      <p:sp>
        <p:nvSpPr>
          <p:cNvPr id="9" name="Shape 7"/>
          <p:cNvSpPr/>
          <p:nvPr/>
        </p:nvSpPr>
        <p:spPr>
          <a:xfrm>
            <a:off x="6793992" y="2057400"/>
            <a:ext cx="640080" cy="640080"/>
          </a:xfrm>
          <a:prstGeom prst="ellipse">
            <a:avLst/>
          </a:prstGeom>
          <a:solidFill>
            <a:srgbClr val="2A6C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9399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5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اسألوا بالعربية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3401568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كلٌّ بلغته وصياغته — من المتصفح أو من واتساب.</a:t>
            </a:r>
            <a:endParaRPr lang="ar-SA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178308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2A6C9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53512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5351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2A6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استلموا الجواب بمصدره</a:t>
            </a:r>
            <a:endParaRPr lang="ar-SA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576072" y="3401568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250" dirty="0">
                <a:solidFill>
                  <a:srgbClr val="E8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المستند والصفحة مع كل إجابة — تراجعونها بأنفسكم في ثوانٍ.</a:t>
            </a:r>
            <a:endParaRPr lang="ar-SA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035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1E5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جاهزة في يوم واحد — بلا تركيب، وبلا تدريب لفريقكم، وبلا رسوم تأسيس.</a:t>
            </a:r>
            <a:endParaRPr lang="ar-SA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تثقون بجوابها؟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8028432" y="17373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EDF3F8"/>
          </a:solidFill>
          <a:ln/>
        </p:spPr>
      </p:sp>
      <p:sp>
        <p:nvSpPr>
          <p:cNvPr id="4" name="Shape 2"/>
          <p:cNvSpPr/>
          <p:nvPr/>
        </p:nvSpPr>
        <p:spPr>
          <a:xfrm>
            <a:off x="10634472" y="20116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6138" y="2173346"/>
            <a:ext cx="298460" cy="298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02752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رقم يُراجَع تلقائيًا</a:t>
            </a:r>
            <a:endParaRPr lang="ar-SA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302752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مدة ومبلغ ونسبة تُقارن بالمستند قبل أن تصلكم — وما لم نجده في المصدر نُعلّم عليه بتحذير واضح.</a:t>
            </a:r>
            <a:endParaRPr lang="ar-SA" sz="1300" dirty="0"/>
          </a:p>
        </p:txBody>
      </p:sp>
      <p:sp>
        <p:nvSpPr>
          <p:cNvPr id="8" name="Shape 5"/>
          <p:cNvSpPr/>
          <p:nvPr/>
        </p:nvSpPr>
        <p:spPr>
          <a:xfrm>
            <a:off x="4187952" y="17373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EDF3F8"/>
          </a:solidFill>
          <a:ln/>
        </p:spPr>
      </p:sp>
      <p:sp>
        <p:nvSpPr>
          <p:cNvPr id="9" name="Shape 6"/>
          <p:cNvSpPr/>
          <p:nvPr/>
        </p:nvSpPr>
        <p:spPr>
          <a:xfrm>
            <a:off x="6793992" y="20116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658" y="2173346"/>
            <a:ext cx="298460" cy="298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62272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 والصفحة مع كل جواب</a:t>
            </a:r>
            <a:endParaRPr lang="ar-SA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462272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«صدّقنا» — بل «راجعوا بأنفسكم». كل إجابة تحمل اسم المستند ورقم الصفحة ودرجة الثقة.</a:t>
            </a:r>
            <a:endParaRPr lang="ar-SA" sz="1300" dirty="0"/>
          </a:p>
        </p:txBody>
      </p:sp>
      <p:sp>
        <p:nvSpPr>
          <p:cNvPr id="13" name="Shape 9"/>
          <p:cNvSpPr/>
          <p:nvPr/>
        </p:nvSpPr>
        <p:spPr>
          <a:xfrm>
            <a:off x="347472" y="17373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EDF3F8"/>
          </a:solidFill>
          <a:ln/>
        </p:spPr>
      </p:sp>
      <p:sp>
        <p:nvSpPr>
          <p:cNvPr id="14" name="Shape 10"/>
          <p:cNvSpPr/>
          <p:nvPr/>
        </p:nvSpPr>
        <p:spPr>
          <a:xfrm>
            <a:off x="2953512" y="20116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178" y="2173346"/>
            <a:ext cx="298460" cy="298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وتصارحكم حين لا تعرف</a:t>
            </a:r>
            <a:endParaRPr lang="ar-SA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 لم يكن الجواب في وثائقكم قالتها بوضوح — لا تخترع جوابًا يبدو مقنعًا. فالخطأ الواثق أخطر من الصمت.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تكشف لكم ما ينقص توثيقكم — قبل أن يكلّفكم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9079992" y="228600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EDF3F8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25146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3871" y="2671511"/>
            <a:ext cx="289682" cy="2896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217152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بلا جواب</a:t>
            </a:r>
            <a:endParaRPr lang="ar-SA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9217152" y="36393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يُسجَّل تلقائيًا</a:t>
            </a:r>
            <a:endParaRPr lang="ar-SA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513064" y="30632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2A6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ar-SA" sz="2000" dirty="0"/>
          </a:p>
        </p:txBody>
      </p:sp>
      <p:sp>
        <p:nvSpPr>
          <p:cNvPr id="9" name="Shape 6"/>
          <p:cNvSpPr/>
          <p:nvPr/>
        </p:nvSpPr>
        <p:spPr>
          <a:xfrm>
            <a:off x="6135624" y="228600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ED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7022592" y="25146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503" y="267151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72784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مرتّبة</a:t>
            </a:r>
            <a:endParaRPr lang="ar-SA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272784" y="36393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بتكرار السؤال</a:t>
            </a:r>
            <a:endParaRPr lang="ar-SA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5568696" y="30632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2A6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ar-SA" sz="2000" dirty="0"/>
          </a:p>
        </p:txBody>
      </p:sp>
      <p:sp>
        <p:nvSpPr>
          <p:cNvPr id="15" name="Shape 11"/>
          <p:cNvSpPr/>
          <p:nvPr/>
        </p:nvSpPr>
        <p:spPr>
          <a:xfrm>
            <a:off x="3191256" y="228600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EDF3F8"/>
          </a:solidFill>
          <a:ln/>
        </p:spPr>
      </p:sp>
      <p:sp>
        <p:nvSpPr>
          <p:cNvPr id="16" name="Shape 12"/>
          <p:cNvSpPr/>
          <p:nvPr/>
        </p:nvSpPr>
        <p:spPr>
          <a:xfrm>
            <a:off x="4078224" y="25146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135" y="267151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328416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 يجيب مرة</a:t>
            </a:r>
            <a:endParaRPr lang="ar-SA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3328416" y="36393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فيدخل الجواب قاعدة المعرفة</a:t>
            </a:r>
            <a:endParaRPr lang="ar-SA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2624328" y="30632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2A6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ar-SA" sz="2000" dirty="0"/>
          </a:p>
        </p:txBody>
      </p:sp>
      <p:sp>
        <p:nvSpPr>
          <p:cNvPr id="21" name="Shape 16"/>
          <p:cNvSpPr/>
          <p:nvPr/>
        </p:nvSpPr>
        <p:spPr>
          <a:xfrm>
            <a:off x="246888" y="228600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EDF3F8"/>
          </a:solidFill>
          <a:ln/>
        </p:spPr>
      </p:sp>
      <p:sp>
        <p:nvSpPr>
          <p:cNvPr id="22" name="Shape 17"/>
          <p:cNvSpPr/>
          <p:nvPr/>
        </p:nvSpPr>
        <p:spPr>
          <a:xfrm>
            <a:off x="1133856" y="25146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767" y="2671511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84048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 لمن سأل</a:t>
            </a:r>
            <a:endParaRPr lang="ar-SA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384048" y="36393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«سؤالك صار له جواب»</a:t>
            </a:r>
            <a:endParaRPr lang="ar-SA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48920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1E5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شهر: تقرير جاهز بما يسأل عنه فريقكم ولا يجد جوابه — مرتّبًا بالأهمية.</a:t>
            </a:r>
            <a:endParaRPr lang="ar-SA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جرّبوها على لائحتكم — في هذا الاجتماع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أعطونا مستندًا واحدًا الآن أو قبل الاجتماع، ثم اسألوه أنتم بأنفسكم.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3108960" y="2286000"/>
            <a:ext cx="5943600" cy="603504"/>
          </a:xfrm>
          <a:prstGeom prst="roundRect">
            <a:avLst>
              <a:gd name="adj" fmla="val 19697"/>
            </a:avLst>
          </a:prstGeom>
          <a:solidFill>
            <a:srgbClr val="2A6C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383280" y="2286000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سؤالكم — بصياغتكم أنتم، ولو بالعامية</a:t>
            </a:r>
            <a:endParaRPr lang="ar-SA" sz="1500" dirty="0"/>
          </a:p>
        </p:txBody>
      </p:sp>
      <p:sp>
        <p:nvSpPr>
          <p:cNvPr id="6" name="Shape 4"/>
          <p:cNvSpPr/>
          <p:nvPr/>
        </p:nvSpPr>
        <p:spPr>
          <a:xfrm>
            <a:off x="3108960" y="3108960"/>
            <a:ext cx="5943600" cy="1600200"/>
          </a:xfrm>
          <a:prstGeom prst="roundRect">
            <a:avLst>
              <a:gd name="adj" fmla="val 7429"/>
            </a:avLst>
          </a:prstGeom>
          <a:solidFill>
            <a:srgbClr val="EDF3F8"/>
          </a:solidFill>
          <a:ln w="12700">
            <a:solidFill>
              <a:srgbClr val="2A6C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3246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الجواب من مستندكم، لا من الإنترنت</a:t>
            </a:r>
            <a:endParaRPr lang="ar-SA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73075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وتحته المصدر الذي تراجعونه بأنفسكم في ثلاثين ثانية:</a:t>
            </a:r>
            <a:endParaRPr lang="ar-SA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41605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EDF3F8"/>
          </a:solidFill>
          <a:ln w="9525">
            <a:solidFill>
              <a:srgbClr val="2A6C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1E5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لائحتكم · الصفحة · درجة الثقة</a:t>
            </a:r>
            <a:endParaRPr lang="ar-SA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07492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1E5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اختبروها بسؤالٍ تعرفون جوابه — وبسؤالٍ تعرفون أن لا جواب له في الملف. الثاني أهم.</a:t>
            </a:r>
            <a:endParaRPr lang="ar-SA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وبياناتكم لكم وحدكم — لا تُستخدم لتدريب أي نموذج، ولا يراها أحد غير فريقكم.</a:t>
            </a:r>
            <a:endParaRPr lang="ar-SA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ابدؤوا اليوم — مجانًا وبلا التزام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7525512" y="1645920"/>
            <a:ext cx="4023360" cy="3931920"/>
          </a:xfrm>
          <a:prstGeom prst="roundRect">
            <a:avLst>
              <a:gd name="adj" fmla="val 3256"/>
            </a:avLst>
          </a:prstGeom>
          <a:solidFill>
            <a:srgbClr val="2A6C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845552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مجانية</a:t>
            </a:r>
            <a:endParaRPr lang="ar-S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845552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 أيام</a:t>
            </a:r>
            <a:endParaRPr lang="ar-SA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845552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بلا بطاقة ائتمانية</a:t>
            </a:r>
            <a:endParaRPr lang="ar-S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845552" y="3886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على مستنداتكم الحقيقية</a:t>
            </a:r>
            <a:endParaRPr lang="ar-SA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45552" y="4389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٣ مستخدمين، و١٠ مستندات، و٥٠ سؤالًا</a:t>
            </a:r>
            <a:endParaRPr lang="ar-SA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845552" y="4892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نجهّزها لكم في يوم عمل واحد</a:t>
            </a:r>
            <a:endParaRPr lang="ar-SA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6675120" cy="1188720"/>
          </a:xfrm>
          <a:prstGeom prst="roundRect">
            <a:avLst>
              <a:gd name="adj" fmla="val 9231"/>
            </a:avLst>
          </a:prstGeom>
          <a:solidFill>
            <a:srgbClr val="EDF3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8105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ar-SA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2677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 مستخدمين، و٦٠٠ سؤال شهريًا</a:t>
            </a:r>
            <a:endParaRPr lang="ar-SA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920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2600" b="1" dirty="0">
                <a:solidFill>
                  <a:srgbClr val="1E5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899</a:t>
            </a:r>
            <a:pPr algn="l" indent="0" marL="0">
              <a:buNone/>
            </a:pPr>
            <a:r>
              <a:rPr lang="ar-SA" alt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ريال/شهر</a:t>
            </a:r>
            <a:endParaRPr lang="ar-SA" sz="26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6675120" cy="1188720"/>
          </a:xfrm>
          <a:prstGeom prst="roundRect">
            <a:avLst>
              <a:gd name="adj" fmla="val 9231"/>
            </a:avLst>
          </a:prstGeom>
          <a:solidFill>
            <a:srgbClr val="EDF3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0" y="3182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ar-SA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36393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٣٠ مستخدمًا، و٢٬٠٠٠ سؤال شهريًا</a:t>
            </a:r>
            <a:endParaRPr lang="ar-SA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2600" b="1" dirty="0">
                <a:solidFill>
                  <a:srgbClr val="1E5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2,499</a:t>
            </a:r>
            <a:pPr algn="l" indent="0" marL="0">
              <a:buNone/>
            </a:pPr>
            <a:r>
              <a:rPr lang="ar-SA" alt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ريال/شهر</a:t>
            </a:r>
            <a:endParaRPr lang="ar-SA" sz="260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6675120" cy="1188720"/>
          </a:xfrm>
          <a:prstGeom prst="roundRect">
            <a:avLst>
              <a:gd name="adj" fmla="val 9231"/>
            </a:avLst>
          </a:prstGeom>
          <a:solidFill>
            <a:srgbClr val="EDF3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37760" y="4553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ar-SA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50109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٧٥ مستخدمًا، و٦٬٠٠٠ سؤال شهريًا</a:t>
            </a:r>
            <a:endParaRPr lang="ar-SA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663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2600" b="1" dirty="0">
                <a:solidFill>
                  <a:srgbClr val="1E5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5,999</a:t>
            </a:r>
            <a:pPr algn="l" indent="0" marL="0">
              <a:buNone/>
            </a:pPr>
            <a:r>
              <a:rPr lang="ar-SA" alt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ريال/شهر</a:t>
            </a:r>
            <a:endParaRPr lang="ar-SA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064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الأسعار لا تشمل ضريبة القيمة المضافة · بلا رسوم تأسيس · الحدود قابلة للتخصيص للجهات الكبيرة</a:t>
            </a:r>
            <a:endParaRPr lang="ar-SA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غدًا — تكون جاهزةً عندكم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8028432" y="182880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DF3F8"/>
          </a:solidFill>
          <a:ln/>
        </p:spPr>
      </p:sp>
      <p:sp>
        <p:nvSpPr>
          <p:cNvPr id="4" name="Shape 2"/>
          <p:cNvSpPr/>
          <p:nvPr/>
        </p:nvSpPr>
        <p:spPr>
          <a:xfrm>
            <a:off x="10588752" y="2103120"/>
            <a:ext cx="640080" cy="640080"/>
          </a:xfrm>
          <a:prstGeom prst="ellipse">
            <a:avLst/>
          </a:prstGeom>
          <a:solidFill>
            <a:srgbClr val="2A6C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8875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2000" dirty="0"/>
          </a:p>
        </p:txBody>
      </p:sp>
      <p:sp>
        <p:nvSpPr>
          <p:cNvPr id="6" name="Shape 4"/>
          <p:cNvSpPr/>
          <p:nvPr/>
        </p:nvSpPr>
        <p:spPr>
          <a:xfrm>
            <a:off x="8302752" y="21031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173" y="22695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302752" y="2971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لائحة واحدة</a:t>
            </a:r>
            <a:endParaRPr lang="ar-SA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302752" y="3520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أو Word — أي وثيقة يسأل عنها فريقكم كثيرًا</a:t>
            </a:r>
            <a:endParaRPr lang="ar-SA" sz="1300" dirty="0"/>
          </a:p>
        </p:txBody>
      </p:sp>
      <p:sp>
        <p:nvSpPr>
          <p:cNvPr id="10" name="Shape 7"/>
          <p:cNvSpPr/>
          <p:nvPr/>
        </p:nvSpPr>
        <p:spPr>
          <a:xfrm>
            <a:off x="4187952" y="182880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DF3F8"/>
          </a:solidFill>
          <a:ln/>
        </p:spPr>
      </p:sp>
      <p:sp>
        <p:nvSpPr>
          <p:cNvPr id="11" name="Shape 8"/>
          <p:cNvSpPr/>
          <p:nvPr/>
        </p:nvSpPr>
        <p:spPr>
          <a:xfrm>
            <a:off x="6748272" y="2103120"/>
            <a:ext cx="640080" cy="640080"/>
          </a:xfrm>
          <a:prstGeom prst="ellipse">
            <a:avLst/>
          </a:prstGeom>
          <a:solidFill>
            <a:srgbClr val="2A6C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4827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2000" dirty="0"/>
          </a:p>
        </p:txBody>
      </p:sp>
      <p:sp>
        <p:nvSpPr>
          <p:cNvPr id="13" name="Shape 10"/>
          <p:cNvSpPr/>
          <p:nvPr/>
        </p:nvSpPr>
        <p:spPr>
          <a:xfrm>
            <a:off x="4462272" y="21031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93" y="226954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62272" y="2971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مستخدمين</a:t>
            </a:r>
            <a:endParaRPr lang="ar-SA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462272" y="3520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موظفان يسألان فعلًا، ومسؤول يرى التحليلات</a:t>
            </a:r>
            <a:endParaRPr lang="ar-SA" sz="1300" dirty="0"/>
          </a:p>
        </p:txBody>
      </p:sp>
      <p:sp>
        <p:nvSpPr>
          <p:cNvPr id="17" name="Shape 13"/>
          <p:cNvSpPr/>
          <p:nvPr/>
        </p:nvSpPr>
        <p:spPr>
          <a:xfrm>
            <a:off x="347472" y="182880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DF3F8"/>
          </a:solidFill>
          <a:ln/>
        </p:spPr>
      </p:sp>
      <p:sp>
        <p:nvSpPr>
          <p:cNvPr id="18" name="Shape 14"/>
          <p:cNvSpPr/>
          <p:nvPr/>
        </p:nvSpPr>
        <p:spPr>
          <a:xfrm>
            <a:off x="2907792" y="2103120"/>
            <a:ext cx="640080" cy="640080"/>
          </a:xfrm>
          <a:prstGeom prst="ellipse">
            <a:avLst/>
          </a:prstGeom>
          <a:solidFill>
            <a:srgbClr val="2A6C9E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290779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2000" dirty="0"/>
          </a:p>
        </p:txBody>
      </p:sp>
      <p:sp>
        <p:nvSpPr>
          <p:cNvPr id="20" name="Shape 16"/>
          <p:cNvSpPr/>
          <p:nvPr/>
        </p:nvSpPr>
        <p:spPr>
          <a:xfrm>
            <a:off x="621792" y="21031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226954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21792" y="2971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واحد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21792" y="3520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يسألون طبيعيًا — ثم نراجع معًا: ماذا أجاب، وماذا كشف</a:t>
            </a:r>
            <a:endParaRPr lang="ar-SA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40080" y="52578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1E5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وفي نهاية الأسبوع: تقرير قصير — نسبة ما أُجيب، وما كشفته الأسئلة من نقص في التوثيق.</a:t>
            </a:r>
            <a:endParaRPr lang="ar-SA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0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أجيبوا مرة واحدة —</a:t>
            </a:r>
            <a:endParaRPr lang="ar-SA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والنظام يجيب بعدكم.</a:t>
            </a:r>
            <a:endParaRPr lang="ar-SA" sz="4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2" y="47091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645152"/>
            <a:ext cx="10040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E8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ma3rifah-ai.vercel.app</a:t>
            </a:r>
            <a:endParaRPr lang="ar-SA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525780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5193792"/>
            <a:ext cx="10040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E8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manal.alareqi@gmail.com</a:t>
            </a:r>
            <a:endParaRPr lang="ar-SA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2026-08-31T23:03:49Z</dcterms:created>
  <dcterms:modified xsi:type="dcterms:W3CDTF">2026-08-31T23:03:49Z</dcterms:modified>
</cp:coreProperties>
</file>