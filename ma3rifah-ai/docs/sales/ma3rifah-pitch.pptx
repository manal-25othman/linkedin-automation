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افتحي بالجملة: «كل شركة عندها الجواب مكتوب — والوصول إليه يمرّ بموظف مشغول». ثم أشيري إلى المثال: هذا سؤال حقيقي وجوابه الحقيقي من نظام العمل، بمصدره وصفحته.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اسألي الحاضرين: «كم مرة أجبتم السؤال نفسه هذا الشهر؟» ثم السطر الأخير: مسألة الذكاء الاصطناعي ليست هل يدخل — بل هل يدخل بضوابط أم من الباب الخلفي.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أكّدي أن البداية لا تحتاج شيئًا منهم غير الملفات الموجودة أصلًا. الخطوة الرابعة ملوّنة لأنها الفرق: الجواب لا يأتي وحده — يأتي بمصدره.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هي التموضع كله. المنافس يعطي جوابًا ويطلب الثقة — نحن نعطي الجواب ومعه طريق التحقق منه في ثلاثين ثانية. والعمود الثالث يجيب سؤالهم قبل أن يسألوه: «وإذا غلط؟»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اشرحي الحلقة بمثال: موظف سأل عن بدل السكن ولا توجد سياسة مكتوبة — يظهر السؤال عندكم، تكتبون الجواب مرة واحدة، ومن سأل يصله إشعار. بعد شهر: تقرير بما ينقص توثيقكم مرتبًا بالأهمية.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لمدير التقنية وأمن المعلومات — الشخص الذي يستطيع الرفض. النقطة الجوهرية: العزل مفروض داخل قاعدة البيانات نفسها فلا يكسره خطأ برمجي، ومُثبَت باختبارات نعرضها عند الطلب. وإن سُئلتِ عن شهادات SOC 2 / ISO: بصراحة — لا نحملها بعد، ونعرض بدلها تقرير الاختبارات.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لحظة البيع الحقيقية. اطلبي منهم لائحة قبل الاجتماع بيوم وجهّزيها. ودعيهم يكتبون السؤال بأيديهم. شجّعيهم على سؤالٍ لا جواب له في الملف — حين يقول «لم أجد» بدل الاختراع، تكسبين ثقة مدير التقنية أكثر من أي شريحة.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تفاوضي على السعر في الاجتماع الأول — الهدف الوحيد هو بدء التجربة. وإن سُئلتِ عن السعر قولي الأرقام بثقة: أقل من راتب متدرّب، مقابل استرجاع وقت أغلى موظفيكم.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أنهي الاجتماع بسؤال مباشر: «أي لائحة نبدأ بها؟» — سؤال يفترض الموافقة ويجعل الخطوة التالية ملموسة. واتفقي على موعد مراجعة نهاية الأسبوع قبل مغادرة الاجتماع.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اتركي الشريحة معروضة أثناء الأسئلة. وقبل الإغلاق كرري العرض الوحيد المطلوب: تجربة أسبوع على لائحة واحدة، تجهيزها علينا بالكامل.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0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051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معرفة AI</a:t>
            </a:r>
            <a:endParaRPr lang="ar-SA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8308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اسألوا مستنداتكم.</a:t>
            </a:r>
            <a:endParaRPr lang="ar-SA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543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90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مساعد ذكيّ يجيب موظفيكم من وثائق شركتكم وحدها — بالعربية،</a:t>
            </a:r>
            <a:endParaRPr lang="ar-SA" sz="19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90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ذكر المستند والصفحة، والتحقق من كل رقم قبل أن يصلكم.</a:t>
            </a:r>
            <a:endParaRPr lang="ar-SA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4663440"/>
            <a:ext cx="5852160" cy="566928"/>
          </a:xfrm>
          <a:prstGeom prst="roundRect">
            <a:avLst>
              <a:gd name="adj" fmla="val 19355"/>
            </a:avLst>
          </a:prstGeom>
          <a:solidFill>
            <a:srgbClr val="1E507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466344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مدة الإجازة السنوية؟</a:t>
            </a:r>
            <a:endParaRPr lang="ar-SA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5413248"/>
            <a:ext cx="5852160" cy="868680"/>
          </a:xfrm>
          <a:prstGeom prst="roundRect">
            <a:avLst>
              <a:gd name="adj" fmla="val 12632"/>
            </a:avLst>
          </a:prstGeom>
          <a:solidFill>
            <a:srgbClr val="1B3A54"/>
          </a:solidFill>
          <a:ln w="9525">
            <a:solidFill>
              <a:srgbClr val="2A6C9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544982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5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تقل عن ٢١ يومًا، تُزاد إلى ٣٠ يومًا متى أمضى العامل خمس سنوات متصلة.</a:t>
            </a:r>
            <a:endParaRPr lang="ar-SA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5870448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1E5075"/>
          </a:solidFill>
          <a:ln w="9525">
            <a:solidFill>
              <a:srgbClr val="2A6C9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58704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نظام العمل · صفحة ٢٥ · ثقة عالية</a:t>
            </a:r>
            <a:endParaRPr lang="ar-SA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المعرفة موجودة — والوصول إليها يمرّ بإنسان مشغول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8942832" y="169164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EDF3F8"/>
          </a:solidFill>
          <a:ln/>
        </p:spPr>
      </p:sp>
      <p:sp>
        <p:nvSpPr>
          <p:cNvPr id="4" name="Shape 2"/>
          <p:cNvSpPr/>
          <p:nvPr/>
        </p:nvSpPr>
        <p:spPr>
          <a:xfrm>
            <a:off x="10680192" y="19659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7103" y="2122871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71432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السؤال المتكرر</a:t>
            </a:r>
            <a:endParaRPr lang="ar-SA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71432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مدير الموارد البشرية يشرح السياسة نفسها كل أسبوع، لأشخاص مختلفين.</a:t>
            </a:r>
            <a:endParaRPr lang="ar-SA" sz="1300" dirty="0"/>
          </a:p>
        </p:txBody>
      </p:sp>
      <p:sp>
        <p:nvSpPr>
          <p:cNvPr id="8" name="Shape 5"/>
          <p:cNvSpPr/>
          <p:nvPr/>
        </p:nvSpPr>
        <p:spPr>
          <a:xfrm>
            <a:off x="6044184" y="169164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EDF3F8"/>
          </a:solidFill>
          <a:ln/>
        </p:spPr>
      </p:sp>
      <p:sp>
        <p:nvSpPr>
          <p:cNvPr id="9" name="Shape 6"/>
          <p:cNvSpPr/>
          <p:nvPr/>
        </p:nvSpPr>
        <p:spPr>
          <a:xfrm>
            <a:off x="7781544" y="19659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8455" y="2122871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272784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الجواب المتضارب</a:t>
            </a:r>
            <a:endParaRPr lang="ar-SA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272784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الإجابة تختلف باختلاف من سُئل — ولا أحد يعرف أيّها الصحيح.</a:t>
            </a:r>
            <a:endParaRPr lang="ar-SA" sz="1300" dirty="0"/>
          </a:p>
        </p:txBody>
      </p:sp>
      <p:sp>
        <p:nvSpPr>
          <p:cNvPr id="13" name="Shape 9"/>
          <p:cNvSpPr/>
          <p:nvPr/>
        </p:nvSpPr>
        <p:spPr>
          <a:xfrm>
            <a:off x="3145536" y="169164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EDF3F8"/>
          </a:solidFill>
          <a:ln/>
        </p:spPr>
      </p:sp>
      <p:sp>
        <p:nvSpPr>
          <p:cNvPr id="14" name="Shape 10"/>
          <p:cNvSpPr/>
          <p:nvPr/>
        </p:nvSpPr>
        <p:spPr>
          <a:xfrm>
            <a:off x="4882896" y="19659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9807" y="2122871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74136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المعرفة التي تمشي</a:t>
            </a:r>
            <a:endParaRPr lang="ar-SA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3374136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يستقيل خبير، فيتبيّن أن نصف الإجراءات لم يكتبها أحد غيره.</a:t>
            </a:r>
            <a:endParaRPr lang="ar-SA" sz="1300" dirty="0"/>
          </a:p>
        </p:txBody>
      </p:sp>
      <p:sp>
        <p:nvSpPr>
          <p:cNvPr id="18" name="Shape 13"/>
          <p:cNvSpPr/>
          <p:nvPr/>
        </p:nvSpPr>
        <p:spPr>
          <a:xfrm>
            <a:off x="246888" y="169164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EDF3F8"/>
          </a:solidFill>
          <a:ln/>
        </p:spPr>
      </p:sp>
      <p:sp>
        <p:nvSpPr>
          <p:cNvPr id="19" name="Shape 14"/>
          <p:cNvSpPr/>
          <p:nvPr/>
        </p:nvSpPr>
        <p:spPr>
          <a:xfrm>
            <a:off x="1984248" y="19659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159" y="2122871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5488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الإلحاق البطيء</a:t>
            </a:r>
            <a:endParaRPr lang="ar-SA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475488" y="32461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الموظف الجديد يحتاج أسابيع ليعرف أين يجد ما يحتاجه.</a:t>
            </a:r>
            <a:endParaRPr lang="ar-SA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i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والبديل الواقعي اليوم: الموظف يسأل ChatGPT ويلصق فيه مستندًا داخليًا — بلا إذن وبلا رقابة.</a:t>
            </a:r>
            <a:endParaRPr lang="ar-SA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خطوات — والتجهيز بالساعات لا بالأشهر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8942832" y="17830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EDF3F8"/>
          </a:solidFill>
          <a:ln/>
        </p:spPr>
      </p:sp>
      <p:sp>
        <p:nvSpPr>
          <p:cNvPr id="4" name="Shape 2"/>
          <p:cNvSpPr/>
          <p:nvPr/>
        </p:nvSpPr>
        <p:spPr>
          <a:xfrm>
            <a:off x="10634472" y="2057400"/>
            <a:ext cx="640080" cy="640080"/>
          </a:xfrm>
          <a:prstGeom prst="ellipse">
            <a:avLst/>
          </a:prstGeom>
          <a:solidFill>
            <a:srgbClr val="2A6C9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34472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</a:t>
            </a:r>
            <a:endParaRPr lang="ar-SA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71432" y="2880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5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ارفعوا المستندات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171432" y="3401568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وWord وExcel كما هي — بلا إعادة كتابة ولا تنسيق.</a:t>
            </a:r>
            <a:endParaRPr lang="ar-SA" sz="1250" dirty="0"/>
          </a:p>
        </p:txBody>
      </p:sp>
      <p:sp>
        <p:nvSpPr>
          <p:cNvPr id="8" name="Shape 6"/>
          <p:cNvSpPr/>
          <p:nvPr/>
        </p:nvSpPr>
        <p:spPr>
          <a:xfrm>
            <a:off x="6044184" y="17830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EDF3F8"/>
          </a:solidFill>
          <a:ln/>
        </p:spPr>
      </p:sp>
      <p:sp>
        <p:nvSpPr>
          <p:cNvPr id="9" name="Shape 7"/>
          <p:cNvSpPr/>
          <p:nvPr/>
        </p:nvSpPr>
        <p:spPr>
          <a:xfrm>
            <a:off x="7735824" y="2057400"/>
            <a:ext cx="640080" cy="640080"/>
          </a:xfrm>
          <a:prstGeom prst="ellipse">
            <a:avLst/>
          </a:prstGeom>
          <a:solidFill>
            <a:srgbClr val="2A6C9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35824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</a:t>
            </a:r>
            <a:endParaRPr lang="ar-SA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72784" y="2880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5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تُقرأ وتُفهرس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272784" y="3401568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معالجة مخصّصة للعربية، وبحث بالمعنى وباللفظ معًا.</a:t>
            </a:r>
            <a:endParaRPr lang="ar-SA" sz="1250" dirty="0"/>
          </a:p>
        </p:txBody>
      </p:sp>
      <p:sp>
        <p:nvSpPr>
          <p:cNvPr id="13" name="Shape 11"/>
          <p:cNvSpPr/>
          <p:nvPr/>
        </p:nvSpPr>
        <p:spPr>
          <a:xfrm>
            <a:off x="3145536" y="17830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EDF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4837176" y="2057400"/>
            <a:ext cx="640080" cy="640080"/>
          </a:xfrm>
          <a:prstGeom prst="ellipse">
            <a:avLst/>
          </a:prstGeom>
          <a:solidFill>
            <a:srgbClr val="2A6C9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37176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</a:t>
            </a:r>
            <a:endParaRPr lang="ar-SA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374136" y="2880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5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يسأل الموظف</a:t>
            </a:r>
            <a:endParaRPr lang="ar-SA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3374136" y="3401568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بلغته الطبيعية — من المتصفح أو من واتساب.</a:t>
            </a:r>
            <a:endParaRPr lang="ar-SA" sz="1250" dirty="0"/>
          </a:p>
        </p:txBody>
      </p:sp>
      <p:sp>
        <p:nvSpPr>
          <p:cNvPr id="18" name="Shape 16"/>
          <p:cNvSpPr/>
          <p:nvPr/>
        </p:nvSpPr>
        <p:spPr>
          <a:xfrm>
            <a:off x="246888" y="17830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2A6C9E"/>
          </a:solidFill>
          <a:ln/>
        </p:spPr>
      </p:sp>
      <p:sp>
        <p:nvSpPr>
          <p:cNvPr id="19" name="Shape 17"/>
          <p:cNvSpPr/>
          <p:nvPr/>
        </p:nvSpPr>
        <p:spPr>
          <a:xfrm>
            <a:off x="1938528" y="20574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938528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2A6C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٤</a:t>
            </a:r>
            <a:endParaRPr lang="ar-SA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" y="288036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يصل الجواب بمصدره</a:t>
            </a:r>
            <a:endParaRPr lang="ar-SA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3401568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5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المستند والصفحة، ودرجة ثقة، وتحذير على أي رقم غير مؤكد.</a:t>
            </a:r>
            <a:endParaRPr lang="ar-SA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تركيب على خوادمكم، ولا مشروع توثيق قبل البدء، ولا رسوم تأسيس.</a:t>
            </a:r>
            <a:endParaRPr lang="ar-SA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نطلب منكم الثقة — نعطيكم طريق المراجعة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8028432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EDF3F8"/>
          </a:solidFill>
          <a:ln/>
        </p:spPr>
      </p:sp>
      <p:sp>
        <p:nvSpPr>
          <p:cNvPr id="4" name="Shape 2"/>
          <p:cNvSpPr/>
          <p:nvPr/>
        </p:nvSpPr>
        <p:spPr>
          <a:xfrm>
            <a:off x="10634472" y="2011680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6138" y="2173346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2752" y="28346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إجابة تُراجَع لا تُصدَّق</a:t>
            </a:r>
            <a:endParaRPr lang="ar-SA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30275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مدة ومبلغ ونسبة في الإجابة تُقارن بالمستند نفسه. ما لم يرد في المصدر يظهر عليه تحذير يسمّيه — ودرجة ثقة ظاهرة مع كل جواب.</a:t>
            </a:r>
            <a:endParaRPr lang="ar-SA" sz="1300" dirty="0"/>
          </a:p>
        </p:txBody>
      </p:sp>
      <p:sp>
        <p:nvSpPr>
          <p:cNvPr id="8" name="Shape 5"/>
          <p:cNvSpPr/>
          <p:nvPr/>
        </p:nvSpPr>
        <p:spPr>
          <a:xfrm>
            <a:off x="4187952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EDF3F8"/>
          </a:solidFill>
          <a:ln/>
        </p:spPr>
      </p:sp>
      <p:sp>
        <p:nvSpPr>
          <p:cNvPr id="9" name="Shape 6"/>
          <p:cNvSpPr/>
          <p:nvPr/>
        </p:nvSpPr>
        <p:spPr>
          <a:xfrm>
            <a:off x="6793992" y="2011680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658" y="2173346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62272" y="28346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تكشف نقص توثيقكم</a:t>
            </a:r>
            <a:endParaRPr lang="ar-SA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46227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سؤال بلا جواب يُسجَّل. بعد شهر لديكم قائمة بما لم تكتبوه ويحتاجه فريقكم فعلًا — مرتّبة بتكرار السؤال.</a:t>
            </a:r>
            <a:endParaRPr lang="ar-SA" sz="1300" dirty="0"/>
          </a:p>
        </p:txBody>
      </p:sp>
      <p:sp>
        <p:nvSpPr>
          <p:cNvPr id="13" name="Shape 9"/>
          <p:cNvSpPr/>
          <p:nvPr/>
        </p:nvSpPr>
        <p:spPr>
          <a:xfrm>
            <a:off x="347472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EDF3F8"/>
          </a:solidFill>
          <a:ln/>
        </p:spPr>
      </p:sp>
      <p:sp>
        <p:nvSpPr>
          <p:cNvPr id="14" name="Shape 10"/>
          <p:cNvSpPr/>
          <p:nvPr/>
        </p:nvSpPr>
        <p:spPr>
          <a:xfrm>
            <a:off x="2953512" y="2011680"/>
            <a:ext cx="621792" cy="62179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78" y="2173346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" y="28346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تقول «لا أعرف»</a:t>
            </a:r>
            <a:endParaRPr lang="ar-SA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حين لا تجد المصدر تقولها صراحة بدل اختراع جوابٍ معقول الشكل — والاختراع في لائحة أخطر من الصمت.</a:t>
            </a:r>
            <a:endParaRPr lang="ar-SA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وما لا تجيب عنه وثائقكم — يقوله لكم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9079992" y="2286000"/>
            <a:ext cx="2377440" cy="2011680"/>
          </a:xfrm>
          <a:prstGeom prst="roundRect">
            <a:avLst>
              <a:gd name="adj" fmla="val 5455"/>
            </a:avLst>
          </a:prstGeom>
          <a:solidFill>
            <a:srgbClr val="EDF3F8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25146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3871" y="2671511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217152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سؤال بلا جواب</a:t>
            </a:r>
            <a:endParaRPr lang="ar-SA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9217152" y="36393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يُسجَّل تلقائيًا</a:t>
            </a:r>
            <a:endParaRPr lang="ar-SA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513064" y="3063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2A6C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ar-SA" sz="2000" dirty="0"/>
          </a:p>
        </p:txBody>
      </p:sp>
      <p:sp>
        <p:nvSpPr>
          <p:cNvPr id="9" name="Shape 6"/>
          <p:cNvSpPr/>
          <p:nvPr/>
        </p:nvSpPr>
        <p:spPr>
          <a:xfrm>
            <a:off x="6135624" y="2286000"/>
            <a:ext cx="2377440" cy="2011680"/>
          </a:xfrm>
          <a:prstGeom prst="roundRect">
            <a:avLst>
              <a:gd name="adj" fmla="val 5455"/>
            </a:avLst>
          </a:prstGeom>
          <a:solidFill>
            <a:srgbClr val="EDF3F8"/>
          </a:solidFill>
          <a:ln/>
        </p:spPr>
      </p:sp>
      <p:sp>
        <p:nvSpPr>
          <p:cNvPr id="10" name="Shape 7"/>
          <p:cNvSpPr/>
          <p:nvPr/>
        </p:nvSpPr>
        <p:spPr>
          <a:xfrm>
            <a:off x="7022592" y="25146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9503" y="2671511"/>
            <a:ext cx="289682" cy="2896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72784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مرتّبة</a:t>
            </a:r>
            <a:endParaRPr lang="ar-SA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272784" y="36393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بتكرار السؤال</a:t>
            </a:r>
            <a:endParaRPr lang="ar-SA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5568696" y="3063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2A6C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ar-SA" sz="2000" dirty="0"/>
          </a:p>
        </p:txBody>
      </p:sp>
      <p:sp>
        <p:nvSpPr>
          <p:cNvPr id="15" name="Shape 11"/>
          <p:cNvSpPr/>
          <p:nvPr/>
        </p:nvSpPr>
        <p:spPr>
          <a:xfrm>
            <a:off x="3191256" y="2286000"/>
            <a:ext cx="2377440" cy="2011680"/>
          </a:xfrm>
          <a:prstGeom prst="roundRect">
            <a:avLst>
              <a:gd name="adj" fmla="val 5455"/>
            </a:avLst>
          </a:prstGeom>
          <a:solidFill>
            <a:srgbClr val="EDF3F8"/>
          </a:solidFill>
          <a:ln/>
        </p:spPr>
      </p:sp>
      <p:sp>
        <p:nvSpPr>
          <p:cNvPr id="16" name="Shape 12"/>
          <p:cNvSpPr/>
          <p:nvPr/>
        </p:nvSpPr>
        <p:spPr>
          <a:xfrm>
            <a:off x="4078224" y="25146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135" y="2671511"/>
            <a:ext cx="289682" cy="28968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328416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المدير يجيب مرة</a:t>
            </a:r>
            <a:endParaRPr lang="ar-SA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3328416" y="36393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فيدخل الجواب قاعدة المعرفة</a:t>
            </a:r>
            <a:endParaRPr lang="ar-SA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624328" y="30632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2A6C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ar-SA" sz="2000" dirty="0"/>
          </a:p>
        </p:txBody>
      </p:sp>
      <p:sp>
        <p:nvSpPr>
          <p:cNvPr id="21" name="Shape 16"/>
          <p:cNvSpPr/>
          <p:nvPr/>
        </p:nvSpPr>
        <p:spPr>
          <a:xfrm>
            <a:off x="246888" y="2286000"/>
            <a:ext cx="2377440" cy="2011680"/>
          </a:xfrm>
          <a:prstGeom prst="roundRect">
            <a:avLst>
              <a:gd name="adj" fmla="val 5455"/>
            </a:avLst>
          </a:prstGeom>
          <a:solidFill>
            <a:srgbClr val="EDF3F8"/>
          </a:solidFill>
          <a:ln/>
        </p:spPr>
      </p:sp>
      <p:sp>
        <p:nvSpPr>
          <p:cNvPr id="22" name="Shape 17"/>
          <p:cNvSpPr/>
          <p:nvPr/>
        </p:nvSpPr>
        <p:spPr>
          <a:xfrm>
            <a:off x="1133856" y="251460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67" y="2671511"/>
            <a:ext cx="289682" cy="28968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84048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إشعار لمن سأل</a:t>
            </a:r>
            <a:endParaRPr lang="ar-SA" sz="1450" dirty="0"/>
          </a:p>
        </p:txBody>
      </p:sp>
      <p:sp>
        <p:nvSpPr>
          <p:cNvPr id="25" name="Text 19"/>
          <p:cNvSpPr txBox="1"/>
          <p:nvPr/>
        </p:nvSpPr>
        <p:spPr>
          <a:xfrm>
            <a:off x="384048" y="36393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«سؤالك صار له جواب»</a:t>
            </a:r>
            <a:endParaRPr lang="ar-SA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89204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قيمةٌ تكبر مع الوقت: المنتج لا يخدم معرفتكم الحالية فحسب — بل يبني الناقصة.</a:t>
            </a:r>
            <a:endParaRPr lang="ar-SA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شركتكم في حدودها — والاختبار يثبته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8028432" y="173736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B3A5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57032" y="19202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٢٠٦ / ٢٠٦</a:t>
            </a:r>
            <a:endParaRPr lang="ar-SA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57032" y="2743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 عزل بين الشركات</a:t>
            </a:r>
            <a:endParaRPr lang="ar-SA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257032" y="32004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15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تُنفَّذ بدور المستخدم على قاعدة حقيقية</a:t>
            </a:r>
            <a:endParaRPr lang="ar-SA" sz="1150" dirty="0"/>
          </a:p>
        </p:txBody>
      </p:sp>
      <p:sp>
        <p:nvSpPr>
          <p:cNvPr id="7" name="Shape 5"/>
          <p:cNvSpPr/>
          <p:nvPr/>
        </p:nvSpPr>
        <p:spPr>
          <a:xfrm>
            <a:off x="4187952" y="173736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B3A5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16552" y="19202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٣١ / ٣١</a:t>
            </a:r>
            <a:endParaRPr lang="ar-SA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416552" y="2743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جدولًا محميًّا على مستوى الصف</a:t>
            </a:r>
            <a:endParaRPr lang="ar-SA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4416552" y="32004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15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العزل في قاعدة البيانات لا في الواجهة</a:t>
            </a:r>
            <a:endParaRPr lang="ar-SA" sz="1150" dirty="0"/>
          </a:p>
        </p:txBody>
      </p:sp>
      <p:sp>
        <p:nvSpPr>
          <p:cNvPr id="11" name="Shape 9"/>
          <p:cNvSpPr/>
          <p:nvPr/>
        </p:nvSpPr>
        <p:spPr>
          <a:xfrm>
            <a:off x="347472" y="1737360"/>
            <a:ext cx="3520440" cy="2286000"/>
          </a:xfrm>
          <a:prstGeom prst="roundRect">
            <a:avLst>
              <a:gd name="adj" fmla="val 4800"/>
            </a:avLst>
          </a:prstGeom>
          <a:solidFill>
            <a:srgbClr val="1B3A5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76072" y="19202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٣٢</a:t>
            </a:r>
            <a:endParaRPr lang="ar-SA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" y="2743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اختبارًا يسقط عمدًا</a:t>
            </a:r>
            <a:endParaRPr lang="ar-SA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32004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15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نعطّل الحماية فتكشفها الاختبارات — دليل أنها تعمل</a:t>
            </a:r>
            <a:endParaRPr lang="ar-SA" sz="11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7392" y="4398264"/>
            <a:ext cx="310896" cy="31089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22960" y="4343400"/>
            <a:ext cx="10131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صلاحيات على مستوى المستند — ما لا يحق للموظف قراءته لا يصل المساعد أصلًا</a:t>
            </a:r>
            <a:endParaRPr lang="ar-SA" sz="14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392" y="5056632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22960" y="5001768"/>
            <a:ext cx="10131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مستنداتكم تُستعمل للإجابة عليكم وحدكم — ولا تدخل في تدريب أي نموذج</a:t>
            </a:r>
            <a:endParaRPr lang="ar-SA" sz="14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5715000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2960" y="5660136"/>
            <a:ext cx="10131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تدقيق لكل عملية حساسة: من فعل ماذا ومتى</a:t>
            </a:r>
            <a:endParaRPr lang="ar-SA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والآن — نجرّبها على لائحتكم أنتم</a:t>
            </a:r>
            <a:endParaRPr lang="ar-SA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أعطونا مستندًا واحدًا الآن أو قبل الاجتماع، ثم اسألوه أنتم بأنفسكم.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3108960" y="2286000"/>
            <a:ext cx="5943600" cy="603504"/>
          </a:xfrm>
          <a:prstGeom prst="roundRect">
            <a:avLst>
              <a:gd name="adj" fmla="val 19697"/>
            </a:avLst>
          </a:prstGeom>
          <a:solidFill>
            <a:srgbClr val="2A6C9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383280" y="228600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سؤالكم — بصياغتكم أنتم، ولو بالعامية</a:t>
            </a:r>
            <a:endParaRPr lang="ar-SA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3108960"/>
            <a:ext cx="5943600" cy="1600200"/>
          </a:xfrm>
          <a:prstGeom prst="roundRect">
            <a:avLst>
              <a:gd name="adj" fmla="val 7429"/>
            </a:avLst>
          </a:prstGeom>
          <a:solidFill>
            <a:srgbClr val="EDF3F8"/>
          </a:solidFill>
          <a:ln w="12700">
            <a:solidFill>
              <a:srgbClr val="2A6C9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32461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الجواب من مستندكم، لا من الإنترنت</a:t>
            </a:r>
            <a:endParaRPr lang="ar-SA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7307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وتحته المصدر الذي تراجعونه بأنفسكم في ثلاثين ثانية:</a:t>
            </a:r>
            <a:endParaRPr lang="ar-SA" sz="1300" dirty="0"/>
          </a:p>
        </p:txBody>
      </p:sp>
      <p:sp>
        <p:nvSpPr>
          <p:cNvPr id="9" name="Shape 7"/>
          <p:cNvSpPr/>
          <p:nvPr/>
        </p:nvSpPr>
        <p:spPr>
          <a:xfrm>
            <a:off x="3383280" y="4160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EDF3F8"/>
          </a:solidFill>
          <a:ln w="9525">
            <a:solidFill>
              <a:srgbClr val="2A6C9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4160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لائحتكم · الصفحة · درجة الثقة</a:t>
            </a:r>
            <a:endParaRPr lang="ar-SA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2120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اختبروه بسؤالٍ تعرفون جوابه — وبسؤالٍ تعرفون أن لا جواب له في الملف. الثاني أهم.</a:t>
            </a:r>
            <a:endParaRPr lang="ar-SA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ابدؤوا بتجربة — بلا بطاقة وبلا التزام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7525512" y="1645920"/>
            <a:ext cx="4023360" cy="3931920"/>
          </a:xfrm>
          <a:prstGeom prst="roundRect">
            <a:avLst>
              <a:gd name="adj" fmla="val 3256"/>
            </a:avLst>
          </a:prstGeom>
          <a:solidFill>
            <a:srgbClr val="2A6C9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845552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مجانية</a:t>
            </a:r>
            <a:endParaRPr lang="ar-SA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845552" y="2331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٧ أيام</a:t>
            </a:r>
            <a:endParaRPr lang="ar-SA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845552" y="3383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بلا بطاقة ائتمانية</a:t>
            </a:r>
            <a:endParaRPr lang="ar-SA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45552" y="38862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على مستنداتكم الحقيقية</a:t>
            </a:r>
            <a:endParaRPr lang="ar-SA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45552" y="43891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٣ مستخدمين، و١٠ مستندات، و٥٠ سؤالًا</a:t>
            </a:r>
            <a:endParaRPr lang="ar-S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845552" y="4892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نجهّزها لكم في يوم عمل واحد</a:t>
            </a:r>
            <a:endParaRPr lang="ar-SA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645920"/>
            <a:ext cx="6675120" cy="1188720"/>
          </a:xfrm>
          <a:prstGeom prst="roundRect">
            <a:avLst>
              <a:gd name="adj" fmla="val 9231"/>
            </a:avLst>
          </a:prstGeom>
          <a:solidFill>
            <a:srgbClr val="EDF3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8105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ar-SA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2677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١٠ مستخدمين، و٦٠٠ سؤال شهريًا</a:t>
            </a:r>
            <a:endParaRPr lang="ar-SA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260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899</a:t>
            </a:r>
            <a:pPr algn="l" indent="0" marL="0">
              <a:buNone/>
            </a:pPr>
            <a:r>
              <a:rPr lang="ar-SA" alt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ريال/شهر</a:t>
            </a:r>
            <a:endParaRPr lang="ar-SA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6675120" cy="1188720"/>
          </a:xfrm>
          <a:prstGeom prst="roundRect">
            <a:avLst>
              <a:gd name="adj" fmla="val 9231"/>
            </a:avLst>
          </a:prstGeom>
          <a:solidFill>
            <a:srgbClr val="EDF3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37760" y="31821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ar-SA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36393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٣٠ مستخدمًا، و٢٬٠٠٠ سؤال شهريًا</a:t>
            </a:r>
            <a:endParaRPr lang="ar-SA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260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2,499</a:t>
            </a:r>
            <a:pPr algn="l" indent="0" marL="0">
              <a:buNone/>
            </a:pPr>
            <a:r>
              <a:rPr lang="ar-SA" alt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ريال/شهر</a:t>
            </a:r>
            <a:endParaRPr lang="ar-SA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4389120"/>
            <a:ext cx="6675120" cy="1188720"/>
          </a:xfrm>
          <a:prstGeom prst="roundRect">
            <a:avLst>
              <a:gd name="adj" fmla="val 9231"/>
            </a:avLst>
          </a:prstGeom>
          <a:solidFill>
            <a:srgbClr val="EDF3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37760" y="4553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7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ar-SA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50109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2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٧٥ مستخدمًا، و٦٬٠٠٠ سؤال شهريًا</a:t>
            </a:r>
            <a:endParaRPr lang="ar-SA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6634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260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5,999</a:t>
            </a:r>
            <a:pPr algn="l" indent="0" marL="0">
              <a:buNone/>
            </a:pPr>
            <a:r>
              <a:rPr lang="ar-SA" alt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ريال/شهر</a:t>
            </a:r>
            <a:endParaRPr lang="ar-SA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80644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5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الأسعار لا تشمل ضريبة القيمة المضافة · بلا رسوم تأسيس · الحدود قابلة للتخصيص للجهات الكبيرة</a:t>
            </a:r>
            <a:endParaRPr lang="ar-SA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نحتاجه لنبدأ غدًا</a:t>
            </a:r>
            <a:endParaRPr lang="ar-SA" sz="3200" dirty="0"/>
          </a:p>
        </p:txBody>
      </p:sp>
      <p:sp>
        <p:nvSpPr>
          <p:cNvPr id="3" name="Shape 1"/>
          <p:cNvSpPr/>
          <p:nvPr/>
        </p:nvSpPr>
        <p:spPr>
          <a:xfrm>
            <a:off x="8028432" y="182880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DF3F8"/>
          </a:solidFill>
          <a:ln/>
        </p:spPr>
      </p:sp>
      <p:sp>
        <p:nvSpPr>
          <p:cNvPr id="4" name="Shape 2"/>
          <p:cNvSpPr/>
          <p:nvPr/>
        </p:nvSpPr>
        <p:spPr>
          <a:xfrm>
            <a:off x="10588752" y="2103120"/>
            <a:ext cx="640080" cy="640080"/>
          </a:xfrm>
          <a:prstGeom prst="ellipse">
            <a:avLst/>
          </a:prstGeom>
          <a:solidFill>
            <a:srgbClr val="2A6C9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88752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</a:t>
            </a:r>
            <a:endParaRPr lang="ar-SA" sz="2000" dirty="0"/>
          </a:p>
        </p:txBody>
      </p:sp>
      <p:sp>
        <p:nvSpPr>
          <p:cNvPr id="6" name="Shape 4"/>
          <p:cNvSpPr/>
          <p:nvPr/>
        </p:nvSpPr>
        <p:spPr>
          <a:xfrm>
            <a:off x="8302752" y="21031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173" y="22695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02752" y="29718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لائحة واحدة</a:t>
            </a:r>
            <a:endParaRPr lang="ar-SA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302752" y="35204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أو Word — أي وثيقة يسأل عنها فريقكم كثيرًا</a:t>
            </a:r>
            <a:endParaRPr lang="ar-SA" sz="1300" dirty="0"/>
          </a:p>
        </p:txBody>
      </p:sp>
      <p:sp>
        <p:nvSpPr>
          <p:cNvPr id="10" name="Shape 7"/>
          <p:cNvSpPr/>
          <p:nvPr/>
        </p:nvSpPr>
        <p:spPr>
          <a:xfrm>
            <a:off x="4187952" y="182880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DF3F8"/>
          </a:solidFill>
          <a:ln/>
        </p:spPr>
      </p:sp>
      <p:sp>
        <p:nvSpPr>
          <p:cNvPr id="11" name="Shape 8"/>
          <p:cNvSpPr/>
          <p:nvPr/>
        </p:nvSpPr>
        <p:spPr>
          <a:xfrm>
            <a:off x="6748272" y="2103120"/>
            <a:ext cx="640080" cy="640080"/>
          </a:xfrm>
          <a:prstGeom prst="ellipse">
            <a:avLst/>
          </a:prstGeom>
          <a:solidFill>
            <a:srgbClr val="2A6C9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48272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</a:t>
            </a:r>
            <a:endParaRPr lang="ar-SA" sz="2000" dirty="0"/>
          </a:p>
        </p:txBody>
      </p:sp>
      <p:sp>
        <p:nvSpPr>
          <p:cNvPr id="13" name="Shape 10"/>
          <p:cNvSpPr/>
          <p:nvPr/>
        </p:nvSpPr>
        <p:spPr>
          <a:xfrm>
            <a:off x="4462272" y="21031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693" y="2269541"/>
            <a:ext cx="307238" cy="30723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462272" y="29718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مستخدمين</a:t>
            </a:r>
            <a:endParaRPr lang="ar-SA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462272" y="35204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موظفان يسألان فعلًا، ومسؤول يرى التحليلات</a:t>
            </a:r>
            <a:endParaRPr lang="ar-SA" sz="1300" dirty="0"/>
          </a:p>
        </p:txBody>
      </p:sp>
      <p:sp>
        <p:nvSpPr>
          <p:cNvPr id="17" name="Shape 13"/>
          <p:cNvSpPr/>
          <p:nvPr/>
        </p:nvSpPr>
        <p:spPr>
          <a:xfrm>
            <a:off x="347472" y="182880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DF3F8"/>
          </a:solidFill>
          <a:ln/>
        </p:spPr>
      </p:sp>
      <p:sp>
        <p:nvSpPr>
          <p:cNvPr id="18" name="Shape 14"/>
          <p:cNvSpPr/>
          <p:nvPr/>
        </p:nvSpPr>
        <p:spPr>
          <a:xfrm>
            <a:off x="2907792" y="2103120"/>
            <a:ext cx="640080" cy="640080"/>
          </a:xfrm>
          <a:prstGeom prst="ellipse">
            <a:avLst/>
          </a:prstGeom>
          <a:solidFill>
            <a:srgbClr val="2A6C9E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2907792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</a:t>
            </a:r>
            <a:endParaRPr lang="ar-SA" sz="2000" dirty="0"/>
          </a:p>
        </p:txBody>
      </p:sp>
      <p:sp>
        <p:nvSpPr>
          <p:cNvPr id="20" name="Shape 16"/>
          <p:cNvSpPr/>
          <p:nvPr/>
        </p:nvSpPr>
        <p:spPr>
          <a:xfrm>
            <a:off x="621792" y="21031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3" y="2269541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21792" y="29718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A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أسبوع واحد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21792" y="35204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ar-SA" altLang="en-US" sz="13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يسألون طبيعيًا — ثم نراجع معًا: ماذا أجاب، وماذا كشف</a:t>
            </a:r>
            <a:endParaRPr lang="ar-SA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40080" y="52578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1E5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وفي نهاية الأسبوع: تقرير قصير — نسبة ما أُجيب، وما كشفته الأسئلة من نقص في التوثيق.</a:t>
            </a:r>
            <a:endParaRPr lang="ar-SA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0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أجيبوا مرة واحدة —</a:t>
            </a:r>
            <a:endParaRPr lang="ar-SA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والنظام يجيب بعدكم.</a:t>
            </a:r>
            <a:endParaRPr lang="ar-SA" sz="4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2" y="4709160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4645152"/>
            <a:ext cx="10040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ma3rifah-ai.vercel.app</a:t>
            </a:r>
            <a:endParaRPr lang="ar-SA" sz="16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5952" y="5257800"/>
            <a:ext cx="292608" cy="2926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5193792"/>
            <a:ext cx="10040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E8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manal.alareqi@gmail.com</a:t>
            </a:r>
            <a:endParaRPr lang="ar-SA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2026-08-31T22:51:52Z</dcterms:created>
  <dcterms:modified xsi:type="dcterms:W3CDTF">2026-08-31T22:51:52Z</dcterms:modified>
</cp:coreProperties>
</file>